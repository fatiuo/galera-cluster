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Poppins" charset="1" panose="00000500000000000000"/>
      <p:regular r:id="rId22"/>
    </p:embeddedFont>
    <p:embeddedFont>
      <p:font typeface="Poppins Bold" charset="1" panose="00000800000000000000"/>
      <p:regular r:id="rId23"/>
    </p:embeddedFont>
    <p:embeddedFont>
      <p:font typeface="Libre Baskerville" charset="1" panose="02000000000000000000"/>
      <p:regular r:id="rId24"/>
    </p:embeddedFont>
    <p:embeddedFont>
      <p:font typeface="Libre Baskerville Italics" charset="1" panose="02000000000000000000"/>
      <p:regular r:id="rId25"/>
    </p:embeddedFont>
    <p:embeddedFont>
      <p:font typeface="Inter" charset="1" panose="020B0502030000000004"/>
      <p:regular r:id="rId26"/>
    </p:embeddedFont>
    <p:embeddedFont>
      <p:font typeface="Inter Light" charset="1" panose="02000503000000020004"/>
      <p:regular r:id="rId27"/>
    </p:embeddedFont>
    <p:embeddedFont>
      <p:font typeface="Inter Bold" charset="1" panose="020B0802030000000004"/>
      <p:regular r:id="rId28"/>
    </p:embeddedFont>
    <p:embeddedFont>
      <p:font typeface="Helios Extended Bold" charset="1" panose="02000805050000020004"/>
      <p:regular r:id="rId29"/>
    </p:embeddedFont>
    <p:embeddedFont>
      <p:font typeface="Lato" charset="1" panose="020F0502020204030203"/>
      <p:regular r:id="rId30"/>
    </p:embeddedFont>
    <p:embeddedFont>
      <p:font typeface="Heebo Bold" charset="1" panose="00000800000000000000"/>
      <p:regular r:id="rId31"/>
    </p:embeddedFont>
    <p:embeddedFont>
      <p:font typeface="Lato Bold" charset="1" panose="020F0502020204030203"/>
      <p:regular r:id="rId32"/>
    </p:embeddedFont>
    <p:embeddedFont>
      <p:font typeface="TT Norms" charset="1" panose="02000503030000020003"/>
      <p:regular r:id="rId33"/>
    </p:embeddedFont>
    <p:embeddedFont>
      <p:font typeface="TT Norms Bold" charset="1" panose="02000803030000020004"/>
      <p:regular r:id="rId34"/>
    </p:embeddedFont>
    <p:embeddedFont>
      <p:font typeface="TT Norms Ultra-Bold" charset="1" panose="02000503040000020004"/>
      <p:regular r:id="rId35"/>
    </p:embeddedFont>
    <p:embeddedFont>
      <p:font typeface="Open Sans" charset="1" panose="00000000000000000000"/>
      <p:regular r:id="rId36"/>
    </p:embeddedFont>
    <p:embeddedFont>
      <p:font typeface="Cormorant Garamond Bold Italics" charset="1" panose="00000800000000000000"/>
      <p:regular r:id="rId37"/>
    </p:embeddedFont>
    <p:embeddedFont>
      <p:font typeface="Quicksand" charset="1" panose="00000000000000000000"/>
      <p:regular r:id="rId38"/>
    </p:embeddedFont>
    <p:embeddedFont>
      <p:font typeface="Quicksand Bold" charset="1" panose="00000000000000000000"/>
      <p:regular r:id="rId3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embeddings/oleObject1.bin" Type="http://schemas.openxmlformats.org/officeDocument/2006/relationships/oleObjec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F8F8F8"/>
        </a:solidFill>
      </p:bgPr>
    </p:bg>
    <p:spTree>
      <p:nvGrpSpPr>
        <p:cNvPr id="1" name=""/>
        <p:cNvGrpSpPr/>
        <p:nvPr/>
      </p:nvGrpSpPr>
      <p:grpSpPr>
        <a:xfrm>
          <a:off x="0" y="0"/>
          <a:ext cx="0" cy="0"/>
          <a:chOff x="0" y="0"/>
          <a:chExt cx="0" cy="0"/>
        </a:xfrm>
      </p:grpSpPr>
      <p:sp>
        <p:nvSpPr>
          <p:cNvPr name="AutoShape 2" id="2"/>
          <p:cNvSpPr/>
          <p:nvPr/>
        </p:nvSpPr>
        <p:spPr>
          <a:xfrm>
            <a:off x="0" y="1047750"/>
            <a:ext cx="18288000" cy="0"/>
          </a:xfrm>
          <a:prstGeom prst="line">
            <a:avLst/>
          </a:prstGeom>
          <a:ln cap="flat" w="9525">
            <a:solidFill>
              <a:srgbClr val="595959"/>
            </a:solidFill>
            <a:prstDash val="solid"/>
            <a:headEnd type="none" len="sm" w="sm"/>
            <a:tailEnd type="none" len="sm" w="sm"/>
          </a:ln>
        </p:spPr>
      </p:sp>
      <p:sp>
        <p:nvSpPr>
          <p:cNvPr name="AutoShape 3" id="3"/>
          <p:cNvSpPr/>
          <p:nvPr/>
        </p:nvSpPr>
        <p:spPr>
          <a:xfrm flipH="true" flipV="true">
            <a:off x="7446476" y="1066426"/>
            <a:ext cx="0" cy="9220574"/>
          </a:xfrm>
          <a:prstGeom prst="line">
            <a:avLst/>
          </a:prstGeom>
          <a:ln cap="flat" w="9525">
            <a:solidFill>
              <a:srgbClr val="595959"/>
            </a:solidFill>
            <a:prstDash val="solid"/>
            <a:headEnd type="none" len="sm" w="sm"/>
            <a:tailEnd type="none" len="sm" w="sm"/>
          </a:ln>
        </p:spPr>
      </p:sp>
      <p:sp>
        <p:nvSpPr>
          <p:cNvPr name="TextBox 4" id="4"/>
          <p:cNvSpPr txBox="true"/>
          <p:nvPr/>
        </p:nvSpPr>
        <p:spPr>
          <a:xfrm rot="0">
            <a:off x="8109934" y="403011"/>
            <a:ext cx="2643119" cy="215471"/>
          </a:xfrm>
          <a:prstGeom prst="rect">
            <a:avLst/>
          </a:prstGeom>
        </p:spPr>
        <p:txBody>
          <a:bodyPr anchor="t" rtlCol="false" tIns="0" lIns="0" bIns="0" rIns="0">
            <a:spAutoFit/>
          </a:bodyPr>
          <a:lstStyle/>
          <a:p>
            <a:pPr algn="l">
              <a:lnSpc>
                <a:spcPts val="1773"/>
              </a:lnSpc>
              <a:spcBef>
                <a:spcPct val="0"/>
              </a:spcBef>
            </a:pPr>
            <a:r>
              <a:rPr lang="en-US" sz="1266">
                <a:solidFill>
                  <a:srgbClr val="231F20"/>
                </a:solidFill>
                <a:latin typeface="Poppins"/>
                <a:ea typeface="Poppins"/>
                <a:cs typeface="Poppins"/>
                <a:sym typeface="Poppins"/>
              </a:rPr>
              <a:t>https://galeracluster.com/</a:t>
            </a:r>
          </a:p>
        </p:txBody>
      </p:sp>
      <p:sp>
        <p:nvSpPr>
          <p:cNvPr name="TextBox 5" id="5"/>
          <p:cNvSpPr txBox="true"/>
          <p:nvPr/>
        </p:nvSpPr>
        <p:spPr>
          <a:xfrm rot="0">
            <a:off x="802782" y="4800522"/>
            <a:ext cx="5858295" cy="1041402"/>
          </a:xfrm>
          <a:prstGeom prst="rect">
            <a:avLst/>
          </a:prstGeom>
        </p:spPr>
        <p:txBody>
          <a:bodyPr anchor="t" rtlCol="false" tIns="0" lIns="0" bIns="0" rIns="0">
            <a:spAutoFit/>
          </a:bodyPr>
          <a:lstStyle/>
          <a:p>
            <a:pPr algn="l">
              <a:lnSpc>
                <a:spcPts val="8599"/>
              </a:lnSpc>
            </a:pPr>
            <a:r>
              <a:rPr lang="en-US" sz="4999" b="true">
                <a:solidFill>
                  <a:srgbClr val="000000"/>
                </a:solidFill>
                <a:latin typeface="Poppins Bold"/>
                <a:ea typeface="Poppins Bold"/>
                <a:cs typeface="Poppins Bold"/>
                <a:sym typeface="Poppins Bold"/>
              </a:rPr>
              <a:t>GALERA CLUSTER</a:t>
            </a:r>
          </a:p>
        </p:txBody>
      </p:sp>
      <p:sp>
        <p:nvSpPr>
          <p:cNvPr name="TextBox 6" id="6"/>
          <p:cNvSpPr txBox="true"/>
          <p:nvPr/>
        </p:nvSpPr>
        <p:spPr>
          <a:xfrm rot="0">
            <a:off x="8753353" y="2695882"/>
            <a:ext cx="7290864" cy="6800162"/>
          </a:xfrm>
          <a:prstGeom prst="rect">
            <a:avLst/>
          </a:prstGeom>
        </p:spPr>
        <p:txBody>
          <a:bodyPr anchor="t" rtlCol="false" tIns="0" lIns="0" bIns="0" rIns="0">
            <a:spAutoFit/>
          </a:bodyPr>
          <a:lstStyle/>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What Is Galera Cluster?</a:t>
            </a:r>
          </a:p>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How to Set Up a Galera Cluster</a:t>
            </a:r>
          </a:p>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Implementing Load Balancing with HAProxy</a:t>
            </a:r>
          </a:p>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Operations</a:t>
            </a:r>
          </a:p>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Primary Component Recovery </a:t>
            </a:r>
          </a:p>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Resetting Quorum</a:t>
            </a:r>
          </a:p>
          <a:p>
            <a:pPr algn="l" marL="584321" indent="-292161" lvl="1">
              <a:lnSpc>
                <a:spcPts val="6766"/>
              </a:lnSpc>
              <a:buFont typeface="Arial"/>
              <a:buChar char="•"/>
            </a:pPr>
            <a:r>
              <a:rPr lang="en-US" b="true" sz="2706">
                <a:solidFill>
                  <a:srgbClr val="000000"/>
                </a:solidFill>
                <a:latin typeface="Poppins Bold"/>
                <a:ea typeface="Poppins Bold"/>
                <a:cs typeface="Poppins Bold"/>
                <a:sym typeface="Poppins Bold"/>
              </a:rPr>
              <a:t>Crash Recovery </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0" y="1434660"/>
            <a:ext cx="3430447" cy="970915"/>
            <a:chOff x="0" y="0"/>
            <a:chExt cx="903492" cy="255714"/>
          </a:xfrm>
        </p:grpSpPr>
        <p:sp>
          <p:nvSpPr>
            <p:cNvPr name="Freeform 3" id="3"/>
            <p:cNvSpPr/>
            <p:nvPr/>
          </p:nvSpPr>
          <p:spPr>
            <a:xfrm flipH="false" flipV="false" rot="0">
              <a:off x="0" y="0"/>
              <a:ext cx="903492" cy="255714"/>
            </a:xfrm>
            <a:custGeom>
              <a:avLst/>
              <a:gdLst/>
              <a:ahLst/>
              <a:cxnLst/>
              <a:rect r="r" b="b" t="t" l="l"/>
              <a:pathLst>
                <a:path h="255714" w="903492">
                  <a:moveTo>
                    <a:pt x="0" y="0"/>
                  </a:moveTo>
                  <a:lnTo>
                    <a:pt x="903492" y="0"/>
                  </a:lnTo>
                  <a:lnTo>
                    <a:pt x="903492" y="255714"/>
                  </a:lnTo>
                  <a:lnTo>
                    <a:pt x="0" y="255714"/>
                  </a:lnTo>
                  <a:close/>
                </a:path>
              </a:pathLst>
            </a:custGeom>
            <a:solidFill>
              <a:srgbClr val="85530C"/>
            </a:solidFill>
          </p:spPr>
        </p:sp>
        <p:sp>
          <p:nvSpPr>
            <p:cNvPr name="TextBox 4" id="4"/>
            <p:cNvSpPr txBox="true"/>
            <p:nvPr/>
          </p:nvSpPr>
          <p:spPr>
            <a:xfrm>
              <a:off x="0" y="-38100"/>
              <a:ext cx="903492" cy="293814"/>
            </a:xfrm>
            <a:prstGeom prst="rect">
              <a:avLst/>
            </a:prstGeom>
          </p:spPr>
          <p:txBody>
            <a:bodyPr anchor="ctr" rtlCol="false" tIns="50800" lIns="50800" bIns="50800" rIns="50800"/>
            <a:lstStyle/>
            <a:p>
              <a:pPr algn="ctr">
                <a:lnSpc>
                  <a:spcPts val="2940"/>
                </a:lnSpc>
              </a:pPr>
              <a:r>
                <a:rPr lang="en-US" sz="2100" spc="231">
                  <a:solidFill>
                    <a:srgbClr val="FFFFFF"/>
                  </a:solidFill>
                  <a:latin typeface="Libre Baskerville"/>
                  <a:ea typeface="Libre Baskerville"/>
                  <a:cs typeface="Libre Baskerville"/>
                  <a:sym typeface="Libre Baskerville"/>
                </a:rPr>
                <a:t>GALERA CLUSTER</a:t>
              </a:r>
            </a:p>
          </p:txBody>
        </p:sp>
      </p:grpSp>
      <p:sp>
        <p:nvSpPr>
          <p:cNvPr name="TextBox 5" id="5"/>
          <p:cNvSpPr txBox="true"/>
          <p:nvPr/>
        </p:nvSpPr>
        <p:spPr>
          <a:xfrm rot="0">
            <a:off x="5105842" y="1834393"/>
            <a:ext cx="10607040" cy="6072504"/>
          </a:xfrm>
          <a:prstGeom prst="rect">
            <a:avLst/>
          </a:prstGeom>
        </p:spPr>
        <p:txBody>
          <a:bodyPr anchor="t" rtlCol="false" tIns="0" lIns="0" bIns="0" rIns="0">
            <a:spAutoFit/>
          </a:bodyPr>
          <a:lstStyle/>
          <a:p>
            <a:pPr algn="l">
              <a:lnSpc>
                <a:spcPts val="6020"/>
              </a:lnSpc>
              <a:spcBef>
                <a:spcPct val="0"/>
              </a:spcBef>
            </a:pPr>
            <a:r>
              <a:rPr lang="en-US" sz="4300" i="true">
                <a:solidFill>
                  <a:srgbClr val="000000"/>
                </a:solidFill>
                <a:latin typeface="Libre Baskerville Italics"/>
                <a:ea typeface="Libre Baskerville Italics"/>
                <a:cs typeface="Libre Baskerville Italics"/>
                <a:sym typeface="Libre Baskerville Italics"/>
              </a:rPr>
              <a:t>Galera Cluster is a system that allows multiple MySQL or MariaDB servers to operate as a single, highly available unit. Data is replicated across all servers, and any changes are applied in real-time to maintain consistency. This provides a fast and robust solution for database management.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5400000">
            <a:off x="14230258" y="-6789182"/>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85530C"/>
            </a:solidFill>
            <a:ln w="9525" cap="sq">
              <a:solidFill>
                <a:srgbClr val="50322B"/>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85530C"/>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2666365"/>
            <a:ext cx="9594056" cy="668020"/>
          </a:xfrm>
          <a:prstGeom prst="rect">
            <a:avLst/>
          </a:prstGeom>
        </p:spPr>
        <p:txBody>
          <a:bodyPr anchor="t" rtlCol="false" tIns="0" lIns="0" bIns="0" rIns="0">
            <a:spAutoFit/>
          </a:bodyPr>
          <a:lstStyle/>
          <a:p>
            <a:pPr algn="l" marL="0" indent="0" lvl="0">
              <a:lnSpc>
                <a:spcPts val="4760"/>
              </a:lnSpc>
              <a:spcBef>
                <a:spcPct val="0"/>
              </a:spcBef>
            </a:pPr>
            <a:r>
              <a:rPr lang="en-US" sz="5600" spc="-420">
                <a:solidFill>
                  <a:srgbClr val="000000"/>
                </a:solidFill>
                <a:latin typeface="Inter"/>
                <a:ea typeface="Inter"/>
                <a:cs typeface="Inter"/>
                <a:sym typeface="Inter"/>
              </a:rPr>
              <a:t>Set Up Galera Cluster</a:t>
            </a:r>
          </a:p>
        </p:txBody>
      </p:sp>
      <p:sp>
        <p:nvSpPr>
          <p:cNvPr name="TextBox 9" id="9"/>
          <p:cNvSpPr txBox="true"/>
          <p:nvPr/>
        </p:nvSpPr>
        <p:spPr>
          <a:xfrm rot="0">
            <a:off x="1028700" y="5208270"/>
            <a:ext cx="3588512" cy="492760"/>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000000"/>
                </a:solidFill>
                <a:latin typeface="Inter Light"/>
                <a:ea typeface="Inter Light"/>
                <a:cs typeface="Inter Light"/>
                <a:sym typeface="Inter Light"/>
              </a:rPr>
              <a:t>INSTALLATION</a:t>
            </a:r>
          </a:p>
        </p:txBody>
      </p:sp>
      <p:sp>
        <p:nvSpPr>
          <p:cNvPr name="TextBox 10" id="10"/>
          <p:cNvSpPr txBox="true"/>
          <p:nvPr/>
        </p:nvSpPr>
        <p:spPr>
          <a:xfrm rot="0">
            <a:off x="1028700" y="6368670"/>
            <a:ext cx="4207436" cy="3626400"/>
          </a:xfrm>
          <a:prstGeom prst="rect">
            <a:avLst/>
          </a:prstGeom>
        </p:spPr>
        <p:txBody>
          <a:bodyPr anchor="t" rtlCol="false" tIns="0" lIns="0" bIns="0" rIns="0">
            <a:spAutoFit/>
          </a:bodyPr>
          <a:lstStyle/>
          <a:p>
            <a:pPr algn="just">
              <a:lnSpc>
                <a:spcPts val="2244"/>
              </a:lnSpc>
            </a:pPr>
            <a:r>
              <a:rPr lang="en-US" sz="1603" spc="-35">
                <a:solidFill>
                  <a:srgbClr val="000000"/>
                </a:solidFill>
                <a:latin typeface="Inter"/>
                <a:ea typeface="Inter"/>
                <a:cs typeface="Inter"/>
                <a:sym typeface="Inter"/>
              </a:rPr>
              <a:t>sudo apt update</a:t>
            </a:r>
          </a:p>
          <a:p>
            <a:pPr algn="just">
              <a:lnSpc>
                <a:spcPts val="2244"/>
              </a:lnSpc>
            </a:pPr>
            <a:r>
              <a:rPr lang="en-US" sz="1603" spc="-35">
                <a:solidFill>
                  <a:srgbClr val="000000"/>
                </a:solidFill>
                <a:latin typeface="Inter"/>
                <a:ea typeface="Inter"/>
                <a:cs typeface="Inter"/>
                <a:sym typeface="Inter"/>
              </a:rPr>
              <a:t>sudo apt install mariadb-server mariadb-client rsync galera-4</a:t>
            </a:r>
          </a:p>
          <a:p>
            <a:pPr algn="just">
              <a:lnSpc>
                <a:spcPts val="2244"/>
              </a:lnSpc>
            </a:pPr>
          </a:p>
          <a:p>
            <a:pPr algn="just" marL="346163" indent="-173082" lvl="1">
              <a:lnSpc>
                <a:spcPts val="2244"/>
              </a:lnSpc>
              <a:buFont typeface="Arial"/>
              <a:buChar char="•"/>
            </a:pPr>
            <a:r>
              <a:rPr lang="en-US" b="true" sz="1603" spc="-35">
                <a:solidFill>
                  <a:srgbClr val="000000"/>
                </a:solidFill>
                <a:latin typeface="Inter Bold"/>
                <a:ea typeface="Inter Bold"/>
                <a:cs typeface="Inter Bold"/>
                <a:sym typeface="Inter Bold"/>
              </a:rPr>
              <a:t>mariadb-server:</a:t>
            </a:r>
            <a:r>
              <a:rPr lang="en-US" sz="1603" spc="-35">
                <a:solidFill>
                  <a:srgbClr val="000000"/>
                </a:solidFill>
                <a:latin typeface="Inter"/>
                <a:ea typeface="Inter"/>
                <a:cs typeface="Inter"/>
                <a:sym typeface="Inter"/>
              </a:rPr>
              <a:t> This is the database. It saves your data.</a:t>
            </a:r>
          </a:p>
          <a:p>
            <a:pPr algn="just" marL="346163" indent="-173082" lvl="1">
              <a:lnSpc>
                <a:spcPts val="2244"/>
              </a:lnSpc>
              <a:buFont typeface="Arial"/>
              <a:buChar char="•"/>
            </a:pPr>
            <a:r>
              <a:rPr lang="en-US" b="true" sz="1603" spc="-35">
                <a:solidFill>
                  <a:srgbClr val="000000"/>
                </a:solidFill>
                <a:latin typeface="Inter Bold"/>
                <a:ea typeface="Inter Bold"/>
                <a:cs typeface="Inter Bold"/>
                <a:sym typeface="Inter Bold"/>
              </a:rPr>
              <a:t>mariadb-clien</a:t>
            </a:r>
            <a:r>
              <a:rPr lang="en-US" sz="1603" spc="-35">
                <a:solidFill>
                  <a:srgbClr val="000000"/>
                </a:solidFill>
                <a:latin typeface="Inter"/>
                <a:ea typeface="Inter"/>
                <a:cs typeface="Inter"/>
                <a:sym typeface="Inter"/>
              </a:rPr>
              <a:t>t: This is how you talk to the database using commands.</a:t>
            </a:r>
          </a:p>
          <a:p>
            <a:pPr algn="just" marL="346163" indent="-173082" lvl="1">
              <a:lnSpc>
                <a:spcPts val="2244"/>
              </a:lnSpc>
              <a:buFont typeface="Arial"/>
              <a:buChar char="•"/>
            </a:pPr>
            <a:r>
              <a:rPr lang="en-US" b="true" sz="1603" spc="-35">
                <a:solidFill>
                  <a:srgbClr val="000000"/>
                </a:solidFill>
                <a:latin typeface="Inter Bold"/>
                <a:ea typeface="Inter Bold"/>
                <a:cs typeface="Inter Bold"/>
                <a:sym typeface="Inter Bold"/>
              </a:rPr>
              <a:t>rsync</a:t>
            </a:r>
            <a:r>
              <a:rPr lang="en-US" sz="1603" spc="-35">
                <a:solidFill>
                  <a:srgbClr val="000000"/>
                </a:solidFill>
                <a:latin typeface="Inter"/>
                <a:ea typeface="Inter"/>
                <a:cs typeface="Inter"/>
                <a:sym typeface="Inter"/>
              </a:rPr>
              <a:t>: This helps copy data from one server to another.</a:t>
            </a:r>
          </a:p>
          <a:p>
            <a:pPr algn="just" marL="367753" indent="-183876" lvl="1">
              <a:lnSpc>
                <a:spcPts val="2384"/>
              </a:lnSpc>
              <a:buFont typeface="Arial"/>
              <a:buChar char="•"/>
            </a:pPr>
            <a:r>
              <a:rPr lang="en-US" b="true" sz="1703" spc="-37">
                <a:solidFill>
                  <a:srgbClr val="000000"/>
                </a:solidFill>
                <a:latin typeface="Inter Bold"/>
                <a:ea typeface="Inter Bold"/>
                <a:cs typeface="Inter Bold"/>
                <a:sym typeface="Inter Bold"/>
              </a:rPr>
              <a:t>galera-4</a:t>
            </a:r>
            <a:r>
              <a:rPr lang="en-US" sz="1703" spc="-37">
                <a:solidFill>
                  <a:srgbClr val="000000"/>
                </a:solidFill>
                <a:latin typeface="Inter"/>
                <a:ea typeface="Inter"/>
                <a:cs typeface="Inter"/>
                <a:sym typeface="Inter"/>
              </a:rPr>
              <a:t>: This lets many MariaDB servers work together like a team.</a:t>
            </a:r>
          </a:p>
          <a:p>
            <a:pPr algn="just" marL="0" indent="0" lvl="0">
              <a:lnSpc>
                <a:spcPts val="2244"/>
              </a:lnSpc>
              <a:spcBef>
                <a:spcPct val="0"/>
              </a:spcBef>
            </a:pPr>
          </a:p>
        </p:txBody>
      </p:sp>
      <p:sp>
        <p:nvSpPr>
          <p:cNvPr name="TextBox 11" id="11"/>
          <p:cNvSpPr txBox="true"/>
          <p:nvPr/>
        </p:nvSpPr>
        <p:spPr>
          <a:xfrm rot="0">
            <a:off x="6286687"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000000"/>
                </a:solidFill>
                <a:latin typeface="Inter Light"/>
                <a:ea typeface="Inter Light"/>
                <a:cs typeface="Inter Light"/>
                <a:sym typeface="Inter Light"/>
              </a:rPr>
              <a:t>HOSTS</a:t>
            </a:r>
          </a:p>
        </p:txBody>
      </p:sp>
      <p:sp>
        <p:nvSpPr>
          <p:cNvPr name="TextBox 12" id="12"/>
          <p:cNvSpPr txBox="true"/>
          <p:nvPr/>
        </p:nvSpPr>
        <p:spPr>
          <a:xfrm rot="0">
            <a:off x="6296212" y="6368670"/>
            <a:ext cx="4797028" cy="3229610"/>
          </a:xfrm>
          <a:prstGeom prst="rect">
            <a:avLst/>
          </a:prstGeom>
        </p:spPr>
        <p:txBody>
          <a:bodyPr anchor="t" rtlCol="false" tIns="0" lIns="0" bIns="0" rIns="0">
            <a:spAutoFit/>
          </a:bodyPr>
          <a:lstStyle/>
          <a:p>
            <a:pPr algn="just">
              <a:lnSpc>
                <a:spcPts val="2380"/>
              </a:lnSpc>
            </a:pPr>
            <a:r>
              <a:rPr lang="en-US" sz="1700" spc="-37">
                <a:solidFill>
                  <a:srgbClr val="000000"/>
                </a:solidFill>
                <a:latin typeface="Inter"/>
                <a:ea typeface="Inter"/>
                <a:cs typeface="Inter"/>
                <a:sym typeface="Inter"/>
              </a:rPr>
              <a:t>On all nodes (loadbalancer,node1, node2,..), you should add the IPs and names of all nodes and the load balancer in </a:t>
            </a:r>
            <a:r>
              <a:rPr lang="en-US" b="true" sz="1700" spc="-37">
                <a:solidFill>
                  <a:srgbClr val="000000"/>
                </a:solidFill>
                <a:latin typeface="Inter Bold"/>
                <a:ea typeface="Inter Bold"/>
                <a:cs typeface="Inter Bold"/>
                <a:sym typeface="Inter Bold"/>
              </a:rPr>
              <a:t>/etc/hosts:</a:t>
            </a:r>
          </a:p>
          <a:p>
            <a:pPr algn="just">
              <a:lnSpc>
                <a:spcPts val="2380"/>
              </a:lnSpc>
            </a:pPr>
            <a:r>
              <a:rPr lang="en-US" b="true" sz="1700" spc="-37">
                <a:solidFill>
                  <a:srgbClr val="000000"/>
                </a:solidFill>
                <a:latin typeface="Inter Bold"/>
                <a:ea typeface="Inter Bold"/>
                <a:cs typeface="Inter Bold"/>
                <a:sym typeface="Inter Bold"/>
              </a:rPr>
              <a:t>192.168.155.181  node1</a:t>
            </a:r>
          </a:p>
          <a:p>
            <a:pPr algn="just">
              <a:lnSpc>
                <a:spcPts val="2380"/>
              </a:lnSpc>
            </a:pPr>
            <a:r>
              <a:rPr lang="en-US" b="true" sz="1700" spc="-37">
                <a:solidFill>
                  <a:srgbClr val="000000"/>
                </a:solidFill>
                <a:latin typeface="Inter Bold"/>
                <a:ea typeface="Inter Bold"/>
                <a:cs typeface="Inter Bold"/>
                <a:sym typeface="Inter Bold"/>
              </a:rPr>
              <a:t>192.168.155.116  node2</a:t>
            </a:r>
          </a:p>
          <a:p>
            <a:pPr algn="just" marL="0" indent="0" lvl="0">
              <a:lnSpc>
                <a:spcPts val="2799"/>
              </a:lnSpc>
              <a:spcBef>
                <a:spcPct val="0"/>
              </a:spcBef>
            </a:pPr>
            <a:r>
              <a:rPr lang="en-US" b="true" sz="1999" spc="-43">
                <a:solidFill>
                  <a:srgbClr val="000000"/>
                </a:solidFill>
                <a:latin typeface="Inter Bold"/>
                <a:ea typeface="Inter Bold"/>
                <a:cs typeface="Inter Bold"/>
                <a:sym typeface="Inter Bold"/>
              </a:rPr>
              <a:t>192.168.155.22  loadbalancer</a:t>
            </a:r>
          </a:p>
          <a:p>
            <a:pPr algn="just" marL="0" indent="0" lvl="0">
              <a:lnSpc>
                <a:spcPts val="2799"/>
              </a:lnSpc>
              <a:spcBef>
                <a:spcPct val="0"/>
              </a:spcBef>
            </a:pPr>
            <a:r>
              <a:rPr lang="en-US" sz="1999" spc="-43" strike="noStrike" u="none">
                <a:solidFill>
                  <a:srgbClr val="000000"/>
                </a:solidFill>
                <a:latin typeface="Inter"/>
                <a:ea typeface="Inter"/>
                <a:cs typeface="Inter"/>
                <a:sym typeface="Inter"/>
              </a:rPr>
              <a:t>for check this Run:</a:t>
            </a:r>
          </a:p>
          <a:p>
            <a:pPr algn="just" marL="0" indent="0" lvl="0">
              <a:lnSpc>
                <a:spcPts val="2799"/>
              </a:lnSpc>
              <a:spcBef>
                <a:spcPct val="0"/>
              </a:spcBef>
            </a:pPr>
            <a:r>
              <a:rPr lang="en-US" sz="1999" spc="-43" strike="noStrike" u="none">
                <a:solidFill>
                  <a:srgbClr val="000000"/>
                </a:solidFill>
                <a:latin typeface="Inter"/>
                <a:ea typeface="Inter"/>
                <a:cs typeface="Inter"/>
                <a:sym typeface="Inter"/>
              </a:rPr>
              <a:t>ping node1</a:t>
            </a:r>
          </a:p>
          <a:p>
            <a:pPr algn="just" marL="0" indent="0" lvl="0">
              <a:lnSpc>
                <a:spcPts val="2799"/>
              </a:lnSpc>
              <a:spcBef>
                <a:spcPct val="0"/>
              </a:spcBef>
            </a:pPr>
            <a:r>
              <a:rPr lang="en-US" sz="1999" spc="-43" strike="noStrike" u="none">
                <a:solidFill>
                  <a:srgbClr val="000000"/>
                </a:solidFill>
                <a:latin typeface="Inter"/>
                <a:ea typeface="Inter"/>
                <a:cs typeface="Inter"/>
                <a:sym typeface="Inter"/>
              </a:rPr>
              <a:t>ping node 2 </a:t>
            </a:r>
          </a:p>
          <a:p>
            <a:pPr algn="just" marL="0" indent="0" lvl="0">
              <a:lnSpc>
                <a:spcPts val="2799"/>
              </a:lnSpc>
              <a:spcBef>
                <a:spcPct val="0"/>
              </a:spcBef>
            </a:pPr>
            <a:r>
              <a:rPr lang="en-US" sz="1999" spc="-43" strike="noStrike" u="none">
                <a:solidFill>
                  <a:srgbClr val="000000"/>
                </a:solidFill>
                <a:latin typeface="Inter"/>
                <a:ea typeface="Inter"/>
                <a:cs typeface="Inter"/>
                <a:sym typeface="Inter"/>
              </a:rPr>
              <a:t>.......</a:t>
            </a:r>
          </a:p>
        </p:txBody>
      </p:sp>
      <p:sp>
        <p:nvSpPr>
          <p:cNvPr name="TextBox 13" id="13"/>
          <p:cNvSpPr txBox="true"/>
          <p:nvPr/>
        </p:nvSpPr>
        <p:spPr>
          <a:xfrm rot="0">
            <a:off x="11544674" y="5210175"/>
            <a:ext cx="3588512" cy="490855"/>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000000"/>
                </a:solidFill>
                <a:latin typeface="Inter Light"/>
                <a:ea typeface="Inter Light"/>
                <a:cs typeface="Inter Light"/>
                <a:sym typeface="Inter Light"/>
              </a:rPr>
              <a:t>ALLOW PORTS</a:t>
            </a:r>
          </a:p>
        </p:txBody>
      </p:sp>
      <p:sp>
        <p:nvSpPr>
          <p:cNvPr name="TextBox 14" id="14"/>
          <p:cNvSpPr txBox="true"/>
          <p:nvPr/>
        </p:nvSpPr>
        <p:spPr>
          <a:xfrm rot="0">
            <a:off x="11544674" y="6368670"/>
            <a:ext cx="4797028" cy="3242945"/>
          </a:xfrm>
          <a:prstGeom prst="rect">
            <a:avLst/>
          </a:prstGeom>
        </p:spPr>
        <p:txBody>
          <a:bodyPr anchor="t" rtlCol="false" tIns="0" lIns="0" bIns="0" rIns="0">
            <a:spAutoFit/>
          </a:bodyPr>
          <a:lstStyle/>
          <a:p>
            <a:pPr algn="just">
              <a:lnSpc>
                <a:spcPts val="2380"/>
              </a:lnSpc>
            </a:pPr>
            <a:r>
              <a:rPr lang="en-US" sz="1700" spc="-37">
                <a:solidFill>
                  <a:srgbClr val="000000"/>
                </a:solidFill>
                <a:latin typeface="Inter"/>
                <a:ea typeface="Inter"/>
                <a:cs typeface="Inter"/>
                <a:sym typeface="Inter"/>
              </a:rPr>
              <a:t>On All Galera Nodes, allow these ports:</a:t>
            </a:r>
          </a:p>
          <a:p>
            <a:pPr algn="just">
              <a:lnSpc>
                <a:spcPts val="2380"/>
              </a:lnSpc>
            </a:pPr>
            <a:r>
              <a:rPr lang="en-US" b="true" sz="1700" spc="-37">
                <a:solidFill>
                  <a:srgbClr val="000000"/>
                </a:solidFill>
                <a:latin typeface="Inter Bold"/>
                <a:ea typeface="Inter Bold"/>
                <a:cs typeface="Inter Bold"/>
                <a:sym typeface="Inter Bold"/>
              </a:rPr>
              <a:t>4567</a:t>
            </a:r>
            <a:r>
              <a:rPr lang="en-US" sz="1700" spc="-37">
                <a:solidFill>
                  <a:srgbClr val="000000"/>
                </a:solidFill>
                <a:latin typeface="Inter"/>
                <a:ea typeface="Inter"/>
                <a:cs typeface="Inter"/>
                <a:sym typeface="Inter"/>
              </a:rPr>
              <a:t> cluster communication(talk each other)</a:t>
            </a:r>
          </a:p>
          <a:p>
            <a:pPr algn="just">
              <a:lnSpc>
                <a:spcPts val="2380"/>
              </a:lnSpc>
            </a:pPr>
            <a:r>
              <a:rPr lang="en-US" b="true" sz="1700" spc="-37">
                <a:solidFill>
                  <a:srgbClr val="000000"/>
                </a:solidFill>
                <a:latin typeface="Inter Bold"/>
                <a:ea typeface="Inter Bold"/>
                <a:cs typeface="Inter Bold"/>
                <a:sym typeface="Inter Bold"/>
              </a:rPr>
              <a:t>4568</a:t>
            </a:r>
            <a:r>
              <a:rPr lang="en-US" sz="1700" spc="-37">
                <a:solidFill>
                  <a:srgbClr val="000000"/>
                </a:solidFill>
                <a:latin typeface="Inter"/>
                <a:ea typeface="Inter"/>
                <a:cs typeface="Inter"/>
                <a:sym typeface="Inter"/>
              </a:rPr>
              <a:t> Incremental State Transfer (IST)</a:t>
            </a:r>
          </a:p>
          <a:p>
            <a:pPr algn="just">
              <a:lnSpc>
                <a:spcPts val="2380"/>
              </a:lnSpc>
            </a:pPr>
            <a:r>
              <a:rPr lang="en-US" b="true" sz="1700" spc="-37">
                <a:solidFill>
                  <a:srgbClr val="000000"/>
                </a:solidFill>
                <a:latin typeface="Inter Bold"/>
                <a:ea typeface="Inter Bold"/>
                <a:cs typeface="Inter Bold"/>
                <a:sym typeface="Inter Bold"/>
              </a:rPr>
              <a:t>4444</a:t>
            </a:r>
            <a:r>
              <a:rPr lang="en-US" sz="1700" spc="-37">
                <a:solidFill>
                  <a:srgbClr val="000000"/>
                </a:solidFill>
                <a:latin typeface="Inter"/>
                <a:ea typeface="Inter"/>
                <a:cs typeface="Inter"/>
                <a:sym typeface="Inter"/>
              </a:rPr>
              <a:t> State Snapshot Transfer (SST)</a:t>
            </a:r>
          </a:p>
          <a:p>
            <a:pPr algn="just">
              <a:lnSpc>
                <a:spcPts val="2380"/>
              </a:lnSpc>
            </a:pPr>
            <a:r>
              <a:rPr lang="en-US" b="true" sz="1700" spc="-37">
                <a:solidFill>
                  <a:srgbClr val="000000"/>
                </a:solidFill>
                <a:latin typeface="Inter Bold"/>
                <a:ea typeface="Inter Bold"/>
                <a:cs typeface="Inter Bold"/>
                <a:sym typeface="Inter Bold"/>
              </a:rPr>
              <a:t>3306</a:t>
            </a:r>
            <a:r>
              <a:rPr lang="en-US" sz="1700" spc="-37">
                <a:solidFill>
                  <a:srgbClr val="000000"/>
                </a:solidFill>
                <a:latin typeface="Inter"/>
                <a:ea typeface="Inter"/>
                <a:cs typeface="Inter"/>
                <a:sym typeface="Inter"/>
              </a:rPr>
              <a:t> MariaDB database port(like connect to mysql)</a:t>
            </a:r>
          </a:p>
          <a:p>
            <a:pPr algn="just">
              <a:lnSpc>
                <a:spcPts val="2380"/>
              </a:lnSpc>
            </a:pPr>
            <a:r>
              <a:rPr lang="en-US" b="true" sz="1700" spc="-37">
                <a:solidFill>
                  <a:srgbClr val="000000"/>
                </a:solidFill>
                <a:latin typeface="Inter Bold"/>
                <a:ea typeface="Inter Bold"/>
                <a:cs typeface="Inter Bold"/>
                <a:sym typeface="Inter Bold"/>
              </a:rPr>
              <a:t>sudo ufw allow ‘port’/tcp</a:t>
            </a:r>
          </a:p>
          <a:p>
            <a:pPr algn="just">
              <a:lnSpc>
                <a:spcPts val="2380"/>
              </a:lnSpc>
            </a:pPr>
            <a:r>
              <a:rPr lang="en-US" b="true" sz="1700" spc="-37">
                <a:solidFill>
                  <a:srgbClr val="000000"/>
                </a:solidFill>
                <a:latin typeface="Inter Bold"/>
                <a:ea typeface="Inter Bold"/>
                <a:cs typeface="Inter Bold"/>
                <a:sym typeface="Inter Bold"/>
              </a:rPr>
              <a:t>sudo ufw enable</a:t>
            </a:r>
          </a:p>
          <a:p>
            <a:pPr algn="just">
              <a:lnSpc>
                <a:spcPts val="2380"/>
              </a:lnSpc>
            </a:pPr>
            <a:r>
              <a:rPr lang="en-US" sz="1700" spc="-37">
                <a:solidFill>
                  <a:srgbClr val="000000"/>
                </a:solidFill>
                <a:latin typeface="Inter"/>
                <a:ea typeface="Inter"/>
                <a:cs typeface="Inter"/>
                <a:sym typeface="Inter"/>
              </a:rPr>
              <a:t>in loadbalancer just allow </a:t>
            </a:r>
            <a:r>
              <a:rPr lang="en-US" b="true" sz="1700" spc="-37">
                <a:solidFill>
                  <a:srgbClr val="000000"/>
                </a:solidFill>
                <a:latin typeface="Inter Bold"/>
                <a:ea typeface="Inter Bold"/>
                <a:cs typeface="Inter Bold"/>
                <a:sym typeface="Inter Bold"/>
              </a:rPr>
              <a:t>3306</a:t>
            </a:r>
          </a:p>
          <a:p>
            <a:pPr algn="just" marL="0" indent="0" lvl="0">
              <a:lnSpc>
                <a:spcPts val="2380"/>
              </a:lnSpc>
              <a:spcBef>
                <a:spcPct val="0"/>
              </a:spcBef>
            </a:pPr>
          </a:p>
          <a:p>
            <a:pPr algn="just" marL="0" indent="0" lvl="0">
              <a:lnSpc>
                <a:spcPts val="2380"/>
              </a:lnSpc>
              <a:spcBef>
                <a:spcPct val="0"/>
              </a:spcBef>
            </a:pPr>
          </a:p>
        </p:txBody>
      </p:sp>
      <p:sp>
        <p:nvSpPr>
          <p:cNvPr name="AutoShape 15" id="15"/>
          <p:cNvSpPr/>
          <p:nvPr/>
        </p:nvSpPr>
        <p:spPr>
          <a:xfrm flipV="true">
            <a:off x="939552" y="5829618"/>
            <a:ext cx="15313002" cy="0"/>
          </a:xfrm>
          <a:prstGeom prst="line">
            <a:avLst/>
          </a:prstGeom>
          <a:ln cap="flat" w="9525">
            <a:solidFill>
              <a:srgbClr val="000000"/>
            </a:solidFill>
            <a:prstDash val="sysDot"/>
            <a:headEnd type="none" len="sm" w="sm"/>
            <a:tailEnd type="none" len="sm" w="sm"/>
          </a:ln>
        </p:spPr>
      </p:sp>
      <p:sp>
        <p:nvSpPr>
          <p:cNvPr name="Freeform 16" id="16"/>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5400000">
            <a:off x="14230258" y="-6789182"/>
            <a:ext cx="4044591" cy="17622955"/>
            <a:chOff x="0" y="0"/>
            <a:chExt cx="1449490" cy="6315669"/>
          </a:xfrm>
        </p:grpSpPr>
        <p:sp>
          <p:nvSpPr>
            <p:cNvPr name="Freeform 3" id="3"/>
            <p:cNvSpPr/>
            <p:nvPr/>
          </p:nvSpPr>
          <p:spPr>
            <a:xfrm flipH="false" flipV="false" rot="0">
              <a:off x="0" y="0"/>
              <a:ext cx="1449490" cy="6315670"/>
            </a:xfrm>
            <a:custGeom>
              <a:avLst/>
              <a:gdLst/>
              <a:ahLst/>
              <a:cxnLst/>
              <a:rect r="r" b="b" t="t" l="l"/>
              <a:pathLst>
                <a:path h="6315670" w="1449490">
                  <a:moveTo>
                    <a:pt x="0" y="0"/>
                  </a:moveTo>
                  <a:lnTo>
                    <a:pt x="1449490" y="0"/>
                  </a:lnTo>
                  <a:lnTo>
                    <a:pt x="1449490" y="6315670"/>
                  </a:lnTo>
                  <a:lnTo>
                    <a:pt x="0" y="6315670"/>
                  </a:lnTo>
                  <a:close/>
                </a:path>
              </a:pathLst>
            </a:custGeom>
            <a:solidFill>
              <a:srgbClr val="85530C"/>
            </a:solidFill>
            <a:ln w="9525" cap="sq">
              <a:solidFill>
                <a:srgbClr val="50322B"/>
              </a:solidFill>
              <a:prstDash val="solid"/>
              <a:miter/>
            </a:ln>
          </p:spPr>
        </p:sp>
        <p:sp>
          <p:nvSpPr>
            <p:cNvPr name="TextBox 4" id="4"/>
            <p:cNvSpPr txBox="true"/>
            <p:nvPr/>
          </p:nvSpPr>
          <p:spPr>
            <a:xfrm>
              <a:off x="0" y="-47625"/>
              <a:ext cx="1449490" cy="6363294"/>
            </a:xfrm>
            <a:prstGeom prst="rect">
              <a:avLst/>
            </a:prstGeom>
          </p:spPr>
          <p:txBody>
            <a:bodyPr anchor="ctr" rtlCol="false" tIns="50800" lIns="50800" bIns="50800" rIns="50800"/>
            <a:lstStyle/>
            <a:p>
              <a:pPr algn="ctr">
                <a:lnSpc>
                  <a:spcPts val="1960"/>
                </a:lnSpc>
              </a:pPr>
            </a:p>
          </p:txBody>
        </p:sp>
      </p:grpSp>
      <p:grpSp>
        <p:nvGrpSpPr>
          <p:cNvPr name="Group 5" id="5"/>
          <p:cNvGrpSpPr/>
          <p:nvPr/>
        </p:nvGrpSpPr>
        <p:grpSpPr>
          <a:xfrm rot="5400000">
            <a:off x="12432431" y="4605338"/>
            <a:ext cx="10730064" cy="1076325"/>
            <a:chOff x="0" y="0"/>
            <a:chExt cx="3845413" cy="385731"/>
          </a:xfrm>
        </p:grpSpPr>
        <p:sp>
          <p:nvSpPr>
            <p:cNvPr name="Freeform 6" id="6"/>
            <p:cNvSpPr/>
            <p:nvPr/>
          </p:nvSpPr>
          <p:spPr>
            <a:xfrm flipH="false" flipV="false" rot="0">
              <a:off x="0" y="0"/>
              <a:ext cx="3845413" cy="385731"/>
            </a:xfrm>
            <a:custGeom>
              <a:avLst/>
              <a:gdLst/>
              <a:ahLst/>
              <a:cxnLst/>
              <a:rect r="r" b="b" t="t" l="l"/>
              <a:pathLst>
                <a:path h="385731" w="3845413">
                  <a:moveTo>
                    <a:pt x="0" y="0"/>
                  </a:moveTo>
                  <a:lnTo>
                    <a:pt x="3845413" y="0"/>
                  </a:lnTo>
                  <a:lnTo>
                    <a:pt x="3845413" y="385731"/>
                  </a:lnTo>
                  <a:lnTo>
                    <a:pt x="0" y="385731"/>
                  </a:lnTo>
                  <a:close/>
                </a:path>
              </a:pathLst>
            </a:custGeom>
            <a:solidFill>
              <a:srgbClr val="FDFDFA"/>
            </a:solidFill>
            <a:ln w="9525" cap="sq">
              <a:solidFill>
                <a:srgbClr val="50322B"/>
              </a:solidFill>
              <a:prstDash val="solid"/>
              <a:miter/>
            </a:ln>
          </p:spPr>
        </p:sp>
        <p:sp>
          <p:nvSpPr>
            <p:cNvPr name="TextBox 7" id="7"/>
            <p:cNvSpPr txBox="true"/>
            <p:nvPr/>
          </p:nvSpPr>
          <p:spPr>
            <a:xfrm>
              <a:off x="0" y="-47625"/>
              <a:ext cx="3845413" cy="433356"/>
            </a:xfrm>
            <a:prstGeom prst="rect">
              <a:avLst/>
            </a:prstGeom>
          </p:spPr>
          <p:txBody>
            <a:bodyPr anchor="ctr" rtlCol="false" tIns="50800" lIns="50800" bIns="50800" rIns="50800"/>
            <a:lstStyle/>
            <a:p>
              <a:pPr algn="ctr">
                <a:lnSpc>
                  <a:spcPts val="1960"/>
                </a:lnSpc>
              </a:pPr>
            </a:p>
          </p:txBody>
        </p:sp>
      </p:grpSp>
      <p:sp>
        <p:nvSpPr>
          <p:cNvPr name="TextBox 8" id="8"/>
          <p:cNvSpPr txBox="true"/>
          <p:nvPr/>
        </p:nvSpPr>
        <p:spPr>
          <a:xfrm rot="0">
            <a:off x="1028700" y="2666365"/>
            <a:ext cx="9594056" cy="668020"/>
          </a:xfrm>
          <a:prstGeom prst="rect">
            <a:avLst/>
          </a:prstGeom>
        </p:spPr>
        <p:txBody>
          <a:bodyPr anchor="t" rtlCol="false" tIns="0" lIns="0" bIns="0" rIns="0">
            <a:spAutoFit/>
          </a:bodyPr>
          <a:lstStyle/>
          <a:p>
            <a:pPr algn="l" marL="0" indent="0" lvl="0">
              <a:lnSpc>
                <a:spcPts val="4760"/>
              </a:lnSpc>
              <a:spcBef>
                <a:spcPct val="0"/>
              </a:spcBef>
            </a:pPr>
            <a:r>
              <a:rPr lang="en-US" sz="5600" spc="-420">
                <a:solidFill>
                  <a:srgbClr val="000000"/>
                </a:solidFill>
                <a:latin typeface="Inter"/>
                <a:ea typeface="Inter"/>
                <a:cs typeface="Inter"/>
                <a:sym typeface="Inter"/>
              </a:rPr>
              <a:t>Set Up Galera Cluster</a:t>
            </a:r>
          </a:p>
        </p:txBody>
      </p:sp>
      <p:sp>
        <p:nvSpPr>
          <p:cNvPr name="TextBox 9" id="9"/>
          <p:cNvSpPr txBox="true"/>
          <p:nvPr/>
        </p:nvSpPr>
        <p:spPr>
          <a:xfrm rot="0">
            <a:off x="1028700" y="5208270"/>
            <a:ext cx="3588512" cy="492760"/>
          </a:xfrm>
          <a:prstGeom prst="rect">
            <a:avLst/>
          </a:prstGeom>
        </p:spPr>
        <p:txBody>
          <a:bodyPr anchor="t" rtlCol="false" tIns="0" lIns="0" bIns="0" rIns="0">
            <a:spAutoFit/>
          </a:bodyPr>
          <a:lstStyle/>
          <a:p>
            <a:pPr algn="l" marL="0" indent="0" lvl="0">
              <a:lnSpc>
                <a:spcPts val="3919"/>
              </a:lnSpc>
              <a:spcBef>
                <a:spcPct val="0"/>
              </a:spcBef>
            </a:pPr>
            <a:r>
              <a:rPr lang="en-US" sz="2799" spc="-209">
                <a:solidFill>
                  <a:srgbClr val="000000"/>
                </a:solidFill>
                <a:latin typeface="Inter Light"/>
                <a:ea typeface="Inter Light"/>
                <a:cs typeface="Inter Light"/>
                <a:sym typeface="Inter Light"/>
              </a:rPr>
              <a:t>START</a:t>
            </a:r>
            <a:r>
              <a:rPr lang="en-US" sz="2799" spc="-209">
                <a:solidFill>
                  <a:srgbClr val="000000"/>
                </a:solidFill>
                <a:latin typeface="Inter Light"/>
                <a:ea typeface="Inter Light"/>
                <a:cs typeface="Inter Light"/>
                <a:sym typeface="Inter Light"/>
              </a:rPr>
              <a:t> AND WSREP</a:t>
            </a:r>
          </a:p>
        </p:txBody>
      </p:sp>
      <p:sp>
        <p:nvSpPr>
          <p:cNvPr name="TextBox 10" id="10"/>
          <p:cNvSpPr txBox="true"/>
          <p:nvPr/>
        </p:nvSpPr>
        <p:spPr>
          <a:xfrm rot="0">
            <a:off x="939552" y="6368670"/>
            <a:ext cx="4207436" cy="3135545"/>
          </a:xfrm>
          <a:prstGeom prst="rect">
            <a:avLst/>
          </a:prstGeom>
        </p:spPr>
        <p:txBody>
          <a:bodyPr anchor="t" rtlCol="false" tIns="0" lIns="0" bIns="0" rIns="0">
            <a:spAutoFit/>
          </a:bodyPr>
          <a:lstStyle/>
          <a:p>
            <a:pPr algn="just">
              <a:lnSpc>
                <a:spcPts val="2524"/>
              </a:lnSpc>
            </a:pPr>
            <a:r>
              <a:rPr lang="en-US" sz="1803" spc="-39">
                <a:solidFill>
                  <a:srgbClr val="000000"/>
                </a:solidFill>
                <a:latin typeface="Inter"/>
                <a:ea typeface="Inter"/>
                <a:cs typeface="Inter"/>
                <a:sym typeface="Inter"/>
              </a:rPr>
              <a:t>in all node</a:t>
            </a:r>
          </a:p>
          <a:p>
            <a:pPr algn="just">
              <a:lnSpc>
                <a:spcPts val="2524"/>
              </a:lnSpc>
              <a:spcBef>
                <a:spcPct val="0"/>
              </a:spcBef>
            </a:pPr>
            <a:r>
              <a:rPr lang="en-US" sz="1803" spc="-39">
                <a:solidFill>
                  <a:srgbClr val="000000"/>
                </a:solidFill>
                <a:latin typeface="Inter"/>
                <a:ea typeface="Inter"/>
                <a:cs typeface="Inter"/>
                <a:sym typeface="Inter"/>
              </a:rPr>
              <a:t>sudo systemctl enable mariadb</a:t>
            </a:r>
          </a:p>
          <a:p>
            <a:pPr algn="just">
              <a:lnSpc>
                <a:spcPts val="2524"/>
              </a:lnSpc>
              <a:spcBef>
                <a:spcPct val="0"/>
              </a:spcBef>
            </a:pPr>
            <a:r>
              <a:rPr lang="en-US" sz="1803" spc="-39" strike="noStrike" u="none">
                <a:solidFill>
                  <a:srgbClr val="000000"/>
                </a:solidFill>
                <a:latin typeface="Inter"/>
                <a:ea typeface="Inter"/>
                <a:cs typeface="Inter"/>
                <a:sym typeface="Inter"/>
              </a:rPr>
              <a:t>in /etc/mysql/conf.d/galera.cnf add this:</a:t>
            </a:r>
          </a:p>
          <a:p>
            <a:pPr algn="just">
              <a:lnSpc>
                <a:spcPts val="2524"/>
              </a:lnSpc>
              <a:spcBef>
                <a:spcPct val="0"/>
              </a:spcBef>
            </a:pPr>
            <a:r>
              <a:rPr lang="en-US" sz="1803" spc="-39" strike="noStrike" u="none">
                <a:solidFill>
                  <a:srgbClr val="000000"/>
                </a:solidFill>
                <a:latin typeface="Inter"/>
                <a:ea typeface="Inter"/>
                <a:cs typeface="Inter"/>
                <a:sym typeface="Inter"/>
              </a:rPr>
              <a:t>binlog_format=ROW</a:t>
            </a:r>
          </a:p>
          <a:p>
            <a:pPr algn="just">
              <a:lnSpc>
                <a:spcPts val="2524"/>
              </a:lnSpc>
              <a:spcBef>
                <a:spcPct val="0"/>
              </a:spcBef>
            </a:pPr>
            <a:r>
              <a:rPr lang="en-US" sz="1803" spc="-39" strike="noStrike" u="none">
                <a:solidFill>
                  <a:srgbClr val="000000"/>
                </a:solidFill>
                <a:latin typeface="Inter"/>
                <a:ea typeface="Inter"/>
                <a:cs typeface="Inter"/>
                <a:sym typeface="Inter"/>
              </a:rPr>
              <a:t>default_storage_engine=InnoDB</a:t>
            </a:r>
          </a:p>
          <a:p>
            <a:pPr algn="just">
              <a:lnSpc>
                <a:spcPts val="2524"/>
              </a:lnSpc>
              <a:spcBef>
                <a:spcPct val="0"/>
              </a:spcBef>
            </a:pPr>
            <a:r>
              <a:rPr lang="en-US" sz="1803" spc="-39" strike="noStrike" u="none">
                <a:solidFill>
                  <a:srgbClr val="000000"/>
                </a:solidFill>
                <a:latin typeface="Inter"/>
                <a:ea typeface="Inter"/>
                <a:cs typeface="Inter"/>
                <a:sym typeface="Inter"/>
              </a:rPr>
              <a:t>innodb_autoinc_lock_mode=2</a:t>
            </a:r>
          </a:p>
          <a:p>
            <a:pPr algn="just">
              <a:lnSpc>
                <a:spcPts val="2524"/>
              </a:lnSpc>
              <a:spcBef>
                <a:spcPct val="0"/>
              </a:spcBef>
            </a:pPr>
            <a:r>
              <a:rPr lang="en-US" sz="1803" spc="-39" strike="noStrike" u="none">
                <a:solidFill>
                  <a:srgbClr val="000000"/>
                </a:solidFill>
                <a:latin typeface="Inter"/>
                <a:ea typeface="Inter"/>
                <a:cs typeface="Inter"/>
                <a:sym typeface="Inter"/>
              </a:rPr>
              <a:t>bind-address=0.0.0.0</a:t>
            </a:r>
          </a:p>
          <a:p>
            <a:pPr algn="just">
              <a:lnSpc>
                <a:spcPts val="2524"/>
              </a:lnSpc>
              <a:spcBef>
                <a:spcPct val="0"/>
              </a:spcBef>
            </a:pPr>
            <a:r>
              <a:rPr lang="en-US" sz="1803" spc="-39" strike="noStrike" u="none">
                <a:solidFill>
                  <a:srgbClr val="000000"/>
                </a:solidFill>
                <a:latin typeface="Inter"/>
                <a:ea typeface="Inter"/>
                <a:cs typeface="Inter"/>
                <a:sym typeface="Inter"/>
              </a:rPr>
              <a:t>wsrep_on=ON</a:t>
            </a:r>
          </a:p>
          <a:p>
            <a:pPr algn="just">
              <a:lnSpc>
                <a:spcPts val="2524"/>
              </a:lnSpc>
              <a:spcBef>
                <a:spcPct val="0"/>
              </a:spcBef>
            </a:pPr>
          </a:p>
          <a:p>
            <a:pPr algn="just">
              <a:lnSpc>
                <a:spcPts val="2524"/>
              </a:lnSpc>
              <a:spcBef>
                <a:spcPct val="0"/>
              </a:spcBef>
            </a:pPr>
          </a:p>
        </p:txBody>
      </p:sp>
      <p:sp>
        <p:nvSpPr>
          <p:cNvPr name="TextBox 11" id="11"/>
          <p:cNvSpPr txBox="true"/>
          <p:nvPr/>
        </p:nvSpPr>
        <p:spPr>
          <a:xfrm rot="0">
            <a:off x="6296212" y="6368670"/>
            <a:ext cx="4797028" cy="3140075"/>
          </a:xfrm>
          <a:prstGeom prst="rect">
            <a:avLst/>
          </a:prstGeom>
        </p:spPr>
        <p:txBody>
          <a:bodyPr anchor="t" rtlCol="false" tIns="0" lIns="0" bIns="0" rIns="0">
            <a:spAutoFit/>
          </a:bodyPr>
          <a:lstStyle/>
          <a:p>
            <a:pPr algn="just">
              <a:lnSpc>
                <a:spcPts val="2799"/>
              </a:lnSpc>
            </a:pPr>
            <a:r>
              <a:rPr lang="en-US" sz="1999" spc="-43">
                <a:solidFill>
                  <a:srgbClr val="000000"/>
                </a:solidFill>
                <a:latin typeface="Inter"/>
                <a:ea typeface="Inter"/>
                <a:cs typeface="Inter"/>
                <a:sym typeface="Inter"/>
              </a:rPr>
              <a:t>wsrep_provider=/usr/lib/galera/libgalera_smm.so</a:t>
            </a:r>
          </a:p>
          <a:p>
            <a:pPr algn="just">
              <a:lnSpc>
                <a:spcPts val="2799"/>
              </a:lnSpc>
            </a:pPr>
            <a:r>
              <a:rPr lang="en-US" sz="1999" spc="-43">
                <a:solidFill>
                  <a:srgbClr val="000000"/>
                </a:solidFill>
                <a:latin typeface="Inter"/>
                <a:ea typeface="Inter"/>
                <a:cs typeface="Inter"/>
                <a:sym typeface="Inter"/>
              </a:rPr>
              <a:t>wsrep_cluster_address="gcomm:</a:t>
            </a:r>
            <a:r>
              <a:rPr lang="en-US" sz="1999" spc="-43">
                <a:solidFill>
                  <a:srgbClr val="000000"/>
                </a:solidFill>
                <a:latin typeface="Inter"/>
                <a:ea typeface="Inter"/>
                <a:cs typeface="Inter"/>
                <a:sym typeface="Inter"/>
              </a:rPr>
              <a:t>//ip_node1,ip_node2,...</a:t>
            </a:r>
            <a:r>
              <a:rPr lang="en-US" sz="1999" spc="-43">
                <a:solidFill>
                  <a:srgbClr val="000000"/>
                </a:solidFill>
                <a:latin typeface="Inter"/>
                <a:ea typeface="Inter"/>
                <a:cs typeface="Inter"/>
                <a:sym typeface="Inter"/>
              </a:rPr>
              <a:t>"</a:t>
            </a:r>
          </a:p>
          <a:p>
            <a:pPr algn="just" marL="0" indent="0" lvl="0">
              <a:lnSpc>
                <a:spcPts val="2799"/>
              </a:lnSpc>
              <a:spcBef>
                <a:spcPct val="0"/>
              </a:spcBef>
            </a:pPr>
            <a:r>
              <a:rPr lang="en-US" sz="1999" spc="-43">
                <a:solidFill>
                  <a:srgbClr val="000000"/>
                </a:solidFill>
                <a:latin typeface="Inter"/>
                <a:ea typeface="Inter"/>
                <a:cs typeface="Inter"/>
                <a:sym typeface="Inter"/>
              </a:rPr>
              <a:t>wsrep_cluster_name="galera_cluster"</a:t>
            </a:r>
          </a:p>
          <a:p>
            <a:pPr algn="just" marL="0" indent="0" lvl="0">
              <a:lnSpc>
                <a:spcPts val="2799"/>
              </a:lnSpc>
              <a:spcBef>
                <a:spcPct val="0"/>
              </a:spcBef>
            </a:pPr>
            <a:r>
              <a:rPr lang="en-US" sz="1999" spc="-43" strike="noStrike" u="none">
                <a:solidFill>
                  <a:srgbClr val="000000"/>
                </a:solidFill>
                <a:latin typeface="Inter"/>
                <a:ea typeface="Inter"/>
                <a:cs typeface="Inter"/>
                <a:sym typeface="Inter"/>
              </a:rPr>
              <a:t>wsrep_node_address="this node ip"</a:t>
            </a:r>
          </a:p>
          <a:p>
            <a:pPr algn="just" marL="0" indent="0" lvl="0">
              <a:lnSpc>
                <a:spcPts val="2799"/>
              </a:lnSpc>
              <a:spcBef>
                <a:spcPct val="0"/>
              </a:spcBef>
            </a:pPr>
            <a:r>
              <a:rPr lang="en-US" sz="1999" spc="-43" strike="noStrike" u="none">
                <a:solidFill>
                  <a:srgbClr val="000000"/>
                </a:solidFill>
                <a:latin typeface="Inter"/>
                <a:ea typeface="Inter"/>
                <a:cs typeface="Inter"/>
                <a:sym typeface="Inter"/>
              </a:rPr>
              <a:t>wsrep_node_name="this node name"</a:t>
            </a:r>
          </a:p>
          <a:p>
            <a:pPr algn="just" marL="0" indent="0" lvl="0">
              <a:lnSpc>
                <a:spcPts val="2659"/>
              </a:lnSpc>
              <a:spcBef>
                <a:spcPct val="0"/>
              </a:spcBef>
            </a:pPr>
            <a:r>
              <a:rPr lang="en-US" sz="1899" spc="-41" strike="noStrike" u="none">
                <a:solidFill>
                  <a:srgbClr val="000000"/>
                </a:solidFill>
                <a:latin typeface="Inter"/>
                <a:ea typeface="Inter"/>
                <a:cs typeface="Inter"/>
                <a:sym typeface="Inter"/>
              </a:rPr>
              <a:t>wsrep_sst_method=rsync //for sst</a:t>
            </a:r>
            <a:r>
              <a:rPr lang="en-US" sz="1899" spc="-41" strike="noStrike" u="none">
                <a:solidFill>
                  <a:srgbClr val="000000"/>
                </a:solidFill>
                <a:latin typeface="Inter"/>
                <a:ea typeface="Inter"/>
                <a:cs typeface="Inter"/>
                <a:sym typeface="Inter"/>
              </a:rPr>
              <a:t> method</a:t>
            </a:r>
          </a:p>
          <a:p>
            <a:pPr algn="just" marL="0" indent="0" lvl="0">
              <a:lnSpc>
                <a:spcPts val="2799"/>
              </a:lnSpc>
              <a:spcBef>
                <a:spcPct val="0"/>
              </a:spcBef>
            </a:pPr>
          </a:p>
        </p:txBody>
      </p:sp>
      <p:sp>
        <p:nvSpPr>
          <p:cNvPr name="TextBox 12" id="12"/>
          <p:cNvSpPr txBox="true"/>
          <p:nvPr/>
        </p:nvSpPr>
        <p:spPr>
          <a:xfrm rot="0">
            <a:off x="11544674" y="6368670"/>
            <a:ext cx="4797028" cy="2192655"/>
          </a:xfrm>
          <a:prstGeom prst="rect">
            <a:avLst/>
          </a:prstGeom>
        </p:spPr>
        <p:txBody>
          <a:bodyPr anchor="t" rtlCol="false" tIns="0" lIns="0" bIns="0" rIns="0">
            <a:spAutoFit/>
          </a:bodyPr>
          <a:lstStyle/>
          <a:p>
            <a:pPr algn="just">
              <a:lnSpc>
                <a:spcPts val="2520"/>
              </a:lnSpc>
            </a:pPr>
            <a:r>
              <a:rPr lang="en-US" sz="1800" spc="-39">
                <a:solidFill>
                  <a:srgbClr val="000000"/>
                </a:solidFill>
                <a:latin typeface="Inter"/>
                <a:ea typeface="Inter"/>
                <a:cs typeface="Inter"/>
                <a:sym typeface="Inter"/>
              </a:rPr>
              <a:t> St</a:t>
            </a:r>
            <a:r>
              <a:rPr lang="en-US" sz="1800" spc="-39">
                <a:solidFill>
                  <a:srgbClr val="000000"/>
                </a:solidFill>
                <a:latin typeface="Inter"/>
                <a:ea typeface="Inter"/>
                <a:cs typeface="Inter"/>
                <a:sym typeface="Inter"/>
              </a:rPr>
              <a:t>art</a:t>
            </a:r>
            <a:r>
              <a:rPr lang="en-US" sz="1800" spc="-39">
                <a:solidFill>
                  <a:srgbClr val="000000"/>
                </a:solidFill>
                <a:latin typeface="Inter"/>
                <a:ea typeface="Inter"/>
                <a:cs typeface="Inter"/>
                <a:sym typeface="Inter"/>
              </a:rPr>
              <a:t> </a:t>
            </a:r>
            <a:r>
              <a:rPr lang="en-US" sz="1800" spc="-39">
                <a:solidFill>
                  <a:srgbClr val="000000"/>
                </a:solidFill>
                <a:latin typeface="Inter"/>
                <a:ea typeface="Inter"/>
                <a:cs typeface="Inter"/>
                <a:sym typeface="Inter"/>
              </a:rPr>
              <a:t>t</a:t>
            </a:r>
            <a:r>
              <a:rPr lang="en-US" sz="1800" spc="-39">
                <a:solidFill>
                  <a:srgbClr val="000000"/>
                </a:solidFill>
                <a:latin typeface="Inter"/>
                <a:ea typeface="Inter"/>
                <a:cs typeface="Inter"/>
                <a:sym typeface="Inter"/>
              </a:rPr>
              <a:t>h</a:t>
            </a:r>
            <a:r>
              <a:rPr lang="en-US" sz="1800" spc="-39">
                <a:solidFill>
                  <a:srgbClr val="000000"/>
                </a:solidFill>
                <a:latin typeface="Inter"/>
                <a:ea typeface="Inter"/>
                <a:cs typeface="Inter"/>
                <a:sym typeface="Inter"/>
              </a:rPr>
              <a:t>e </a:t>
            </a:r>
            <a:r>
              <a:rPr lang="en-US" sz="1800" spc="-39">
                <a:solidFill>
                  <a:srgbClr val="000000"/>
                </a:solidFill>
                <a:latin typeface="Inter"/>
                <a:ea typeface="Inter"/>
                <a:cs typeface="Inter"/>
                <a:sym typeface="Inter"/>
              </a:rPr>
              <a:t>fi</a:t>
            </a:r>
            <a:r>
              <a:rPr lang="en-US" sz="1800" spc="-39">
                <a:solidFill>
                  <a:srgbClr val="000000"/>
                </a:solidFill>
                <a:latin typeface="Inter"/>
                <a:ea typeface="Inter"/>
                <a:cs typeface="Inter"/>
                <a:sym typeface="Inter"/>
              </a:rPr>
              <a:t>r</a:t>
            </a:r>
            <a:r>
              <a:rPr lang="en-US" sz="1800" spc="-39">
                <a:solidFill>
                  <a:srgbClr val="000000"/>
                </a:solidFill>
                <a:latin typeface="Inter"/>
                <a:ea typeface="Inter"/>
                <a:cs typeface="Inter"/>
                <a:sym typeface="Inter"/>
              </a:rPr>
              <a:t>s</a:t>
            </a:r>
            <a:r>
              <a:rPr lang="en-US" sz="1800" spc="-39">
                <a:solidFill>
                  <a:srgbClr val="000000"/>
                </a:solidFill>
                <a:latin typeface="Inter"/>
                <a:ea typeface="Inter"/>
                <a:cs typeface="Inter"/>
                <a:sym typeface="Inter"/>
              </a:rPr>
              <a:t>t </a:t>
            </a:r>
            <a:r>
              <a:rPr lang="en-US" sz="1800" spc="-39">
                <a:solidFill>
                  <a:srgbClr val="000000"/>
                </a:solidFill>
                <a:latin typeface="Inter"/>
                <a:ea typeface="Inter"/>
                <a:cs typeface="Inter"/>
                <a:sym typeface="Inter"/>
              </a:rPr>
              <a:t>node with:</a:t>
            </a:r>
          </a:p>
          <a:p>
            <a:pPr algn="just">
              <a:lnSpc>
                <a:spcPts val="2520"/>
              </a:lnSpc>
            </a:pPr>
            <a:r>
              <a:rPr lang="en-US" sz="1800" spc="-39">
                <a:solidFill>
                  <a:srgbClr val="000000"/>
                </a:solidFill>
                <a:latin typeface="Inter"/>
                <a:ea typeface="Inter"/>
                <a:cs typeface="Inter"/>
                <a:sym typeface="Inter"/>
              </a:rPr>
              <a:t>g</a:t>
            </a:r>
            <a:r>
              <a:rPr lang="en-US" b="true" sz="1800" spc="-39">
                <a:solidFill>
                  <a:srgbClr val="000000"/>
                </a:solidFill>
                <a:latin typeface="Inter Bold"/>
                <a:ea typeface="Inter Bold"/>
                <a:cs typeface="Inter Bold"/>
                <a:sym typeface="Inter Bold"/>
              </a:rPr>
              <a:t>alera_new_cluster → this node be primary</a:t>
            </a:r>
          </a:p>
          <a:p>
            <a:pPr algn="just">
              <a:lnSpc>
                <a:spcPts val="2520"/>
              </a:lnSpc>
            </a:pPr>
            <a:r>
              <a:rPr lang="en-US" sz="1800" spc="-39">
                <a:solidFill>
                  <a:srgbClr val="000000"/>
                </a:solidFill>
                <a:latin typeface="Inter"/>
                <a:ea typeface="Inter"/>
                <a:cs typeface="Inter"/>
                <a:sym typeface="Inter"/>
              </a:rPr>
              <a:t>Start the other nodes with:</a:t>
            </a:r>
          </a:p>
          <a:p>
            <a:pPr algn="just">
              <a:lnSpc>
                <a:spcPts val="2520"/>
              </a:lnSpc>
            </a:pPr>
            <a:r>
              <a:rPr lang="en-US" b="true" sz="1800" spc="-39">
                <a:solidFill>
                  <a:srgbClr val="000000"/>
                </a:solidFill>
                <a:latin typeface="Inter Bold"/>
                <a:ea typeface="Inter Bold"/>
                <a:cs typeface="Inter Bold"/>
                <a:sym typeface="Inter Bold"/>
              </a:rPr>
              <a:t>systemctl start mariadb </a:t>
            </a:r>
          </a:p>
          <a:p>
            <a:pPr algn="just">
              <a:lnSpc>
                <a:spcPts val="2520"/>
              </a:lnSpc>
            </a:pPr>
            <a:r>
              <a:rPr lang="en-US" sz="1800" spc="-39">
                <a:solidFill>
                  <a:srgbClr val="000000"/>
                </a:solidFill>
                <a:latin typeface="Inter"/>
                <a:ea typeface="Inter"/>
                <a:cs typeface="Inter"/>
                <a:sym typeface="Inter"/>
              </a:rPr>
              <a:t>Confirm connection by checking cluster size:</a:t>
            </a:r>
          </a:p>
          <a:p>
            <a:pPr algn="just">
              <a:lnSpc>
                <a:spcPts val="2520"/>
              </a:lnSpc>
            </a:pPr>
            <a:r>
              <a:rPr lang="en-US" b="true" sz="1800" spc="-39">
                <a:solidFill>
                  <a:srgbClr val="000000"/>
                </a:solidFill>
                <a:latin typeface="Inter Bold"/>
                <a:ea typeface="Inter Bold"/>
                <a:cs typeface="Inter Bold"/>
                <a:sym typeface="Inter Bold"/>
              </a:rPr>
              <a:t>SHOW STATUS LIKE 'wsrep_cluster_size';</a:t>
            </a:r>
          </a:p>
          <a:p>
            <a:pPr algn="just" marL="0" indent="0" lvl="0">
              <a:lnSpc>
                <a:spcPts val="2520"/>
              </a:lnSpc>
              <a:spcBef>
                <a:spcPct val="0"/>
              </a:spcBef>
            </a:pPr>
          </a:p>
        </p:txBody>
      </p:sp>
      <p:sp>
        <p:nvSpPr>
          <p:cNvPr name="AutoShape 13" id="13"/>
          <p:cNvSpPr/>
          <p:nvPr/>
        </p:nvSpPr>
        <p:spPr>
          <a:xfrm flipV="true">
            <a:off x="939552" y="5829618"/>
            <a:ext cx="15313002" cy="0"/>
          </a:xfrm>
          <a:prstGeom prst="line">
            <a:avLst/>
          </a:prstGeom>
          <a:ln cap="flat" w="9525">
            <a:solidFill>
              <a:srgbClr val="000000"/>
            </a:solidFill>
            <a:prstDash val="sysDot"/>
            <a:headEnd type="none" len="sm" w="sm"/>
            <a:tailEnd type="none" len="sm" w="sm"/>
          </a:ln>
        </p:spPr>
      </p:sp>
      <p:sp>
        <p:nvSpPr>
          <p:cNvPr name="Freeform 14" id="14"/>
          <p:cNvSpPr/>
          <p:nvPr/>
        </p:nvSpPr>
        <p:spPr>
          <a:xfrm flipH="false" flipV="false" rot="5400000">
            <a:off x="15018000" y="3173461"/>
            <a:ext cx="948381" cy="1520727"/>
          </a:xfrm>
          <a:custGeom>
            <a:avLst/>
            <a:gdLst/>
            <a:ahLst/>
            <a:cxnLst/>
            <a:rect r="r" b="b" t="t" l="l"/>
            <a:pathLst>
              <a:path h="1520727" w="948381">
                <a:moveTo>
                  <a:pt x="0" y="0"/>
                </a:moveTo>
                <a:lnTo>
                  <a:pt x="948381" y="0"/>
                </a:lnTo>
                <a:lnTo>
                  <a:pt x="948381" y="1520728"/>
                </a:lnTo>
                <a:lnTo>
                  <a:pt x="0" y="152072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sp>
        <p:nvSpPr>
          <p:cNvPr name="TextBox 2" id="2"/>
          <p:cNvSpPr txBox="true"/>
          <p:nvPr/>
        </p:nvSpPr>
        <p:spPr>
          <a:xfrm rot="0">
            <a:off x="1379470" y="1353860"/>
            <a:ext cx="15529061" cy="1076325"/>
          </a:xfrm>
          <a:prstGeom prst="rect">
            <a:avLst/>
          </a:prstGeom>
        </p:spPr>
        <p:txBody>
          <a:bodyPr anchor="t" rtlCol="false" tIns="0" lIns="0" bIns="0" rIns="0">
            <a:spAutoFit/>
          </a:bodyPr>
          <a:lstStyle/>
          <a:p>
            <a:pPr algn="ctr" marL="0" indent="0" lvl="0">
              <a:lnSpc>
                <a:spcPts val="8400"/>
              </a:lnSpc>
            </a:pPr>
            <a:r>
              <a:rPr lang="en-US" b="true" sz="6000" spc="300">
                <a:solidFill>
                  <a:srgbClr val="000000"/>
                </a:solidFill>
                <a:latin typeface="Helios Extended Bold"/>
                <a:ea typeface="Helios Extended Bold"/>
                <a:cs typeface="Helios Extended Bold"/>
                <a:sym typeface="Helios Extended Bold"/>
              </a:rPr>
              <a:t>HAPROXY</a:t>
            </a:r>
          </a:p>
        </p:txBody>
      </p:sp>
      <p:sp>
        <p:nvSpPr>
          <p:cNvPr name="TextBox 3" id="3"/>
          <p:cNvSpPr txBox="true"/>
          <p:nvPr/>
        </p:nvSpPr>
        <p:spPr>
          <a:xfrm rot="0">
            <a:off x="1379470"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01</a:t>
            </a:r>
          </a:p>
        </p:txBody>
      </p:sp>
      <p:sp>
        <p:nvSpPr>
          <p:cNvPr name="TextBox 4" id="4"/>
          <p:cNvSpPr txBox="true"/>
          <p:nvPr/>
        </p:nvSpPr>
        <p:spPr>
          <a:xfrm rot="0">
            <a:off x="6756291"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02</a:t>
            </a:r>
          </a:p>
        </p:txBody>
      </p:sp>
      <p:sp>
        <p:nvSpPr>
          <p:cNvPr name="TextBox 5" id="5"/>
          <p:cNvSpPr txBox="true"/>
          <p:nvPr/>
        </p:nvSpPr>
        <p:spPr>
          <a:xfrm rot="0">
            <a:off x="1379470" y="2535495"/>
            <a:ext cx="15529061" cy="1598930"/>
          </a:xfrm>
          <a:prstGeom prst="rect">
            <a:avLst/>
          </a:prstGeom>
        </p:spPr>
        <p:txBody>
          <a:bodyPr anchor="t" rtlCol="false" tIns="0" lIns="0" bIns="0" rIns="0">
            <a:spAutoFit/>
          </a:bodyPr>
          <a:lstStyle/>
          <a:p>
            <a:pPr algn="ctr" marL="0" indent="0" lvl="0">
              <a:lnSpc>
                <a:spcPts val="3219"/>
              </a:lnSpc>
              <a:spcBef>
                <a:spcPct val="0"/>
              </a:spcBef>
            </a:pPr>
            <a:r>
              <a:rPr lang="en-US" sz="2299" spc="229">
                <a:solidFill>
                  <a:srgbClr val="50322B"/>
                </a:solidFill>
                <a:latin typeface="Lato"/>
                <a:ea typeface="Lato"/>
                <a:cs typeface="Lato"/>
                <a:sym typeface="Lato"/>
              </a:rPr>
              <a:t>HAProxy sends your database requests to a working MariaDB server. If a server stops working, HAProxy just sends your requests to another one that is still good.</a:t>
            </a:r>
          </a:p>
          <a:p>
            <a:pPr algn="ctr" marL="0" indent="0" lvl="0">
              <a:lnSpc>
                <a:spcPts val="3219"/>
              </a:lnSpc>
              <a:spcBef>
                <a:spcPct val="0"/>
              </a:spcBef>
            </a:pPr>
          </a:p>
          <a:p>
            <a:pPr algn="ctr" marL="0" indent="0" lvl="0">
              <a:lnSpc>
                <a:spcPts val="3219"/>
              </a:lnSpc>
              <a:spcBef>
                <a:spcPct val="0"/>
              </a:spcBef>
            </a:pPr>
          </a:p>
        </p:txBody>
      </p:sp>
      <p:sp>
        <p:nvSpPr>
          <p:cNvPr name="TextBox 6" id="6"/>
          <p:cNvSpPr txBox="true"/>
          <p:nvPr/>
        </p:nvSpPr>
        <p:spPr>
          <a:xfrm rot="0">
            <a:off x="1379470" y="6232231"/>
            <a:ext cx="4775418" cy="389255"/>
          </a:xfrm>
          <a:prstGeom prst="rect">
            <a:avLst/>
          </a:prstGeom>
        </p:spPr>
        <p:txBody>
          <a:bodyPr anchor="t" rtlCol="false" tIns="0" lIns="0" bIns="0" rIns="0">
            <a:spAutoFit/>
          </a:bodyPr>
          <a:lstStyle/>
          <a:p>
            <a:pPr algn="ctr" marL="0" indent="0" lvl="0">
              <a:lnSpc>
                <a:spcPts val="3219"/>
              </a:lnSpc>
            </a:pPr>
            <a:r>
              <a:rPr lang="en-US" b="true" sz="2299" spc="229">
                <a:solidFill>
                  <a:srgbClr val="000000"/>
                </a:solidFill>
                <a:latin typeface="Heebo Bold"/>
                <a:ea typeface="Heebo Bold"/>
                <a:cs typeface="Heebo Bold"/>
                <a:sym typeface="Heebo Bold"/>
              </a:rPr>
              <a:t>INSTALL HOSTS AND PORT</a:t>
            </a:r>
          </a:p>
        </p:txBody>
      </p:sp>
      <p:sp>
        <p:nvSpPr>
          <p:cNvPr name="TextBox 7" id="7"/>
          <p:cNvSpPr txBox="true"/>
          <p:nvPr/>
        </p:nvSpPr>
        <p:spPr>
          <a:xfrm rot="0">
            <a:off x="6756291" y="6232231"/>
            <a:ext cx="4775418" cy="389255"/>
          </a:xfrm>
          <a:prstGeom prst="rect">
            <a:avLst/>
          </a:prstGeom>
        </p:spPr>
        <p:txBody>
          <a:bodyPr anchor="t" rtlCol="false" tIns="0" lIns="0" bIns="0" rIns="0">
            <a:spAutoFit/>
          </a:bodyPr>
          <a:lstStyle/>
          <a:p>
            <a:pPr algn="ctr" marL="0" indent="0" lvl="0">
              <a:lnSpc>
                <a:spcPts val="3219"/>
              </a:lnSpc>
            </a:pPr>
            <a:r>
              <a:rPr lang="en-US" b="true" sz="2299" spc="229">
                <a:solidFill>
                  <a:srgbClr val="000000"/>
                </a:solidFill>
                <a:latin typeface="Heebo Bold"/>
                <a:ea typeface="Heebo Bold"/>
                <a:cs typeface="Heebo Bold"/>
                <a:sym typeface="Heebo Bold"/>
              </a:rPr>
              <a:t>EDIT HAPROXY CONFIG:</a:t>
            </a:r>
          </a:p>
        </p:txBody>
      </p:sp>
      <p:sp>
        <p:nvSpPr>
          <p:cNvPr name="TextBox 8" id="8"/>
          <p:cNvSpPr txBox="true"/>
          <p:nvPr/>
        </p:nvSpPr>
        <p:spPr>
          <a:xfrm rot="0">
            <a:off x="12133113" y="6232231"/>
            <a:ext cx="4775418" cy="389255"/>
          </a:xfrm>
          <a:prstGeom prst="rect">
            <a:avLst/>
          </a:prstGeom>
        </p:spPr>
        <p:txBody>
          <a:bodyPr anchor="t" rtlCol="false" tIns="0" lIns="0" bIns="0" rIns="0">
            <a:spAutoFit/>
          </a:bodyPr>
          <a:lstStyle/>
          <a:p>
            <a:pPr algn="ctr" marL="0" indent="0" lvl="0">
              <a:lnSpc>
                <a:spcPts val="3219"/>
              </a:lnSpc>
            </a:pPr>
            <a:r>
              <a:rPr lang="en-US" b="true" sz="2299" spc="229">
                <a:solidFill>
                  <a:srgbClr val="000000"/>
                </a:solidFill>
                <a:latin typeface="Heebo Bold"/>
                <a:ea typeface="Heebo Bold"/>
                <a:cs typeface="Heebo Bold"/>
                <a:sym typeface="Heebo Bold"/>
              </a:rPr>
              <a:t>USE</a:t>
            </a:r>
          </a:p>
        </p:txBody>
      </p:sp>
      <p:sp>
        <p:nvSpPr>
          <p:cNvPr name="TextBox 9" id="9"/>
          <p:cNvSpPr txBox="true"/>
          <p:nvPr/>
        </p:nvSpPr>
        <p:spPr>
          <a:xfrm rot="0">
            <a:off x="1379470" y="6625736"/>
            <a:ext cx="4775418" cy="4406265"/>
          </a:xfrm>
          <a:prstGeom prst="rect">
            <a:avLst/>
          </a:prstGeom>
        </p:spPr>
        <p:txBody>
          <a:bodyPr anchor="t" rtlCol="false" tIns="0" lIns="0" bIns="0" rIns="0">
            <a:spAutoFit/>
          </a:bodyPr>
          <a:lstStyle/>
          <a:p>
            <a:pPr algn="ctr">
              <a:lnSpc>
                <a:spcPts val="2560"/>
              </a:lnSpc>
            </a:pPr>
            <a:r>
              <a:rPr lang="en-US" sz="1600" spc="160">
                <a:solidFill>
                  <a:srgbClr val="000000"/>
                </a:solidFill>
                <a:latin typeface="Lato"/>
                <a:ea typeface="Lato"/>
                <a:cs typeface="Lato"/>
                <a:sym typeface="Lato"/>
              </a:rPr>
              <a:t>I have already set up the /etc/hosts files and opened the necessary ports on all nodes and the load balancer.</a:t>
            </a:r>
          </a:p>
          <a:p>
            <a:pPr algn="ctr">
              <a:lnSpc>
                <a:spcPts val="2560"/>
              </a:lnSpc>
            </a:pPr>
            <a:r>
              <a:rPr lang="en-US" b="true" sz="1600" spc="160">
                <a:solidFill>
                  <a:srgbClr val="000000"/>
                </a:solidFill>
                <a:latin typeface="Lato Bold"/>
                <a:ea typeface="Lato Bold"/>
                <a:cs typeface="Lato Bold"/>
                <a:sym typeface="Lato Bold"/>
              </a:rPr>
              <a:t>/etc/mysql/mariadb.conf.d/50-server.cnf</a:t>
            </a:r>
            <a:r>
              <a:rPr lang="en-US" sz="1600" spc="160">
                <a:solidFill>
                  <a:srgbClr val="000000"/>
                </a:solidFill>
                <a:latin typeface="Lato"/>
                <a:ea typeface="Lato"/>
                <a:cs typeface="Lato"/>
                <a:sym typeface="Lato"/>
              </a:rPr>
              <a:t> → set bind-address to 0.0.0.0</a:t>
            </a:r>
          </a:p>
          <a:p>
            <a:pPr algn="ctr">
              <a:lnSpc>
                <a:spcPts val="2880"/>
              </a:lnSpc>
            </a:pPr>
            <a:r>
              <a:rPr lang="en-US" sz="1800" spc="180">
                <a:solidFill>
                  <a:srgbClr val="000000"/>
                </a:solidFill>
                <a:latin typeface="Lato"/>
                <a:ea typeface="Lato"/>
                <a:cs typeface="Lato"/>
                <a:sym typeface="Lato"/>
              </a:rPr>
              <a:t>on loadbalancer:</a:t>
            </a:r>
          </a:p>
          <a:p>
            <a:pPr algn="ctr">
              <a:lnSpc>
                <a:spcPts val="3040"/>
              </a:lnSpc>
            </a:pPr>
            <a:r>
              <a:rPr lang="en-US" sz="1900" spc="190">
                <a:solidFill>
                  <a:srgbClr val="000000"/>
                </a:solidFill>
                <a:latin typeface="Lato"/>
                <a:ea typeface="Lato"/>
                <a:cs typeface="Lato"/>
                <a:sym typeface="Lato"/>
              </a:rPr>
              <a:t>sudo apt update</a:t>
            </a:r>
          </a:p>
          <a:p>
            <a:pPr algn="ctr">
              <a:lnSpc>
                <a:spcPts val="3040"/>
              </a:lnSpc>
            </a:pPr>
            <a:r>
              <a:rPr lang="en-US" sz="1900" spc="190">
                <a:solidFill>
                  <a:srgbClr val="000000"/>
                </a:solidFill>
                <a:latin typeface="Lato"/>
                <a:ea typeface="Lato"/>
                <a:cs typeface="Lato"/>
                <a:sym typeface="Lato"/>
              </a:rPr>
              <a:t>sudo apt install haproxy</a:t>
            </a:r>
          </a:p>
          <a:p>
            <a:pPr algn="ctr">
              <a:lnSpc>
                <a:spcPts val="3040"/>
              </a:lnSpc>
            </a:pPr>
            <a:r>
              <a:rPr lang="en-US" sz="1900" spc="190">
                <a:solidFill>
                  <a:srgbClr val="000000"/>
                </a:solidFill>
                <a:latin typeface="Lato"/>
                <a:ea typeface="Lato"/>
                <a:cs typeface="Lato"/>
                <a:sym typeface="Lato"/>
              </a:rPr>
              <a:t>sudo systemctl enable haproxy</a:t>
            </a:r>
          </a:p>
          <a:p>
            <a:pPr algn="ctr">
              <a:lnSpc>
                <a:spcPts val="3040"/>
              </a:lnSpc>
            </a:pPr>
            <a:r>
              <a:rPr lang="en-US" sz="1900" spc="190">
                <a:solidFill>
                  <a:srgbClr val="000000"/>
                </a:solidFill>
                <a:latin typeface="Lato"/>
                <a:ea typeface="Lato"/>
                <a:cs typeface="Lato"/>
                <a:sym typeface="Lato"/>
              </a:rPr>
              <a:t>sudo systemctl start haproxy</a:t>
            </a:r>
          </a:p>
          <a:p>
            <a:pPr algn="ctr">
              <a:lnSpc>
                <a:spcPts val="3679"/>
              </a:lnSpc>
            </a:pPr>
          </a:p>
          <a:p>
            <a:pPr algn="ctr" marL="0" indent="0" lvl="0">
              <a:lnSpc>
                <a:spcPts val="3679"/>
              </a:lnSpc>
            </a:pPr>
            <a:r>
              <a:rPr lang="en-US" sz="2299" spc="229">
                <a:solidFill>
                  <a:srgbClr val="000000"/>
                </a:solidFill>
                <a:latin typeface="Lato"/>
                <a:ea typeface="Lato"/>
                <a:cs typeface="Lato"/>
                <a:sym typeface="Lato"/>
              </a:rPr>
              <a:t> </a:t>
            </a:r>
          </a:p>
        </p:txBody>
      </p:sp>
      <p:sp>
        <p:nvSpPr>
          <p:cNvPr name="TextBox 10" id="10"/>
          <p:cNvSpPr txBox="true"/>
          <p:nvPr/>
        </p:nvSpPr>
        <p:spPr>
          <a:xfrm rot="0">
            <a:off x="6756291" y="6625736"/>
            <a:ext cx="5033177" cy="3422649"/>
          </a:xfrm>
          <a:prstGeom prst="rect">
            <a:avLst/>
          </a:prstGeom>
        </p:spPr>
        <p:txBody>
          <a:bodyPr anchor="t" rtlCol="false" tIns="0" lIns="0" bIns="0" rIns="0">
            <a:spAutoFit/>
          </a:bodyPr>
          <a:lstStyle/>
          <a:p>
            <a:pPr algn="ctr">
              <a:lnSpc>
                <a:spcPts val="2560"/>
              </a:lnSpc>
            </a:pPr>
            <a:r>
              <a:rPr lang="en-US" sz="1600" spc="160">
                <a:solidFill>
                  <a:srgbClr val="000000"/>
                </a:solidFill>
                <a:latin typeface="Lato"/>
                <a:ea typeface="Lato"/>
                <a:cs typeface="Lato"/>
                <a:sym typeface="Lato"/>
              </a:rPr>
              <a:t>on /etc/haproxy/haproxy.cnf</a:t>
            </a:r>
          </a:p>
          <a:p>
            <a:pPr algn="ctr">
              <a:lnSpc>
                <a:spcPts val="2560"/>
              </a:lnSpc>
            </a:pPr>
            <a:r>
              <a:rPr lang="en-US" sz="1600" spc="160">
                <a:solidFill>
                  <a:srgbClr val="000000"/>
                </a:solidFill>
                <a:latin typeface="Lato"/>
                <a:ea typeface="Lato"/>
                <a:cs typeface="Lato"/>
                <a:sym typeface="Lato"/>
              </a:rPr>
              <a:t>frontend mariadb_front</a:t>
            </a:r>
          </a:p>
          <a:p>
            <a:pPr algn="ctr">
              <a:lnSpc>
                <a:spcPts val="2560"/>
              </a:lnSpc>
            </a:pPr>
            <a:r>
              <a:rPr lang="en-US" sz="1600" spc="160">
                <a:solidFill>
                  <a:srgbClr val="000000"/>
                </a:solidFill>
                <a:latin typeface="Lato"/>
                <a:ea typeface="Lato"/>
                <a:cs typeface="Lato"/>
                <a:sym typeface="Lato"/>
              </a:rPr>
              <a:t>    bind *:3306</a:t>
            </a:r>
          </a:p>
          <a:p>
            <a:pPr algn="ctr">
              <a:lnSpc>
                <a:spcPts val="2560"/>
              </a:lnSpc>
            </a:pPr>
            <a:r>
              <a:rPr lang="en-US" sz="1600" spc="160">
                <a:solidFill>
                  <a:srgbClr val="000000"/>
                </a:solidFill>
                <a:latin typeface="Lato"/>
                <a:ea typeface="Lato"/>
                <a:cs typeface="Lato"/>
                <a:sym typeface="Lato"/>
              </a:rPr>
              <a:t>    default_backend galera_back</a:t>
            </a:r>
          </a:p>
          <a:p>
            <a:pPr algn="ctr">
              <a:lnSpc>
                <a:spcPts val="2560"/>
              </a:lnSpc>
            </a:pPr>
            <a:r>
              <a:rPr lang="en-US" sz="1600" spc="160">
                <a:solidFill>
                  <a:srgbClr val="000000"/>
                </a:solidFill>
                <a:latin typeface="Lato"/>
                <a:ea typeface="Lato"/>
                <a:cs typeface="Lato"/>
                <a:sym typeface="Lato"/>
              </a:rPr>
              <a:t>backend galera_back</a:t>
            </a:r>
          </a:p>
          <a:p>
            <a:pPr algn="ctr">
              <a:lnSpc>
                <a:spcPts val="2560"/>
              </a:lnSpc>
            </a:pPr>
            <a:r>
              <a:rPr lang="en-US" sz="1600" spc="160">
                <a:solidFill>
                  <a:srgbClr val="000000"/>
                </a:solidFill>
                <a:latin typeface="Lato"/>
                <a:ea typeface="Lato"/>
                <a:cs typeface="Lato"/>
                <a:sym typeface="Lato"/>
              </a:rPr>
              <a:t>    balance leastconn</a:t>
            </a:r>
          </a:p>
          <a:p>
            <a:pPr algn="ctr">
              <a:lnSpc>
                <a:spcPts val="2560"/>
              </a:lnSpc>
            </a:pPr>
            <a:r>
              <a:rPr lang="en-US" sz="1600" spc="160">
                <a:solidFill>
                  <a:srgbClr val="000000"/>
                </a:solidFill>
                <a:latin typeface="Lato"/>
                <a:ea typeface="Lato"/>
                <a:cs typeface="Lato"/>
                <a:sym typeface="Lato"/>
              </a:rPr>
              <a:t>    mode tcp</a:t>
            </a:r>
          </a:p>
          <a:p>
            <a:pPr algn="ctr">
              <a:lnSpc>
                <a:spcPts val="2560"/>
              </a:lnSpc>
            </a:pPr>
            <a:r>
              <a:rPr lang="en-US" sz="1600" spc="160">
                <a:solidFill>
                  <a:srgbClr val="000000"/>
                </a:solidFill>
                <a:latin typeface="Lato"/>
                <a:ea typeface="Lato"/>
                <a:cs typeface="Lato"/>
                <a:sym typeface="Lato"/>
              </a:rPr>
              <a:t>    server node1 192.168.155.181:3306 check</a:t>
            </a:r>
          </a:p>
          <a:p>
            <a:pPr algn="ctr">
              <a:lnSpc>
                <a:spcPts val="2560"/>
              </a:lnSpc>
            </a:pPr>
            <a:r>
              <a:rPr lang="en-US" sz="1600" spc="160">
                <a:solidFill>
                  <a:srgbClr val="000000"/>
                </a:solidFill>
                <a:latin typeface="Lato"/>
                <a:ea typeface="Lato"/>
                <a:cs typeface="Lato"/>
                <a:sym typeface="Lato"/>
              </a:rPr>
              <a:t>    server node2 192.168.155.116:3306 check</a:t>
            </a:r>
          </a:p>
          <a:p>
            <a:pPr algn="ctr">
              <a:lnSpc>
                <a:spcPts val="2560"/>
              </a:lnSpc>
            </a:pPr>
            <a:r>
              <a:rPr lang="en-US" sz="1600" spc="160">
                <a:solidFill>
                  <a:srgbClr val="000000"/>
                </a:solidFill>
                <a:latin typeface="Lato"/>
                <a:ea typeface="Lato"/>
                <a:cs typeface="Lato"/>
                <a:sym typeface="Lato"/>
              </a:rPr>
              <a:t>    # add more nodes if needed</a:t>
            </a:r>
          </a:p>
          <a:p>
            <a:pPr algn="ctr" marL="0" indent="0" lvl="0">
              <a:lnSpc>
                <a:spcPts val="1440"/>
              </a:lnSpc>
            </a:pPr>
          </a:p>
        </p:txBody>
      </p:sp>
      <p:sp>
        <p:nvSpPr>
          <p:cNvPr name="TextBox 11" id="11"/>
          <p:cNvSpPr txBox="true"/>
          <p:nvPr/>
        </p:nvSpPr>
        <p:spPr>
          <a:xfrm rot="0">
            <a:off x="12133113" y="6616211"/>
            <a:ext cx="4775418" cy="3242310"/>
          </a:xfrm>
          <a:prstGeom prst="rect">
            <a:avLst/>
          </a:prstGeom>
        </p:spPr>
        <p:txBody>
          <a:bodyPr anchor="t" rtlCol="false" tIns="0" lIns="0" bIns="0" rIns="0">
            <a:spAutoFit/>
          </a:bodyPr>
          <a:lstStyle/>
          <a:p>
            <a:pPr algn="ctr">
              <a:lnSpc>
                <a:spcPts val="2880"/>
              </a:lnSpc>
            </a:pPr>
            <a:r>
              <a:rPr lang="en-US" sz="1800" spc="180">
                <a:solidFill>
                  <a:srgbClr val="000000"/>
                </a:solidFill>
                <a:latin typeface="Lato"/>
                <a:ea typeface="Lato"/>
                <a:cs typeface="Lato"/>
                <a:sym typeface="Lato"/>
              </a:rPr>
              <a:t>on every MariaDB server:</a:t>
            </a:r>
          </a:p>
          <a:p>
            <a:pPr algn="ctr">
              <a:lnSpc>
                <a:spcPts val="2880"/>
              </a:lnSpc>
            </a:pPr>
            <a:r>
              <a:rPr lang="en-US" sz="1800" spc="180">
                <a:solidFill>
                  <a:srgbClr val="000000"/>
                </a:solidFill>
                <a:latin typeface="Lato"/>
                <a:ea typeface="Lato"/>
                <a:cs typeface="Lato"/>
                <a:sym typeface="Lato"/>
              </a:rPr>
              <a:t>CREATE USER 'your_username'@'load_balancer_ip'</a:t>
            </a:r>
          </a:p>
          <a:p>
            <a:pPr algn="ctr">
              <a:lnSpc>
                <a:spcPts val="2880"/>
              </a:lnSpc>
            </a:pPr>
            <a:r>
              <a:rPr lang="en-US" sz="1800" spc="180">
                <a:solidFill>
                  <a:srgbClr val="000000"/>
                </a:solidFill>
                <a:latin typeface="Lato"/>
                <a:ea typeface="Lato"/>
                <a:cs typeface="Lato"/>
                <a:sym typeface="Lato"/>
              </a:rPr>
              <a:t>on loadbalancer:</a:t>
            </a:r>
          </a:p>
          <a:p>
            <a:pPr algn="ctr" marL="0" indent="0" lvl="0">
              <a:lnSpc>
                <a:spcPts val="2880"/>
              </a:lnSpc>
            </a:pPr>
            <a:r>
              <a:rPr lang="en-US" sz="1800" spc="180">
                <a:solidFill>
                  <a:srgbClr val="000000"/>
                </a:solidFill>
                <a:latin typeface="Lato"/>
                <a:ea typeface="Lato"/>
                <a:cs typeface="Lato"/>
                <a:sym typeface="Lato"/>
              </a:rPr>
              <a:t>sudo systemctl restart haproxy</a:t>
            </a:r>
          </a:p>
          <a:p>
            <a:pPr algn="ctr" marL="0" indent="0" lvl="0">
              <a:lnSpc>
                <a:spcPts val="2880"/>
              </a:lnSpc>
            </a:pPr>
            <a:r>
              <a:rPr lang="en-US" sz="1800" spc="180" strike="noStrike" u="none">
                <a:solidFill>
                  <a:srgbClr val="000000"/>
                </a:solidFill>
                <a:latin typeface="Lato"/>
                <a:ea typeface="Lato"/>
                <a:cs typeface="Lato"/>
                <a:sym typeface="Lato"/>
              </a:rPr>
              <a:t>now on all clients we access to loadbalancer with:</a:t>
            </a:r>
          </a:p>
          <a:p>
            <a:pPr algn="ctr" marL="0" indent="0" lvl="0">
              <a:lnSpc>
                <a:spcPts val="2880"/>
              </a:lnSpc>
            </a:pPr>
            <a:r>
              <a:rPr lang="en-US" sz="1800" spc="180" strike="noStrike" u="none">
                <a:solidFill>
                  <a:srgbClr val="000000"/>
                </a:solidFill>
                <a:latin typeface="Lato"/>
                <a:ea typeface="Lato"/>
                <a:cs typeface="Lato"/>
                <a:sym typeface="Lato"/>
              </a:rPr>
              <a:t>mysql -h &lt;load_balancer_ip&gt; -u &lt;your_username&gt; </a:t>
            </a:r>
          </a:p>
        </p:txBody>
      </p:sp>
      <p:sp>
        <p:nvSpPr>
          <p:cNvPr name="TextBox 12" id="12"/>
          <p:cNvSpPr txBox="true"/>
          <p:nvPr/>
        </p:nvSpPr>
        <p:spPr>
          <a:xfrm rot="0">
            <a:off x="12133113" y="4797280"/>
            <a:ext cx="4775418" cy="1415901"/>
          </a:xfrm>
          <a:prstGeom prst="rect">
            <a:avLst/>
          </a:prstGeom>
        </p:spPr>
        <p:txBody>
          <a:bodyPr anchor="t" rtlCol="false" tIns="0" lIns="0" bIns="0" rIns="0">
            <a:spAutoFit/>
          </a:bodyPr>
          <a:lstStyle/>
          <a:p>
            <a:pPr algn="ctr" marL="0" indent="0" lvl="0">
              <a:lnSpc>
                <a:spcPts val="11200"/>
              </a:lnSpc>
            </a:pPr>
            <a:r>
              <a:rPr lang="en-US" b="true" sz="8000" spc="400">
                <a:solidFill>
                  <a:srgbClr val="A79E9C"/>
                </a:solidFill>
                <a:latin typeface="Helios Extended Bold"/>
                <a:ea typeface="Helios Extended Bold"/>
                <a:cs typeface="Helios Extended Bold"/>
                <a:sym typeface="Helios Extended Bold"/>
              </a:rPr>
              <a:t>03</a:t>
            </a:r>
          </a:p>
        </p:txBody>
      </p:sp>
      <p:grpSp>
        <p:nvGrpSpPr>
          <p:cNvPr name="Group 13" id="13"/>
          <p:cNvGrpSpPr/>
          <p:nvPr/>
        </p:nvGrpSpPr>
        <p:grpSpPr>
          <a:xfrm rot="0">
            <a:off x="1028700" y="9009810"/>
            <a:ext cx="248490" cy="248490"/>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15" id="15"/>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grpSp>
        <p:nvGrpSpPr>
          <p:cNvPr name="Group 16" id="16"/>
          <p:cNvGrpSpPr/>
          <p:nvPr/>
        </p:nvGrpSpPr>
        <p:grpSpPr>
          <a:xfrm rot="0">
            <a:off x="17010810" y="1028700"/>
            <a:ext cx="248490" cy="248490"/>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000000"/>
            </a:solidFill>
          </p:spPr>
        </p:sp>
        <p:sp>
          <p:nvSpPr>
            <p:cNvPr name="TextBox 18" id="18"/>
            <p:cNvSpPr txBox="true"/>
            <p:nvPr/>
          </p:nvSpPr>
          <p:spPr>
            <a:xfrm>
              <a:off x="0" y="-47625"/>
              <a:ext cx="812800" cy="860425"/>
            </a:xfrm>
            <a:prstGeom prst="rect">
              <a:avLst/>
            </a:prstGeom>
          </p:spPr>
          <p:txBody>
            <a:bodyPr anchor="ctr" rtlCol="false" tIns="50800" lIns="50800" bIns="50800" rIns="50800"/>
            <a:lstStyle/>
            <a:p>
              <a:pPr algn="ctr">
                <a:lnSpc>
                  <a:spcPts val="3359"/>
                </a:lnSpc>
              </a:pPr>
            </a:p>
          </p:txBody>
        </p:sp>
      </p:grpSp>
      <p:sp>
        <p:nvSpPr>
          <p:cNvPr name="AutoShape 19" id="19"/>
          <p:cNvSpPr/>
          <p:nvPr/>
        </p:nvSpPr>
        <p:spPr>
          <a:xfrm flipH="true">
            <a:off x="1033463" y="0"/>
            <a:ext cx="0" cy="3334176"/>
          </a:xfrm>
          <a:prstGeom prst="line">
            <a:avLst/>
          </a:prstGeom>
          <a:ln cap="flat" w="57150">
            <a:solidFill>
              <a:srgbClr val="50322B"/>
            </a:solidFill>
            <a:prstDash val="sysDash"/>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sp>
        <p:nvSpPr>
          <p:cNvPr name="AutoShape 2" id="2"/>
          <p:cNvSpPr/>
          <p:nvPr/>
        </p:nvSpPr>
        <p:spPr>
          <a:xfrm flipV="true">
            <a:off x="1033462" y="-316395"/>
            <a:ext cx="0" cy="11119792"/>
          </a:xfrm>
          <a:prstGeom prst="line">
            <a:avLst/>
          </a:prstGeom>
          <a:ln cap="flat" w="9525">
            <a:solidFill>
              <a:srgbClr val="B3B3B3"/>
            </a:solidFill>
            <a:prstDash val="solid"/>
            <a:headEnd type="none" len="sm" w="sm"/>
            <a:tailEnd type="none" len="sm" w="sm"/>
          </a:ln>
        </p:spPr>
      </p:sp>
      <p:sp>
        <p:nvSpPr>
          <p:cNvPr name="AutoShape 3" id="3"/>
          <p:cNvSpPr/>
          <p:nvPr/>
        </p:nvSpPr>
        <p:spPr>
          <a:xfrm>
            <a:off x="1033462" y="9244012"/>
            <a:ext cx="17474323" cy="0"/>
          </a:xfrm>
          <a:prstGeom prst="line">
            <a:avLst/>
          </a:prstGeom>
          <a:ln cap="flat" w="9525">
            <a:solidFill>
              <a:srgbClr val="B3B3B3"/>
            </a:solidFill>
            <a:prstDash val="solid"/>
            <a:headEnd type="none" len="sm" w="sm"/>
            <a:tailEnd type="none" len="sm" w="sm"/>
          </a:ln>
        </p:spPr>
      </p:sp>
      <p:grpSp>
        <p:nvGrpSpPr>
          <p:cNvPr name="Group 4" id="4"/>
          <p:cNvGrpSpPr/>
          <p:nvPr/>
        </p:nvGrpSpPr>
        <p:grpSpPr>
          <a:xfrm rot="0">
            <a:off x="2434546" y="3779164"/>
            <a:ext cx="4251367" cy="4554283"/>
            <a:chOff x="0" y="0"/>
            <a:chExt cx="1119702" cy="1199482"/>
          </a:xfrm>
        </p:grpSpPr>
        <p:sp>
          <p:nvSpPr>
            <p:cNvPr name="Freeform 5" id="5"/>
            <p:cNvSpPr/>
            <p:nvPr/>
          </p:nvSpPr>
          <p:spPr>
            <a:xfrm flipH="false" flipV="false" rot="0">
              <a:off x="0" y="0"/>
              <a:ext cx="1119702" cy="1199482"/>
            </a:xfrm>
            <a:custGeom>
              <a:avLst/>
              <a:gdLst/>
              <a:ahLst/>
              <a:cxnLst/>
              <a:rect r="r" b="b" t="t" l="l"/>
              <a:pathLst>
                <a:path h="1199482" w="1119702">
                  <a:moveTo>
                    <a:pt x="25495" y="0"/>
                  </a:moveTo>
                  <a:lnTo>
                    <a:pt x="1094207" y="0"/>
                  </a:lnTo>
                  <a:cubicBezTo>
                    <a:pt x="1108287" y="0"/>
                    <a:pt x="1119702" y="11414"/>
                    <a:pt x="1119702" y="25495"/>
                  </a:cubicBezTo>
                  <a:lnTo>
                    <a:pt x="1119702" y="1173987"/>
                  </a:lnTo>
                  <a:cubicBezTo>
                    <a:pt x="1119702" y="1188068"/>
                    <a:pt x="1108287" y="1199482"/>
                    <a:pt x="1094207" y="1199482"/>
                  </a:cubicBezTo>
                  <a:lnTo>
                    <a:pt x="25495" y="1199482"/>
                  </a:lnTo>
                  <a:cubicBezTo>
                    <a:pt x="11414" y="1199482"/>
                    <a:pt x="0" y="1188068"/>
                    <a:pt x="0" y="1173987"/>
                  </a:cubicBezTo>
                  <a:lnTo>
                    <a:pt x="0" y="25495"/>
                  </a:lnTo>
                  <a:cubicBezTo>
                    <a:pt x="0" y="11414"/>
                    <a:pt x="11414" y="0"/>
                    <a:pt x="25495" y="0"/>
                  </a:cubicBezTo>
                  <a:close/>
                </a:path>
              </a:pathLst>
            </a:custGeom>
            <a:ln w="9525" cap="sq">
              <a:solidFill>
                <a:srgbClr val="B3B3B3"/>
              </a:solidFill>
              <a:prstDash val="solid"/>
              <a:miter/>
            </a:ln>
          </p:spPr>
        </p:sp>
        <p:sp>
          <p:nvSpPr>
            <p:cNvPr name="TextBox 6" id="6"/>
            <p:cNvSpPr txBox="true"/>
            <p:nvPr/>
          </p:nvSpPr>
          <p:spPr>
            <a:xfrm>
              <a:off x="0" y="-47625"/>
              <a:ext cx="1119702" cy="1247107"/>
            </a:xfrm>
            <a:prstGeom prst="rect">
              <a:avLst/>
            </a:prstGeom>
          </p:spPr>
          <p:txBody>
            <a:bodyPr anchor="t" rtlCol="false" tIns="254000" lIns="254000" bIns="254000" rIns="254000"/>
            <a:lstStyle/>
            <a:p>
              <a:pPr algn="just">
                <a:lnSpc>
                  <a:spcPts val="2939"/>
                </a:lnSpc>
              </a:pPr>
              <a:r>
                <a:rPr lang="en-US" sz="2099" spc="-88">
                  <a:solidFill>
                    <a:srgbClr val="000000"/>
                  </a:solidFill>
                  <a:latin typeface="TT Norms"/>
                  <a:ea typeface="TT Norms"/>
                  <a:cs typeface="TT Norms"/>
                  <a:sym typeface="TT Norms"/>
                </a:rPr>
                <a:t>In a Galera Cluster, every server can read and write data — none of them is special or only for reading or writing.</a:t>
              </a:r>
            </a:p>
            <a:p>
              <a:pPr algn="just" marL="0" indent="0" lvl="1">
                <a:lnSpc>
                  <a:spcPts val="2939"/>
                </a:lnSpc>
                <a:spcBef>
                  <a:spcPct val="0"/>
                </a:spcBef>
              </a:pPr>
              <a:r>
                <a:rPr lang="en-US" sz="2099" spc="-88">
                  <a:solidFill>
                    <a:srgbClr val="000000"/>
                  </a:solidFill>
                  <a:latin typeface="TT Norms"/>
                  <a:ea typeface="TT Norms"/>
                  <a:cs typeface="TT Norms"/>
                  <a:sym typeface="TT Norms"/>
                </a:rPr>
                <a:t>When you change data on one server, Galera quickly copies that change to all the other servers at almost the same time. This way, all servers have the same up-to-date data.</a:t>
              </a:r>
            </a:p>
            <a:p>
              <a:pPr algn="just">
                <a:lnSpc>
                  <a:spcPts val="2939"/>
                </a:lnSpc>
                <a:spcBef>
                  <a:spcPct val="0"/>
                </a:spcBef>
              </a:pPr>
            </a:p>
          </p:txBody>
        </p:sp>
      </p:grpSp>
      <p:grpSp>
        <p:nvGrpSpPr>
          <p:cNvPr name="Group 7" id="7"/>
          <p:cNvGrpSpPr/>
          <p:nvPr/>
        </p:nvGrpSpPr>
        <p:grpSpPr>
          <a:xfrm rot="0">
            <a:off x="7719283" y="3779164"/>
            <a:ext cx="4251367" cy="4554283"/>
            <a:chOff x="0" y="0"/>
            <a:chExt cx="1119702" cy="1199482"/>
          </a:xfrm>
        </p:grpSpPr>
        <p:sp>
          <p:nvSpPr>
            <p:cNvPr name="Freeform 8" id="8"/>
            <p:cNvSpPr/>
            <p:nvPr/>
          </p:nvSpPr>
          <p:spPr>
            <a:xfrm flipH="false" flipV="false" rot="0">
              <a:off x="0" y="0"/>
              <a:ext cx="1119702" cy="1199482"/>
            </a:xfrm>
            <a:custGeom>
              <a:avLst/>
              <a:gdLst/>
              <a:ahLst/>
              <a:cxnLst/>
              <a:rect r="r" b="b" t="t" l="l"/>
              <a:pathLst>
                <a:path h="1199482" w="1119702">
                  <a:moveTo>
                    <a:pt x="25495" y="0"/>
                  </a:moveTo>
                  <a:lnTo>
                    <a:pt x="1094207" y="0"/>
                  </a:lnTo>
                  <a:cubicBezTo>
                    <a:pt x="1108287" y="0"/>
                    <a:pt x="1119702" y="11414"/>
                    <a:pt x="1119702" y="25495"/>
                  </a:cubicBezTo>
                  <a:lnTo>
                    <a:pt x="1119702" y="1173987"/>
                  </a:lnTo>
                  <a:cubicBezTo>
                    <a:pt x="1119702" y="1188068"/>
                    <a:pt x="1108287" y="1199482"/>
                    <a:pt x="1094207" y="1199482"/>
                  </a:cubicBezTo>
                  <a:lnTo>
                    <a:pt x="25495" y="1199482"/>
                  </a:lnTo>
                  <a:cubicBezTo>
                    <a:pt x="11414" y="1199482"/>
                    <a:pt x="0" y="1188068"/>
                    <a:pt x="0" y="1173987"/>
                  </a:cubicBezTo>
                  <a:lnTo>
                    <a:pt x="0" y="25495"/>
                  </a:lnTo>
                  <a:cubicBezTo>
                    <a:pt x="0" y="11414"/>
                    <a:pt x="11414" y="0"/>
                    <a:pt x="25495" y="0"/>
                  </a:cubicBezTo>
                  <a:close/>
                </a:path>
              </a:pathLst>
            </a:custGeom>
            <a:ln w="9525" cap="sq">
              <a:solidFill>
                <a:srgbClr val="B3B3B3"/>
              </a:solidFill>
              <a:prstDash val="solid"/>
              <a:miter/>
            </a:ln>
          </p:spPr>
        </p:sp>
        <p:sp>
          <p:nvSpPr>
            <p:cNvPr name="TextBox 9" id="9"/>
            <p:cNvSpPr txBox="true"/>
            <p:nvPr/>
          </p:nvSpPr>
          <p:spPr>
            <a:xfrm>
              <a:off x="0" y="-38100"/>
              <a:ext cx="1119702" cy="1237582"/>
            </a:xfrm>
            <a:prstGeom prst="rect">
              <a:avLst/>
            </a:prstGeom>
          </p:spPr>
          <p:txBody>
            <a:bodyPr anchor="t" rtlCol="false" tIns="254000" lIns="254000" bIns="254000" rIns="254000"/>
            <a:lstStyle/>
            <a:p>
              <a:pPr algn="just">
                <a:lnSpc>
                  <a:spcPts val="2799"/>
                </a:lnSpc>
              </a:pPr>
              <a:r>
                <a:rPr lang="en-US" sz="1999" spc="-83">
                  <a:solidFill>
                    <a:srgbClr val="000000"/>
                  </a:solidFill>
                  <a:latin typeface="TT Norms"/>
                  <a:ea typeface="TT Norms"/>
                  <a:cs typeface="TT Norms"/>
                  <a:sym typeface="TT Norms"/>
                </a:rPr>
                <a:t>DDL means commands that create, change, or delete database tables.</a:t>
              </a:r>
            </a:p>
            <a:p>
              <a:pPr algn="just">
                <a:lnSpc>
                  <a:spcPts val="2799"/>
                </a:lnSpc>
              </a:pPr>
              <a:r>
                <a:rPr lang="en-US" sz="1999" spc="-83">
                  <a:solidFill>
                    <a:srgbClr val="000000"/>
                  </a:solidFill>
                  <a:latin typeface="TT Norms"/>
                  <a:ea typeface="TT Norms"/>
                  <a:cs typeface="TT Norms"/>
                  <a:sym typeface="TT Norms"/>
                </a:rPr>
                <a:t> In Galera, these commands must run on all nodes in the same order to keep data consistent.</a:t>
              </a:r>
            </a:p>
            <a:p>
              <a:pPr algn="just">
                <a:lnSpc>
                  <a:spcPts val="2799"/>
                </a:lnSpc>
              </a:pPr>
              <a:r>
                <a:rPr lang="en-US" sz="1999" spc="-83">
                  <a:solidFill>
                    <a:srgbClr val="000000"/>
                  </a:solidFill>
                  <a:latin typeface="TT Norms"/>
                  <a:ea typeface="TT Norms"/>
                  <a:cs typeface="TT Norms"/>
                  <a:sym typeface="TT Norms"/>
                </a:rPr>
                <a:t> The default method pauses other operations briefly to ensure safety.</a:t>
              </a:r>
            </a:p>
            <a:p>
              <a:pPr algn="just" marL="0" indent="0" lvl="1">
                <a:lnSpc>
                  <a:spcPts val="2799"/>
                </a:lnSpc>
                <a:spcBef>
                  <a:spcPct val="0"/>
                </a:spcBef>
              </a:pPr>
              <a:r>
                <a:rPr lang="en-US" sz="1999" spc="-83">
                  <a:solidFill>
                    <a:srgbClr val="000000"/>
                  </a:solidFill>
                  <a:latin typeface="TT Norms"/>
                  <a:ea typeface="TT Norms"/>
                  <a:cs typeface="TT Norms"/>
                  <a:sym typeface="TT Norms"/>
                </a:rPr>
                <a:t> For big changes, special tools can apply updates without stopping the database</a:t>
              </a:r>
            </a:p>
          </p:txBody>
        </p:sp>
      </p:grpSp>
      <p:grpSp>
        <p:nvGrpSpPr>
          <p:cNvPr name="Group 10" id="10"/>
          <p:cNvGrpSpPr/>
          <p:nvPr/>
        </p:nvGrpSpPr>
        <p:grpSpPr>
          <a:xfrm rot="0">
            <a:off x="13007306" y="3779164"/>
            <a:ext cx="4251994" cy="4554283"/>
            <a:chOff x="0" y="0"/>
            <a:chExt cx="1119867" cy="1199482"/>
          </a:xfrm>
        </p:grpSpPr>
        <p:sp>
          <p:nvSpPr>
            <p:cNvPr name="Freeform 11" id="11"/>
            <p:cNvSpPr/>
            <p:nvPr/>
          </p:nvSpPr>
          <p:spPr>
            <a:xfrm flipH="false" flipV="false" rot="0">
              <a:off x="0" y="0"/>
              <a:ext cx="1119867" cy="1199482"/>
            </a:xfrm>
            <a:custGeom>
              <a:avLst/>
              <a:gdLst/>
              <a:ahLst/>
              <a:cxnLst/>
              <a:rect r="r" b="b" t="t" l="l"/>
              <a:pathLst>
                <a:path h="1199482" w="1119867">
                  <a:moveTo>
                    <a:pt x="25491" y="0"/>
                  </a:moveTo>
                  <a:lnTo>
                    <a:pt x="1094376" y="0"/>
                  </a:lnTo>
                  <a:cubicBezTo>
                    <a:pt x="1101136" y="0"/>
                    <a:pt x="1107620" y="2686"/>
                    <a:pt x="1112401" y="7466"/>
                  </a:cubicBezTo>
                  <a:cubicBezTo>
                    <a:pt x="1117181" y="12247"/>
                    <a:pt x="1119867" y="18730"/>
                    <a:pt x="1119867" y="25491"/>
                  </a:cubicBezTo>
                  <a:lnTo>
                    <a:pt x="1119867" y="1173991"/>
                  </a:lnTo>
                  <a:cubicBezTo>
                    <a:pt x="1119867" y="1188069"/>
                    <a:pt x="1108454" y="1199482"/>
                    <a:pt x="1094376" y="1199482"/>
                  </a:cubicBezTo>
                  <a:lnTo>
                    <a:pt x="25491" y="1199482"/>
                  </a:lnTo>
                  <a:cubicBezTo>
                    <a:pt x="18730" y="1199482"/>
                    <a:pt x="12247" y="1196796"/>
                    <a:pt x="7466" y="1192016"/>
                  </a:cubicBezTo>
                  <a:cubicBezTo>
                    <a:pt x="2686" y="1187235"/>
                    <a:pt x="0" y="1180752"/>
                    <a:pt x="0" y="1173991"/>
                  </a:cubicBezTo>
                  <a:lnTo>
                    <a:pt x="0" y="25491"/>
                  </a:lnTo>
                  <a:cubicBezTo>
                    <a:pt x="0" y="18730"/>
                    <a:pt x="2686" y="12247"/>
                    <a:pt x="7466" y="7466"/>
                  </a:cubicBezTo>
                  <a:cubicBezTo>
                    <a:pt x="12247" y="2686"/>
                    <a:pt x="18730" y="0"/>
                    <a:pt x="25491" y="0"/>
                  </a:cubicBezTo>
                  <a:close/>
                </a:path>
              </a:pathLst>
            </a:custGeom>
            <a:ln w="9525" cap="sq">
              <a:solidFill>
                <a:srgbClr val="B3B3B3"/>
              </a:solidFill>
              <a:prstDash val="solid"/>
              <a:miter/>
            </a:ln>
          </p:spPr>
        </p:sp>
        <p:sp>
          <p:nvSpPr>
            <p:cNvPr name="TextBox 12" id="12"/>
            <p:cNvSpPr txBox="true"/>
            <p:nvPr/>
          </p:nvSpPr>
          <p:spPr>
            <a:xfrm>
              <a:off x="0" y="-38100"/>
              <a:ext cx="1119867" cy="1237582"/>
            </a:xfrm>
            <a:prstGeom prst="rect">
              <a:avLst/>
            </a:prstGeom>
          </p:spPr>
          <p:txBody>
            <a:bodyPr anchor="t" rtlCol="false" tIns="254000" lIns="254000" bIns="254000" rIns="254000"/>
            <a:lstStyle/>
            <a:p>
              <a:pPr algn="just">
                <a:lnSpc>
                  <a:spcPts val="2520"/>
                </a:lnSpc>
                <a:spcBef>
                  <a:spcPct val="0"/>
                </a:spcBef>
              </a:pPr>
              <a:r>
                <a:rPr lang="en-US" b="true" sz="1800" spc="-75">
                  <a:solidFill>
                    <a:srgbClr val="000000"/>
                  </a:solidFill>
                  <a:latin typeface="TT Norms Bold"/>
                  <a:ea typeface="TT Norms Bold"/>
                  <a:cs typeface="TT Norms Bold"/>
                  <a:sym typeface="TT Norms Bold"/>
                </a:rPr>
                <a:t>SHOW STATUS LIKE 'wsrep_cluster_size';</a:t>
              </a:r>
              <a:r>
                <a:rPr lang="en-US" b="true" sz="1800" spc="-75" strike="noStrike" u="none">
                  <a:solidFill>
                    <a:srgbClr val="000000"/>
                  </a:solidFill>
                  <a:latin typeface="TT Norms Bold"/>
                  <a:ea typeface="TT Norms Bold"/>
                  <a:cs typeface="TT Norms Bold"/>
                  <a:sym typeface="TT Norms Bold"/>
                </a:rPr>
                <a:t> : </a:t>
              </a:r>
              <a:r>
                <a:rPr lang="en-US" sz="1800" spc="-75" strike="noStrike" u="none">
                  <a:solidFill>
                    <a:srgbClr val="000000"/>
                  </a:solidFill>
                  <a:latin typeface="TT Norms"/>
                  <a:ea typeface="TT Norms"/>
                  <a:cs typeface="TT Norms"/>
                  <a:sym typeface="TT Norms"/>
                </a:rPr>
                <a:t>Number of nodes currently in the Primary Component:</a:t>
              </a:r>
            </a:p>
            <a:p>
              <a:pPr algn="just">
                <a:lnSpc>
                  <a:spcPts val="2520"/>
                </a:lnSpc>
                <a:spcBef>
                  <a:spcPct val="0"/>
                </a:spcBef>
              </a:pPr>
              <a:r>
                <a:rPr lang="en-US" b="true" sz="1800" spc="-75" strike="noStrike" u="none">
                  <a:solidFill>
                    <a:srgbClr val="000000"/>
                  </a:solidFill>
                  <a:latin typeface="TT Norms Bold"/>
                  <a:ea typeface="TT Norms Bold"/>
                  <a:cs typeface="TT Norms Bold"/>
                  <a:sym typeface="TT Norms Bold"/>
                </a:rPr>
                <a:t>wsrep_local_state and wsrep_local_state_comment:</a:t>
              </a:r>
              <a:r>
                <a:rPr lang="en-US" sz="1800" spc="-75" strike="noStrike" u="none">
                  <a:solidFill>
                    <a:srgbClr val="000000"/>
                  </a:solidFill>
                  <a:latin typeface="TT Norms"/>
                  <a:ea typeface="TT Norms"/>
                  <a:cs typeface="TT Norms"/>
                  <a:sym typeface="TT Norms"/>
                </a:rPr>
                <a:t> The state of the current node</a:t>
              </a:r>
            </a:p>
            <a:p>
              <a:pPr algn="just">
                <a:lnSpc>
                  <a:spcPts val="2520"/>
                </a:lnSpc>
                <a:spcBef>
                  <a:spcPct val="0"/>
                </a:spcBef>
              </a:pPr>
              <a:r>
                <a:rPr lang="en-US" b="true" sz="1800" spc="-75" strike="noStrike" u="none">
                  <a:solidFill>
                    <a:srgbClr val="000000"/>
                  </a:solidFill>
                  <a:latin typeface="TT Norms Bold"/>
                  <a:ea typeface="TT Norms Bold"/>
                  <a:cs typeface="TT Norms Bold"/>
                  <a:sym typeface="TT Norms Bold"/>
                </a:rPr>
                <a:t>wsrep_cluster_status:</a:t>
              </a:r>
            </a:p>
            <a:p>
              <a:pPr algn="just">
                <a:lnSpc>
                  <a:spcPts val="2520"/>
                </a:lnSpc>
                <a:spcBef>
                  <a:spcPct val="0"/>
                </a:spcBef>
              </a:pPr>
              <a:r>
                <a:rPr lang="en-US" sz="1800" spc="-75" strike="noStrike" u="none">
                  <a:solidFill>
                    <a:srgbClr val="000000"/>
                  </a:solidFill>
                  <a:latin typeface="TT Norms"/>
                  <a:ea typeface="TT Norms"/>
                  <a:cs typeface="TT Norms"/>
                  <a:sym typeface="TT Norms"/>
                </a:rPr>
                <a:t> Shows cluster status: Primary means cluster is active and healthy.</a:t>
              </a:r>
            </a:p>
            <a:p>
              <a:pPr algn="just">
                <a:lnSpc>
                  <a:spcPts val="2520"/>
                </a:lnSpc>
                <a:spcBef>
                  <a:spcPct val="0"/>
                </a:spcBef>
              </a:pPr>
              <a:r>
                <a:rPr lang="en-US" b="true" sz="1800" spc="-75" strike="noStrike" u="none">
                  <a:solidFill>
                    <a:srgbClr val="000000"/>
                  </a:solidFill>
                  <a:latin typeface="TT Norms Bold"/>
                  <a:ea typeface="TT Norms Bold"/>
                  <a:cs typeface="TT Norms Bold"/>
                  <a:sym typeface="TT Norms Bold"/>
                </a:rPr>
                <a:t>wsrep_received</a:t>
              </a:r>
            </a:p>
            <a:p>
              <a:pPr algn="just">
                <a:lnSpc>
                  <a:spcPts val="2520"/>
                </a:lnSpc>
                <a:spcBef>
                  <a:spcPct val="0"/>
                </a:spcBef>
              </a:pPr>
              <a:r>
                <a:rPr lang="en-US" sz="1800" spc="-75" strike="noStrike" u="none">
                  <a:solidFill>
                    <a:srgbClr val="000000"/>
                  </a:solidFill>
                  <a:latin typeface="TT Norms"/>
                  <a:ea typeface="TT Norms"/>
                  <a:cs typeface="TT Norms"/>
                  <a:sym typeface="TT Norms"/>
                </a:rPr>
                <a:t> Number of transactions received from other nodes.</a:t>
              </a:r>
            </a:p>
          </p:txBody>
        </p:sp>
      </p:grpSp>
      <p:sp>
        <p:nvSpPr>
          <p:cNvPr name="TextBox 13" id="13"/>
          <p:cNvSpPr txBox="true"/>
          <p:nvPr/>
        </p:nvSpPr>
        <p:spPr>
          <a:xfrm rot="0">
            <a:off x="1331708" y="1251376"/>
            <a:ext cx="10838968" cy="975417"/>
          </a:xfrm>
          <a:prstGeom prst="rect">
            <a:avLst/>
          </a:prstGeom>
        </p:spPr>
        <p:txBody>
          <a:bodyPr anchor="t" rtlCol="false" tIns="0" lIns="0" bIns="0" rIns="0">
            <a:spAutoFit/>
          </a:bodyPr>
          <a:lstStyle/>
          <a:p>
            <a:pPr algn="l">
              <a:lnSpc>
                <a:spcPts val="6675"/>
              </a:lnSpc>
            </a:pPr>
            <a:r>
              <a:rPr lang="en-US" b="true" sz="8901" spc="-729">
                <a:solidFill>
                  <a:srgbClr val="000000"/>
                </a:solidFill>
                <a:latin typeface="TT Norms Ultra-Bold"/>
                <a:ea typeface="TT Norms Ultra-Bold"/>
                <a:cs typeface="TT Norms Ultra-Bold"/>
                <a:sym typeface="TT Norms Ultra-Bold"/>
              </a:rPr>
              <a:t>SOME OPERATIONS</a:t>
            </a:r>
          </a:p>
        </p:txBody>
      </p:sp>
      <p:grpSp>
        <p:nvGrpSpPr>
          <p:cNvPr name="Group 14" id="14"/>
          <p:cNvGrpSpPr/>
          <p:nvPr/>
        </p:nvGrpSpPr>
        <p:grpSpPr>
          <a:xfrm rot="-5400000">
            <a:off x="779654" y="5961104"/>
            <a:ext cx="2272471" cy="637263"/>
            <a:chOff x="0" y="0"/>
            <a:chExt cx="598511" cy="167839"/>
          </a:xfrm>
        </p:grpSpPr>
        <p:sp>
          <p:nvSpPr>
            <p:cNvPr name="Freeform 15" id="15"/>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50322B"/>
            </a:solidFill>
            <a:ln w="9525" cap="rnd">
              <a:solidFill>
                <a:srgbClr val="B3B3B3"/>
              </a:solidFill>
              <a:prstDash val="solid"/>
              <a:round/>
            </a:ln>
          </p:spPr>
        </p:sp>
        <p:sp>
          <p:nvSpPr>
            <p:cNvPr name="TextBox 16" id="16"/>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READ &amp; WRITE</a:t>
              </a:r>
            </a:p>
          </p:txBody>
        </p:sp>
      </p:grpSp>
      <p:grpSp>
        <p:nvGrpSpPr>
          <p:cNvPr name="Group 17" id="17"/>
          <p:cNvGrpSpPr/>
          <p:nvPr/>
        </p:nvGrpSpPr>
        <p:grpSpPr>
          <a:xfrm rot="-5400000">
            <a:off x="11352414" y="5961104"/>
            <a:ext cx="2272471" cy="637263"/>
            <a:chOff x="0" y="0"/>
            <a:chExt cx="598511" cy="167839"/>
          </a:xfrm>
        </p:grpSpPr>
        <p:sp>
          <p:nvSpPr>
            <p:cNvPr name="Freeform 18" id="18"/>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50322B"/>
            </a:solidFill>
            <a:ln w="9525" cap="rnd">
              <a:solidFill>
                <a:srgbClr val="B3B3B3"/>
              </a:solidFill>
              <a:prstDash val="solid"/>
              <a:round/>
            </a:ln>
          </p:spPr>
        </p:sp>
        <p:sp>
          <p:nvSpPr>
            <p:cNvPr name="TextBox 19" id="19"/>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MONITORING</a:t>
              </a:r>
            </a:p>
          </p:txBody>
        </p:sp>
      </p:grpSp>
      <p:grpSp>
        <p:nvGrpSpPr>
          <p:cNvPr name="Group 20" id="20"/>
          <p:cNvGrpSpPr/>
          <p:nvPr/>
        </p:nvGrpSpPr>
        <p:grpSpPr>
          <a:xfrm rot="-5400000">
            <a:off x="6065706" y="5961104"/>
            <a:ext cx="2272471" cy="637263"/>
            <a:chOff x="0" y="0"/>
            <a:chExt cx="598511" cy="167839"/>
          </a:xfrm>
        </p:grpSpPr>
        <p:sp>
          <p:nvSpPr>
            <p:cNvPr name="Freeform 21" id="21"/>
            <p:cNvSpPr/>
            <p:nvPr/>
          </p:nvSpPr>
          <p:spPr>
            <a:xfrm flipH="false" flipV="false" rot="0">
              <a:off x="0" y="0"/>
              <a:ext cx="598511" cy="167839"/>
            </a:xfrm>
            <a:custGeom>
              <a:avLst/>
              <a:gdLst/>
              <a:ahLst/>
              <a:cxnLst/>
              <a:rect r="r" b="b" t="t" l="l"/>
              <a:pathLst>
                <a:path h="167839" w="598511">
                  <a:moveTo>
                    <a:pt x="83919" y="0"/>
                  </a:moveTo>
                  <a:lnTo>
                    <a:pt x="514591" y="0"/>
                  </a:lnTo>
                  <a:cubicBezTo>
                    <a:pt x="560939" y="0"/>
                    <a:pt x="598511" y="37572"/>
                    <a:pt x="598511" y="83919"/>
                  </a:cubicBezTo>
                  <a:lnTo>
                    <a:pt x="598511" y="83919"/>
                  </a:lnTo>
                  <a:cubicBezTo>
                    <a:pt x="598511" y="130267"/>
                    <a:pt x="560939" y="167839"/>
                    <a:pt x="514591" y="167839"/>
                  </a:cubicBezTo>
                  <a:lnTo>
                    <a:pt x="83919" y="167839"/>
                  </a:lnTo>
                  <a:cubicBezTo>
                    <a:pt x="37572" y="167839"/>
                    <a:pt x="0" y="130267"/>
                    <a:pt x="0" y="83919"/>
                  </a:cubicBezTo>
                  <a:lnTo>
                    <a:pt x="0" y="83919"/>
                  </a:lnTo>
                  <a:cubicBezTo>
                    <a:pt x="0" y="37572"/>
                    <a:pt x="37572" y="0"/>
                    <a:pt x="83919" y="0"/>
                  </a:cubicBezTo>
                  <a:close/>
                </a:path>
              </a:pathLst>
            </a:custGeom>
            <a:solidFill>
              <a:srgbClr val="50322B"/>
            </a:solidFill>
            <a:ln w="9525" cap="rnd">
              <a:solidFill>
                <a:srgbClr val="B3B3B3"/>
              </a:solidFill>
              <a:prstDash val="solid"/>
              <a:round/>
            </a:ln>
          </p:spPr>
        </p:sp>
        <p:sp>
          <p:nvSpPr>
            <p:cNvPr name="TextBox 22" id="22"/>
            <p:cNvSpPr txBox="true"/>
            <p:nvPr/>
          </p:nvSpPr>
          <p:spPr>
            <a:xfrm>
              <a:off x="0" y="-47625"/>
              <a:ext cx="598511" cy="215464"/>
            </a:xfrm>
            <a:prstGeom prst="rect">
              <a:avLst/>
            </a:prstGeom>
          </p:spPr>
          <p:txBody>
            <a:bodyPr anchor="ctr" rtlCol="false" tIns="50800" lIns="50800" bIns="50800" rIns="50800"/>
            <a:lstStyle/>
            <a:p>
              <a:pPr algn="ctr" marL="0" indent="0" lvl="0">
                <a:lnSpc>
                  <a:spcPts val="2940"/>
                </a:lnSpc>
                <a:spcBef>
                  <a:spcPct val="0"/>
                </a:spcBef>
              </a:pPr>
              <a:r>
                <a:rPr lang="en-US" sz="2100" spc="-46">
                  <a:solidFill>
                    <a:srgbClr val="F7F7F3"/>
                  </a:solidFill>
                  <a:latin typeface="TT Norms"/>
                  <a:ea typeface="TT Norms"/>
                  <a:cs typeface="TT Norms"/>
                  <a:sym typeface="TT Norms"/>
                </a:rPr>
                <a:t>DDL</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DFB"/>
        </a:solidFill>
      </p:bgPr>
    </p:bg>
    <p:spTree>
      <p:nvGrpSpPr>
        <p:cNvPr id="1" name=""/>
        <p:cNvGrpSpPr/>
        <p:nvPr/>
      </p:nvGrpSpPr>
      <p:grpSpPr>
        <a:xfrm>
          <a:off x="0" y="0"/>
          <a:ext cx="0" cy="0"/>
          <a:chOff x="0" y="0"/>
          <a:chExt cx="0" cy="0"/>
        </a:xfrm>
      </p:grpSpPr>
      <p:sp>
        <p:nvSpPr>
          <p:cNvPr name="TextBox 2" id="2"/>
          <p:cNvSpPr txBox="true"/>
          <p:nvPr/>
        </p:nvSpPr>
        <p:spPr>
          <a:xfrm rot="0">
            <a:off x="4163754" y="2955128"/>
            <a:ext cx="9960491" cy="5492750"/>
          </a:xfrm>
          <a:prstGeom prst="rect">
            <a:avLst/>
          </a:prstGeom>
        </p:spPr>
        <p:txBody>
          <a:bodyPr anchor="t" rtlCol="false" tIns="0" lIns="0" bIns="0" rIns="0">
            <a:spAutoFit/>
          </a:bodyPr>
          <a:lstStyle/>
          <a:p>
            <a:pPr algn="ctr" marL="0" indent="0" lvl="0">
              <a:lnSpc>
                <a:spcPts val="4419"/>
              </a:lnSpc>
            </a:pPr>
            <a:r>
              <a:rPr lang="en-US" sz="2599">
                <a:solidFill>
                  <a:srgbClr val="000000"/>
                </a:solidFill>
                <a:latin typeface="Open Sans"/>
                <a:ea typeface="Open Sans"/>
                <a:cs typeface="Open Sans"/>
                <a:sym typeface="Open Sans"/>
              </a:rPr>
              <a:t>When no nodes are running, the gvwstate.dat file is empty. When the first node starts, it creates the file containing information like UUID (Cluster ID), View ID (who joined first), members list, Seqno (which grows as nodes join or leave), and bootstrap (set to 1 only once when galera_new_cluster runs; otherwise 0). If a node shuts down, its gvwstate.dat may reset or persist depending on how it stopped. When the first node stops, it updates the View ID of other nodes. This file helps Galera recover during network issues, and even if the network is lost, gvwstate.dat can remain and assist with quorum checks</a:t>
            </a:r>
          </a:p>
        </p:txBody>
      </p:sp>
      <p:sp>
        <p:nvSpPr>
          <p:cNvPr name="AutoShape 3" id="3"/>
          <p:cNvSpPr/>
          <p:nvPr/>
        </p:nvSpPr>
        <p:spPr>
          <a:xfrm>
            <a:off x="5897880" y="2534985"/>
            <a:ext cx="6492240" cy="0"/>
          </a:xfrm>
          <a:prstGeom prst="line">
            <a:avLst/>
          </a:prstGeom>
          <a:ln cap="flat" w="76200">
            <a:solidFill>
              <a:srgbClr val="472A00"/>
            </a:solidFill>
            <a:prstDash val="solid"/>
            <a:headEnd type="none" len="sm" w="sm"/>
            <a:tailEnd type="none" len="sm" w="sm"/>
          </a:ln>
        </p:spPr>
      </p:sp>
      <p:sp>
        <p:nvSpPr>
          <p:cNvPr name="AutoShape 4" id="4"/>
          <p:cNvSpPr/>
          <p:nvPr/>
        </p:nvSpPr>
        <p:spPr>
          <a:xfrm>
            <a:off x="5897880" y="9001373"/>
            <a:ext cx="6492240" cy="0"/>
          </a:xfrm>
          <a:prstGeom prst="line">
            <a:avLst/>
          </a:prstGeom>
          <a:ln cap="flat" w="76200">
            <a:solidFill>
              <a:srgbClr val="472A00"/>
            </a:solidFill>
            <a:prstDash val="solid"/>
            <a:headEnd type="none" len="sm" w="sm"/>
            <a:tailEnd type="none" len="sm" w="sm"/>
          </a:ln>
        </p:spPr>
      </p:sp>
      <p:sp>
        <p:nvSpPr>
          <p:cNvPr name="Freeform 5" id="5"/>
          <p:cNvSpPr/>
          <p:nvPr/>
        </p:nvSpPr>
        <p:spPr>
          <a:xfrm flipH="false" flipV="false" rot="0">
            <a:off x="8304001" y="207774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428942"/>
            <a:ext cx="11141270"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00000"/>
                </a:solidFill>
                <a:latin typeface="Cormorant Garamond Bold Italics"/>
                <a:ea typeface="Cormorant Garamond Bold Italics"/>
                <a:cs typeface="Cormorant Garamond Bold Italics"/>
                <a:sym typeface="Cormorant Garamond Bold Italics"/>
              </a:rPr>
              <a:t>Recovering Primary Component</a:t>
            </a:r>
          </a:p>
        </p:txBody>
      </p:sp>
      <p:sp>
        <p:nvSpPr>
          <p:cNvPr name="Freeform 7" id="7"/>
          <p:cNvSpPr/>
          <p:nvPr/>
        </p:nvSpPr>
        <p:spPr>
          <a:xfrm flipH="false" flipV="false" rot="0">
            <a:off x="8304001" y="9258300"/>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DFB"/>
        </a:solidFill>
      </p:bgPr>
    </p:bg>
    <p:spTree>
      <p:nvGrpSpPr>
        <p:cNvPr id="1" name=""/>
        <p:cNvGrpSpPr/>
        <p:nvPr/>
      </p:nvGrpSpPr>
      <p:grpSpPr>
        <a:xfrm>
          <a:off x="0" y="0"/>
          <a:ext cx="0" cy="0"/>
          <a:chOff x="0" y="0"/>
          <a:chExt cx="0" cy="0"/>
        </a:xfrm>
      </p:grpSpPr>
      <p:sp>
        <p:nvSpPr>
          <p:cNvPr name="TextBox 2" id="2"/>
          <p:cNvSpPr txBox="true"/>
          <p:nvPr/>
        </p:nvSpPr>
        <p:spPr>
          <a:xfrm rot="0">
            <a:off x="1028700" y="271652"/>
            <a:ext cx="11534821"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00000"/>
                </a:solidFill>
                <a:latin typeface="Cormorant Garamond Bold Italics"/>
                <a:ea typeface="Cormorant Garamond Bold Italics"/>
                <a:cs typeface="Cormorant Garamond Bold Italics"/>
                <a:sym typeface="Cormorant Garamond Bold Italics"/>
              </a:rPr>
              <a:t>Gvwstate.dat</a:t>
            </a:r>
          </a:p>
        </p:txBody>
      </p:sp>
      <p:sp>
        <p:nvSpPr>
          <p:cNvPr name="TextBox 3" id="3"/>
          <p:cNvSpPr txBox="true"/>
          <p:nvPr/>
        </p:nvSpPr>
        <p:spPr>
          <a:xfrm rot="0">
            <a:off x="4144313" y="2376365"/>
            <a:ext cx="10655487" cy="8499475"/>
          </a:xfrm>
          <a:prstGeom prst="rect">
            <a:avLst/>
          </a:prstGeom>
        </p:spPr>
        <p:txBody>
          <a:bodyPr anchor="t" rtlCol="false" tIns="0" lIns="0" bIns="0" rIns="0">
            <a:spAutoFit/>
          </a:bodyPr>
          <a:lstStyle/>
          <a:p>
            <a:pPr algn="ctr">
              <a:lnSpc>
                <a:spcPts val="4249"/>
              </a:lnSpc>
            </a:pPr>
            <a:r>
              <a:rPr lang="en-US" sz="2499">
                <a:solidFill>
                  <a:srgbClr val="000000"/>
                </a:solidFill>
                <a:latin typeface="Quicksand"/>
                <a:ea typeface="Quicksand"/>
                <a:cs typeface="Quicksand"/>
                <a:sym typeface="Quicksand"/>
              </a:rPr>
              <a:t>On each MySQL node, run this command to get its unique identifier:SELECT UUID();</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This generates a UUID for each node.</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In the gvwstate.dat file, add all these UUIDs to the members list.</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 This list represents all nodes in the cluster.</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For each node, record its own UUID as my_uuid in the file.</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Set bootstrap = 0 for all nodes (except when you bootstrap the cluster, then it is 1).</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Set the view_id to a chosen uuid </a:t>
            </a:r>
          </a:p>
          <a:p>
            <a:pPr algn="ctr" marL="539749" indent="-269875" lvl="1">
              <a:lnSpc>
                <a:spcPts val="4249"/>
              </a:lnSpc>
              <a:buFont typeface="Arial"/>
              <a:buChar char="•"/>
            </a:pPr>
            <a:r>
              <a:rPr lang="en-US" sz="2499">
                <a:solidFill>
                  <a:srgbClr val="000000"/>
                </a:solidFill>
                <a:latin typeface="Quicksand"/>
                <a:ea typeface="Quicksand"/>
                <a:cs typeface="Quicksand"/>
                <a:sym typeface="Quicksand"/>
              </a:rPr>
              <a:t>Set the seqno. This number increases as nodes join or leave the cluster.</a:t>
            </a:r>
          </a:p>
          <a:p>
            <a:pPr algn="ctr" marL="0" indent="0" lvl="0">
              <a:lnSpc>
                <a:spcPts val="4249"/>
              </a:lnSpc>
            </a:pPr>
          </a:p>
          <a:p>
            <a:pPr algn="ctr" marL="0" indent="0" lvl="0">
              <a:lnSpc>
                <a:spcPts val="4249"/>
              </a:lnSpc>
            </a:pPr>
          </a:p>
          <a:p>
            <a:pPr algn="ctr" marL="0" indent="0" lvl="0">
              <a:lnSpc>
                <a:spcPts val="4249"/>
              </a:lnSpc>
            </a:pPr>
          </a:p>
          <a:p>
            <a:pPr algn="ctr" marL="0" indent="0" lvl="0">
              <a:lnSpc>
                <a:spcPts val="4249"/>
              </a:lnSpc>
            </a:pPr>
          </a:p>
          <a:p>
            <a:pPr algn="ctr" marL="0" indent="0" lvl="0">
              <a:lnSpc>
                <a:spcPts val="4249"/>
              </a:lnSpc>
            </a:pPr>
          </a:p>
        </p:txBody>
      </p:sp>
      <p:sp>
        <p:nvSpPr>
          <p:cNvPr name="AutoShape 4" id="4"/>
          <p:cNvSpPr/>
          <p:nvPr/>
        </p:nvSpPr>
        <p:spPr>
          <a:xfrm>
            <a:off x="5897880" y="1928690"/>
            <a:ext cx="6492240" cy="0"/>
          </a:xfrm>
          <a:prstGeom prst="line">
            <a:avLst/>
          </a:prstGeom>
          <a:ln cap="flat" w="76200">
            <a:solidFill>
              <a:srgbClr val="472A00"/>
            </a:solidFill>
            <a:prstDash val="solid"/>
            <a:headEnd type="none" len="sm" w="sm"/>
            <a:tailEnd type="none" len="sm" w="sm"/>
          </a:ln>
        </p:spPr>
      </p:sp>
      <p:sp>
        <p:nvSpPr>
          <p:cNvPr name="AutoShape 5" id="5"/>
          <p:cNvSpPr/>
          <p:nvPr/>
        </p:nvSpPr>
        <p:spPr>
          <a:xfrm>
            <a:off x="6061908" y="8600400"/>
            <a:ext cx="6492240" cy="0"/>
          </a:xfrm>
          <a:prstGeom prst="line">
            <a:avLst/>
          </a:prstGeom>
          <a:ln cap="flat" w="76200">
            <a:solidFill>
              <a:srgbClr val="472A00"/>
            </a:solidFill>
            <a:prstDash val="solid"/>
            <a:headEnd type="none" len="sm" w="sm"/>
            <a:tailEnd type="none" len="sm" w="sm"/>
          </a:ln>
        </p:spPr>
      </p:sp>
      <p:sp>
        <p:nvSpPr>
          <p:cNvPr name="Freeform 6" id="6"/>
          <p:cNvSpPr/>
          <p:nvPr/>
        </p:nvSpPr>
        <p:spPr>
          <a:xfrm flipH="false" flipV="false" rot="0">
            <a:off x="8304001" y="1356867"/>
            <a:ext cx="1679997" cy="249900"/>
          </a:xfrm>
          <a:custGeom>
            <a:avLst/>
            <a:gdLst/>
            <a:ahLst/>
            <a:cxnLst/>
            <a:rect r="r" b="b" t="t" l="l"/>
            <a:pathLst>
              <a:path h="249900" w="1679997">
                <a:moveTo>
                  <a:pt x="0" y="0"/>
                </a:moveTo>
                <a:lnTo>
                  <a:pt x="1679998" y="0"/>
                </a:lnTo>
                <a:lnTo>
                  <a:pt x="1679998"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7" id="7"/>
          <p:cNvSpPr/>
          <p:nvPr/>
        </p:nvSpPr>
        <p:spPr>
          <a:xfrm flipH="false" flipV="false" rot="0">
            <a:off x="8468030" y="8863102"/>
            <a:ext cx="1679997" cy="249900"/>
          </a:xfrm>
          <a:custGeom>
            <a:avLst/>
            <a:gdLst/>
            <a:ahLst/>
            <a:cxnLst/>
            <a:rect r="r" b="b" t="t" l="l"/>
            <a:pathLst>
              <a:path h="249900" w="1679997">
                <a:moveTo>
                  <a:pt x="0" y="0"/>
                </a:moveTo>
                <a:lnTo>
                  <a:pt x="1679997" y="0"/>
                </a:lnTo>
                <a:lnTo>
                  <a:pt x="1679997" y="249900"/>
                </a:lnTo>
                <a:lnTo>
                  <a:pt x="0" y="2499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p:cSld>
    <p:bg>
      <p:bgPr>
        <a:solidFill>
          <a:srgbClr val="85530C"/>
        </a:solidFill>
      </p:bgPr>
    </p:bg>
    <p:spTree>
      <p:nvGrpSpPr>
        <p:cNvPr id="1" name=""/>
        <p:cNvGrpSpPr/>
        <p:nvPr/>
      </p:nvGrpSpPr>
      <p:grpSpPr>
        <a:xfrm>
          <a:off x="0" y="0"/>
          <a:ext cx="0" cy="0"/>
          <a:chOff x="0" y="0"/>
          <a:chExt cx="0" cy="0"/>
        </a:xfrm>
      </p:grpSpPr>
      <p:grpSp>
        <p:nvGrpSpPr>
          <p:cNvPr name="Group 2" id="2"/>
          <p:cNvGrpSpPr/>
          <p:nvPr/>
        </p:nvGrpSpPr>
        <p:grpSpPr>
          <a:xfrm rot="0">
            <a:off x="4224880" y="0"/>
            <a:ext cx="9838239" cy="10287000"/>
            <a:chOff x="0" y="0"/>
            <a:chExt cx="2591141" cy="2709333"/>
          </a:xfrm>
        </p:grpSpPr>
        <p:sp>
          <p:nvSpPr>
            <p:cNvPr name="Freeform 3" id="3"/>
            <p:cNvSpPr/>
            <p:nvPr/>
          </p:nvSpPr>
          <p:spPr>
            <a:xfrm flipH="false" flipV="false" rot="0">
              <a:off x="0" y="0"/>
              <a:ext cx="2591141" cy="2709333"/>
            </a:xfrm>
            <a:custGeom>
              <a:avLst/>
              <a:gdLst/>
              <a:ahLst/>
              <a:cxnLst/>
              <a:rect r="r" b="b" t="t" l="l"/>
              <a:pathLst>
                <a:path h="2709333" w="2591141">
                  <a:moveTo>
                    <a:pt x="0" y="0"/>
                  </a:moveTo>
                  <a:lnTo>
                    <a:pt x="2591141" y="0"/>
                  </a:lnTo>
                  <a:lnTo>
                    <a:pt x="2591141" y="2709333"/>
                  </a:lnTo>
                  <a:lnTo>
                    <a:pt x="0" y="2709333"/>
                  </a:lnTo>
                  <a:close/>
                </a:path>
              </a:pathLst>
            </a:custGeom>
            <a:solidFill>
              <a:srgbClr val="FFFFFF"/>
            </a:solidFill>
          </p:spPr>
        </p:sp>
        <p:sp>
          <p:nvSpPr>
            <p:cNvPr name="TextBox 4" id="4"/>
            <p:cNvSpPr txBox="true"/>
            <p:nvPr/>
          </p:nvSpPr>
          <p:spPr>
            <a:xfrm>
              <a:off x="0" y="-123825"/>
              <a:ext cx="2591141"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4840658" y="3252895"/>
            <a:ext cx="8606683" cy="3306872"/>
          </a:xfrm>
          <a:prstGeom prst="rect">
            <a:avLst/>
          </a:prstGeom>
        </p:spPr>
        <p:txBody>
          <a:bodyPr anchor="t" rtlCol="false" tIns="0" lIns="0" bIns="0" rIns="0">
            <a:spAutoFit/>
          </a:bodyPr>
          <a:lstStyle/>
          <a:p>
            <a:pPr algn="l" marL="539748" indent="-269874" lvl="1">
              <a:lnSpc>
                <a:spcPts val="4249"/>
              </a:lnSpc>
              <a:buFont typeface="Arial"/>
              <a:buChar char="•"/>
            </a:pPr>
            <a:r>
              <a:rPr lang="en-US" sz="2499">
                <a:solidFill>
                  <a:srgbClr val="000000"/>
                </a:solidFill>
                <a:latin typeface="Quicksand"/>
                <a:ea typeface="Quicksand"/>
                <a:cs typeface="Quicksand"/>
                <a:sym typeface="Quicksand"/>
              </a:rPr>
              <a:t>GCASH keeps track of which nodes are working in the cluster</a:t>
            </a:r>
            <a:r>
              <a:rPr lang="en-US" sz="2499">
                <a:solidFill>
                  <a:srgbClr val="000000"/>
                </a:solidFill>
                <a:latin typeface="Quicksand"/>
                <a:ea typeface="Quicksand"/>
                <a:cs typeface="Quicksand"/>
                <a:sym typeface="Quicksand"/>
              </a:rPr>
              <a:t>.</a:t>
            </a:r>
          </a:p>
          <a:p>
            <a:pPr algn="l" marL="539748" indent="-269874" lvl="1">
              <a:lnSpc>
                <a:spcPts val="4249"/>
              </a:lnSpc>
              <a:buFont typeface="Arial"/>
              <a:buChar char="•"/>
            </a:pPr>
            <a:r>
              <a:rPr lang="en-US" sz="2499">
                <a:solidFill>
                  <a:srgbClr val="000000"/>
                </a:solidFill>
                <a:latin typeface="Quicksand"/>
                <a:ea typeface="Quicksand"/>
                <a:cs typeface="Quicksand"/>
                <a:sym typeface="Quicksand"/>
              </a:rPr>
              <a:t>WriteSets are the changes to the database that nodes send to each other.</a:t>
            </a:r>
          </a:p>
          <a:p>
            <a:pPr algn="l" marL="539748" indent="-269874" lvl="1">
              <a:lnSpc>
                <a:spcPts val="4249"/>
              </a:lnSpc>
              <a:buFont typeface="Arial"/>
              <a:buChar char="•"/>
            </a:pPr>
            <a:r>
              <a:rPr lang="en-US" sz="2499">
                <a:solidFill>
                  <a:srgbClr val="000000"/>
                </a:solidFill>
                <a:latin typeface="Quicksand"/>
                <a:ea typeface="Quicksand"/>
                <a:cs typeface="Quicksand"/>
                <a:sym typeface="Quicksand"/>
              </a:rPr>
              <a:t>IST helps a node catch up by sending only the changes it missed.</a:t>
            </a:r>
          </a:p>
          <a:p>
            <a:pPr algn="l" marL="43188" indent="-21594" lvl="1">
              <a:lnSpc>
                <a:spcPts val="340"/>
              </a:lnSpc>
              <a:buFont typeface="Arial"/>
              <a:buChar char="•"/>
            </a:pPr>
            <a:r>
              <a:rPr lang="en-US" sz="200">
                <a:solidFill>
                  <a:srgbClr val="000000"/>
                </a:solidFill>
                <a:latin typeface="Quicksand"/>
                <a:ea typeface="Quicksand"/>
                <a:cs typeface="Quicksand"/>
                <a:sym typeface="Quicksand"/>
              </a:rPr>
              <a:t> GCASH makes sure only active nodes get the WriteSets, and IST helps nodes update quickly.</a:t>
            </a:r>
          </a:p>
        </p:txBody>
      </p:sp>
      <p:sp>
        <p:nvSpPr>
          <p:cNvPr name="AutoShape 6" id="6"/>
          <p:cNvSpPr/>
          <p:nvPr/>
        </p:nvSpPr>
        <p:spPr>
          <a:xfrm>
            <a:off x="687672" y="9999281"/>
            <a:ext cx="6492240" cy="0"/>
          </a:xfrm>
          <a:prstGeom prst="line">
            <a:avLst/>
          </a:prstGeom>
          <a:ln cap="flat" w="76200">
            <a:solidFill>
              <a:srgbClr val="000000"/>
            </a:solidFill>
            <a:prstDash val="solid"/>
            <a:headEnd type="none" len="sm" w="sm"/>
            <a:tailEnd type="none" len="sm" w="sm"/>
          </a:ln>
        </p:spPr>
      </p:sp>
      <p:sp>
        <p:nvSpPr>
          <p:cNvPr name="AutoShape 7" id="7"/>
          <p:cNvSpPr/>
          <p:nvPr/>
        </p:nvSpPr>
        <p:spPr>
          <a:xfrm>
            <a:off x="11222361" y="282646"/>
            <a:ext cx="6492240" cy="0"/>
          </a:xfrm>
          <a:prstGeom prst="line">
            <a:avLst/>
          </a:prstGeom>
          <a:ln cap="flat" w="76200">
            <a:solidFill>
              <a:srgbClr val="472A00"/>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85530C"/>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F4662"/>
                </a:solidFill>
                <a:latin typeface="Cormorant Garamond Bold Italics"/>
                <a:ea typeface="Cormorant Garamond Bold Italics"/>
                <a:cs typeface="Cormorant Garamond Bold Italics"/>
                <a:sym typeface="Cormorant Garamond Bold Italics"/>
              </a:rPr>
              <a:t>What </a:t>
            </a:r>
            <a:r>
              <a:rPr lang="en-US" b="true" sz="6399" i="true">
                <a:solidFill>
                  <a:srgbClr val="303030"/>
                </a:solidFill>
                <a:latin typeface="Cormorant Garamond Bold Italics"/>
                <a:ea typeface="Cormorant Garamond Bold Italics"/>
                <a:cs typeface="Cormorant Garamond Bold Italics"/>
                <a:sym typeface="Cormorant Garamond Bold Italics"/>
              </a:rPr>
              <a:t>Is </a:t>
            </a:r>
            <a:r>
              <a:rPr lang="en-US" b="true" sz="6399" i="true">
                <a:solidFill>
                  <a:srgbClr val="0F4662"/>
                </a:solidFill>
                <a:latin typeface="Cormorant Garamond Bold Italics"/>
                <a:ea typeface="Cormorant Garamond Bold Italics"/>
                <a:cs typeface="Cormorant Garamond Bold Italics"/>
                <a:sym typeface="Cormorant Garamond Bold Italics"/>
              </a:rPr>
              <a:t>Quorum?</a:t>
            </a:r>
          </a:p>
        </p:txBody>
      </p:sp>
      <p:sp>
        <p:nvSpPr>
          <p:cNvPr name="TextBox 6" id="6"/>
          <p:cNvSpPr txBox="true"/>
          <p:nvPr/>
        </p:nvSpPr>
        <p:spPr>
          <a:xfrm rot="0">
            <a:off x="1028700" y="2415198"/>
            <a:ext cx="10527757" cy="1228726"/>
          </a:xfrm>
          <a:prstGeom prst="rect">
            <a:avLst/>
          </a:prstGeom>
        </p:spPr>
        <p:txBody>
          <a:bodyPr anchor="t" rtlCol="false" tIns="0" lIns="0" bIns="0" rIns="0">
            <a:spAutoFit/>
          </a:bodyPr>
          <a:lstStyle/>
          <a:p>
            <a:pPr algn="l" marL="647697" indent="-323848" lvl="1">
              <a:lnSpc>
                <a:spcPts val="5099"/>
              </a:lnSpc>
              <a:buFont typeface="Arial"/>
              <a:buChar char="•"/>
            </a:pPr>
            <a:r>
              <a:rPr lang="en-US" sz="2999">
                <a:solidFill>
                  <a:srgbClr val="000000"/>
                </a:solidFill>
                <a:latin typeface="Quicksand"/>
                <a:ea typeface="Quicksand"/>
                <a:cs typeface="Quicksand"/>
                <a:sym typeface="Quicksand"/>
              </a:rPr>
              <a:t>Quorum means most nodes are online and can ta</a:t>
            </a:r>
            <a:r>
              <a:rPr lang="en-US" sz="2999">
                <a:solidFill>
                  <a:srgbClr val="000000"/>
                </a:solidFill>
                <a:latin typeface="Quicksand"/>
                <a:ea typeface="Quicksand"/>
                <a:cs typeface="Quicksand"/>
                <a:sym typeface="Quicksand"/>
              </a:rPr>
              <a:t>lk to each other</a:t>
            </a:r>
          </a:p>
        </p:txBody>
      </p:sp>
      <p:sp>
        <p:nvSpPr>
          <p:cNvPr name="TextBox 7" id="7"/>
          <p:cNvSpPr txBox="true"/>
          <p:nvPr/>
        </p:nvSpPr>
        <p:spPr>
          <a:xfrm rot="0">
            <a:off x="1028700" y="4624998"/>
            <a:ext cx="10527757" cy="1289051"/>
          </a:xfrm>
          <a:prstGeom prst="rect">
            <a:avLst/>
          </a:prstGeom>
        </p:spPr>
        <p:txBody>
          <a:bodyPr anchor="t" rtlCol="false" tIns="0" lIns="0" bIns="0" rIns="0">
            <a:spAutoFit/>
          </a:bodyPr>
          <a:lstStyle/>
          <a:p>
            <a:pPr algn="l" marL="669286" indent="-334643" lvl="1">
              <a:lnSpc>
                <a:spcPts val="5269"/>
              </a:lnSpc>
              <a:buFont typeface="Arial"/>
              <a:buChar char="•"/>
            </a:pPr>
            <a:r>
              <a:rPr lang="en-US" sz="3099">
                <a:solidFill>
                  <a:srgbClr val="000000"/>
                </a:solidFill>
                <a:latin typeface="Quicksand"/>
                <a:ea typeface="Quicksand"/>
                <a:cs typeface="Quicksand"/>
                <a:sym typeface="Quicksand"/>
              </a:rPr>
              <a:t>It helps protect your data from p</a:t>
            </a:r>
            <a:r>
              <a:rPr lang="en-US" sz="3099">
                <a:solidFill>
                  <a:srgbClr val="000000"/>
                </a:solidFill>
                <a:latin typeface="Quicksand"/>
                <a:ea typeface="Quicksand"/>
                <a:cs typeface="Quicksand"/>
                <a:sym typeface="Quicksand"/>
              </a:rPr>
              <a:t>roblems like split-brain</a:t>
            </a:r>
          </a:p>
        </p:txBody>
      </p:sp>
      <p:sp>
        <p:nvSpPr>
          <p:cNvPr name="TextBox 8" id="8"/>
          <p:cNvSpPr txBox="true"/>
          <p:nvPr/>
        </p:nvSpPr>
        <p:spPr>
          <a:xfrm rot="0">
            <a:off x="1028700" y="6895124"/>
            <a:ext cx="10527757" cy="1289051"/>
          </a:xfrm>
          <a:prstGeom prst="rect">
            <a:avLst/>
          </a:prstGeom>
        </p:spPr>
        <p:txBody>
          <a:bodyPr anchor="t" rtlCol="false" tIns="0" lIns="0" bIns="0" rIns="0">
            <a:spAutoFit/>
          </a:bodyPr>
          <a:lstStyle/>
          <a:p>
            <a:pPr algn="l" marL="669286" indent="-334643" lvl="1">
              <a:lnSpc>
                <a:spcPts val="5269"/>
              </a:lnSpc>
              <a:buFont typeface="Arial"/>
              <a:buChar char="•"/>
            </a:pPr>
            <a:r>
              <a:rPr lang="en-US" sz="3099">
                <a:solidFill>
                  <a:srgbClr val="000000"/>
                </a:solidFill>
                <a:latin typeface="Quicksand"/>
                <a:ea typeface="Quicksand"/>
                <a:cs typeface="Quicksand"/>
                <a:sym typeface="Quicksand"/>
              </a:rPr>
              <a:t>If quorum is lost, the clus</a:t>
            </a:r>
            <a:r>
              <a:rPr lang="en-US" sz="3099">
                <a:solidFill>
                  <a:srgbClr val="000000"/>
                </a:solidFill>
                <a:latin typeface="Quicksand"/>
                <a:ea typeface="Quicksand"/>
                <a:cs typeface="Quicksand"/>
                <a:sym typeface="Quicksand"/>
              </a:rPr>
              <a:t>ter stops on purpose to avoid corruption</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85530C"/>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5702843" cy="946149"/>
          </a:xfrm>
          <a:prstGeom prst="rect">
            <a:avLst/>
          </a:prstGeom>
        </p:spPr>
        <p:txBody>
          <a:bodyPr anchor="t" rtlCol="false" tIns="0" lIns="0" bIns="0" rIns="0">
            <a:spAutoFit/>
          </a:bodyPr>
          <a:lstStyle/>
          <a:p>
            <a:pPr algn="l" marL="0" indent="0" lvl="0">
              <a:lnSpc>
                <a:spcPts val="7700"/>
              </a:lnSpc>
              <a:spcBef>
                <a:spcPct val="0"/>
              </a:spcBef>
            </a:pPr>
            <a:r>
              <a:rPr lang="en-US" b="true" sz="5500" i="true">
                <a:solidFill>
                  <a:srgbClr val="000000"/>
                </a:solidFill>
                <a:latin typeface="Cormorant Garamond Bold Italics"/>
                <a:ea typeface="Cormorant Garamond Bold Italics"/>
                <a:cs typeface="Cormorant Garamond Bold Italics"/>
                <a:sym typeface="Cormorant Garamond Bold Italics"/>
              </a:rPr>
              <a:t>Resetting the Quorum</a:t>
            </a:r>
          </a:p>
        </p:txBody>
      </p:sp>
      <p:sp>
        <p:nvSpPr>
          <p:cNvPr name="TextBox 6" id="6"/>
          <p:cNvSpPr txBox="true"/>
          <p:nvPr/>
        </p:nvSpPr>
        <p:spPr>
          <a:xfrm rot="0">
            <a:off x="1028700" y="2434248"/>
            <a:ext cx="10527757" cy="20288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If only some of the nodes go down, it usually means those nodes had a local issue, like a network or hardware problem. But if all nodes go down, it's likely that something affected the entire cluster, such as a power outage or a broader system failure</a:t>
            </a:r>
          </a:p>
        </p:txBody>
      </p:sp>
      <p:sp>
        <p:nvSpPr>
          <p:cNvPr name="TextBox 7" id="7"/>
          <p:cNvSpPr txBox="true"/>
          <p:nvPr/>
        </p:nvSpPr>
        <p:spPr>
          <a:xfrm rot="0">
            <a:off x="1028700" y="5064290"/>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chek with </a:t>
            </a:r>
            <a:r>
              <a:rPr lang="en-US" b="true" sz="2400">
                <a:solidFill>
                  <a:srgbClr val="000000"/>
                </a:solidFill>
                <a:latin typeface="Quicksand Bold"/>
                <a:ea typeface="Quicksand Bold"/>
                <a:cs typeface="Quicksand Bold"/>
                <a:sym typeface="Quicksand Bold"/>
              </a:rPr>
              <a:t>wsrep_last_committed</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/var/lib/mysql/grastate.dat</a:t>
            </a:r>
          </a:p>
        </p:txBody>
      </p:sp>
      <p:sp>
        <p:nvSpPr>
          <p:cNvPr name="TextBox 8" id="8"/>
          <p:cNvSpPr txBox="true"/>
          <p:nvPr/>
        </p:nvSpPr>
        <p:spPr>
          <a:xfrm rot="0">
            <a:off x="1028700" y="6667665"/>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SET GLOBAL </a:t>
            </a:r>
            <a:r>
              <a:rPr lang="en-US" b="true" sz="2400">
                <a:solidFill>
                  <a:srgbClr val="000000"/>
                </a:solidFill>
                <a:latin typeface="Quicksand Bold"/>
                <a:ea typeface="Quicksand Bold"/>
                <a:cs typeface="Quicksand Bold"/>
                <a:sym typeface="Quicksand Bold"/>
              </a:rPr>
              <a:t>WSREP_PROVIDER_OPTIONS=’pc.bootstrap=YES’; </a:t>
            </a:r>
            <a:r>
              <a:rPr lang="en-US" sz="2400">
                <a:solidFill>
                  <a:srgbClr val="000000"/>
                </a:solidFill>
                <a:latin typeface="Quicksand"/>
                <a:ea typeface="Quicksand"/>
                <a:cs typeface="Quicksand"/>
                <a:sym typeface="Quicksand"/>
              </a:rPr>
              <a:t>this is ist</a:t>
            </a:r>
          </a:p>
          <a:p>
            <a:pPr algn="l" marL="518160" indent="-259080" lvl="1">
              <a:lnSpc>
                <a:spcPts val="4079"/>
              </a:lnSpc>
              <a:buFont typeface="Arial"/>
              <a:buChar char="•"/>
            </a:pPr>
            <a:r>
              <a:rPr lang="en-US" b="true" sz="2400">
                <a:solidFill>
                  <a:srgbClr val="000000"/>
                </a:solidFill>
                <a:latin typeface="Quicksand Bold"/>
                <a:ea typeface="Quicksand Bold"/>
                <a:cs typeface="Quicksand Bold"/>
                <a:sym typeface="Quicksand Bold"/>
              </a:rPr>
              <a:t>galera_new_cluster  </a:t>
            </a:r>
            <a:r>
              <a:rPr lang="en-US" sz="2400">
                <a:solidFill>
                  <a:srgbClr val="000000"/>
                </a:solidFill>
                <a:latin typeface="Quicksand"/>
                <a:ea typeface="Quicksand"/>
                <a:cs typeface="Quicksand"/>
                <a:sym typeface="Quicksand"/>
              </a:rPr>
              <a:t>this is sst</a:t>
            </a:r>
          </a:p>
        </p:txBody>
      </p:sp>
      <p:sp>
        <p:nvSpPr>
          <p:cNvPr name="TextBox 9" id="9"/>
          <p:cNvSpPr txBox="true"/>
          <p:nvPr/>
        </p:nvSpPr>
        <p:spPr>
          <a:xfrm rot="0">
            <a:off x="1028700" y="1914818"/>
            <a:ext cx="1052775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00000"/>
                </a:solidFill>
                <a:latin typeface="Quicksand Bold"/>
                <a:ea typeface="Quicksand Bold"/>
                <a:cs typeface="Quicksand Bold"/>
                <a:sym typeface="Quicksand Bold"/>
              </a:rPr>
              <a:t>Use when quorum is lost</a:t>
            </a:r>
          </a:p>
        </p:txBody>
      </p:sp>
      <p:sp>
        <p:nvSpPr>
          <p:cNvPr name="TextBox 10" id="10"/>
          <p:cNvSpPr txBox="true"/>
          <p:nvPr/>
        </p:nvSpPr>
        <p:spPr>
          <a:xfrm rot="0">
            <a:off x="1028700" y="4472598"/>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00000"/>
                </a:solidFill>
                <a:latin typeface="Quicksand Bold"/>
                <a:ea typeface="Quicksand Bold"/>
                <a:cs typeface="Quicksand Bold"/>
                <a:sym typeface="Quicksand Bold"/>
              </a:rPr>
              <a:t>Choose the best (most up-to-date) node</a:t>
            </a:r>
          </a:p>
        </p:txBody>
      </p:sp>
      <p:sp>
        <p:nvSpPr>
          <p:cNvPr name="TextBox 11" id="11"/>
          <p:cNvSpPr txBox="true"/>
          <p:nvPr/>
        </p:nvSpPr>
        <p:spPr>
          <a:xfrm rot="0">
            <a:off x="1028700" y="6073940"/>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00000"/>
                </a:solidFill>
                <a:latin typeface="Quicksand Bold"/>
                <a:ea typeface="Quicksand Bold"/>
                <a:cs typeface="Quicksand Bold"/>
                <a:sym typeface="Quicksand Bold"/>
              </a:rPr>
              <a:t>Bootstarp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aphicFrame>
        <p:nvGraphicFramePr>
          <p:cNvPr name="Object 2" id="2"/>
          <p:cNvGraphicFramePr/>
          <p:nvPr/>
        </p:nvGraphicFramePr>
        <p:xfrm>
          <a:off x="0" y="0"/>
          <a:ext cx="15715018" cy="6756086"/>
        </p:xfrm>
        <a:graphic>
          <a:graphicData uri="http://schemas.openxmlformats.org/presentationml/2006/ole">
            <p:oleObj imgW="18859500" imgH="9893300" r:id="rId3" progId="Excel.Sheet.12" name="Worksheet">
              <p:embed/>
              <p:pic>
                <p:nvPicPr>
                  <p:cNvPr name="" id="0"/>
                  <p:cNvPicPr/>
                  <p:nvPr/>
                </p:nvPicPr>
                <p:blipFill>
                  <a:blip r:embed="rId2"/>
                  <a:stretch>
                    <a:fillRect/>
                  </a:stretch>
                </p:blipFill>
                <p:spPr>
                  <a:xfrm>
                    <a:off x="1270000" y="1270000"/>
                    <a:ext cx="1270000" cy="1270000"/>
                  </a:xfrm>
                  <a:prstGeom prst="rect"/>
                </p:spPr>
              </p:pic>
            </p:oleObj>
          </a:graphicData>
        </a:graphic>
      </p:graphicFrame>
    </p:spTree>
  </p:cSld>
  <p:clrMapOvr>
    <a:masterClrMapping/>
  </p:clrMapOvr>
</p:sld>
</file>

<file path=ppt/slides/slide13.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85530C"/>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00000"/>
                </a:solidFill>
                <a:latin typeface="Cormorant Garamond Bold Italics"/>
                <a:ea typeface="Cormorant Garamond Bold Italics"/>
                <a:cs typeface="Cormorant Garamond Bold Italics"/>
                <a:sym typeface="Cormorant Garamond Bold Italics"/>
              </a:rPr>
              <a:t>Crash Recovery</a:t>
            </a:r>
          </a:p>
        </p:txBody>
      </p:sp>
      <p:sp>
        <p:nvSpPr>
          <p:cNvPr name="TextBox 6" id="6"/>
          <p:cNvSpPr txBox="true"/>
          <p:nvPr/>
        </p:nvSpPr>
        <p:spPr>
          <a:xfrm rot="0">
            <a:off x="1028700" y="2253273"/>
            <a:ext cx="10527757" cy="2298700"/>
          </a:xfrm>
          <a:prstGeom prst="rect">
            <a:avLst/>
          </a:prstGeom>
        </p:spPr>
        <p:txBody>
          <a:bodyPr anchor="t" rtlCol="false" tIns="0" lIns="0" bIns="0" rIns="0">
            <a:spAutoFit/>
          </a:bodyPr>
          <a:lstStyle/>
          <a:p>
            <a:pPr algn="l" marL="474981" indent="-237491" lvl="1">
              <a:lnSpc>
                <a:spcPts val="3740"/>
              </a:lnSpc>
              <a:buFont typeface="Arial"/>
              <a:buChar char="•"/>
            </a:pPr>
            <a:r>
              <a:rPr lang="en-US" sz="2200">
                <a:solidFill>
                  <a:srgbClr val="000000"/>
                </a:solidFill>
                <a:latin typeface="Quicksand"/>
                <a:ea typeface="Quicksand"/>
                <a:cs typeface="Quicksand"/>
                <a:sym typeface="Quicksand"/>
              </a:rPr>
              <a:t>If the last node stays up, it remains the primary and continues working. When the other nodes come back online, they can be updated using IST (if possible) or SST from this node. However, while the cluster is syncing, the last node may become a donor or temporarily unsynced. In this case, the load balancer might stop directing traffic to it until it's fully synced again.</a:t>
            </a:r>
          </a:p>
        </p:txBody>
      </p:sp>
      <p:sp>
        <p:nvSpPr>
          <p:cNvPr name="TextBox 7" id="7"/>
          <p:cNvSpPr txBox="true"/>
          <p:nvPr/>
        </p:nvSpPr>
        <p:spPr>
          <a:xfrm rot="0">
            <a:off x="1028700" y="5064290"/>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State of the node is saved in /var/lib/mysql/grastate.dat.</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 During recovery, the node with the highest seqno (last transaction number) is chosen to bootstrap the cluster using galera_new_cluster.</a:t>
            </a:r>
          </a:p>
        </p:txBody>
      </p:sp>
      <p:sp>
        <p:nvSpPr>
          <p:cNvPr name="TextBox 8" id="8"/>
          <p:cNvSpPr txBox="true"/>
          <p:nvPr/>
        </p:nvSpPr>
        <p:spPr>
          <a:xfrm rot="0">
            <a:off x="1028700" y="7258215"/>
            <a:ext cx="10527757" cy="100012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Two nodes keep quorum</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T</a:t>
            </a:r>
            <a:r>
              <a:rPr lang="en-US" sz="2400">
                <a:solidFill>
                  <a:srgbClr val="000000"/>
                </a:solidFill>
                <a:latin typeface="Quicksand"/>
                <a:ea typeface="Quicksand"/>
                <a:cs typeface="Quicksand"/>
                <a:sym typeface="Quicksand"/>
              </a:rPr>
              <a:t>he crashed node rejoins using IST or SST</a:t>
            </a:r>
          </a:p>
        </p:txBody>
      </p:sp>
      <p:sp>
        <p:nvSpPr>
          <p:cNvPr name="TextBox 9" id="9"/>
          <p:cNvSpPr txBox="true"/>
          <p:nvPr/>
        </p:nvSpPr>
        <p:spPr>
          <a:xfrm rot="0">
            <a:off x="1028700" y="1842733"/>
            <a:ext cx="1052775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00000"/>
                </a:solidFill>
                <a:latin typeface="Quicksand Bold"/>
                <a:ea typeface="Quicksand Bold"/>
                <a:cs typeface="Quicksand Bold"/>
                <a:sym typeface="Quicksand Bold"/>
              </a:rPr>
              <a:t>one or two node Gracefully Stopped</a:t>
            </a:r>
          </a:p>
        </p:txBody>
      </p:sp>
      <p:sp>
        <p:nvSpPr>
          <p:cNvPr name="TextBox 10" id="10"/>
          <p:cNvSpPr txBox="true"/>
          <p:nvPr/>
        </p:nvSpPr>
        <p:spPr>
          <a:xfrm rot="0">
            <a:off x="1028700" y="4472598"/>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00000"/>
                </a:solidFill>
                <a:latin typeface="Quicksand Bold"/>
                <a:ea typeface="Quicksand Bold"/>
                <a:cs typeface="Quicksand Bold"/>
                <a:sym typeface="Quicksand Bold"/>
              </a:rPr>
              <a:t>All node Gracefully stopped</a:t>
            </a:r>
          </a:p>
        </p:txBody>
      </p:sp>
      <p:sp>
        <p:nvSpPr>
          <p:cNvPr name="TextBox 11" id="11"/>
          <p:cNvSpPr txBox="true"/>
          <p:nvPr/>
        </p:nvSpPr>
        <p:spPr>
          <a:xfrm rot="0">
            <a:off x="1028700" y="6664490"/>
            <a:ext cx="10527757" cy="1165225"/>
          </a:xfrm>
          <a:prstGeom prst="rect">
            <a:avLst/>
          </a:prstGeom>
        </p:spPr>
        <p:txBody>
          <a:bodyPr anchor="t" rtlCol="false" tIns="0" lIns="0" bIns="0" rIns="0">
            <a:spAutoFit/>
          </a:bodyPr>
          <a:lstStyle/>
          <a:p>
            <a:pPr algn="l" marL="0" indent="0" lvl="0">
              <a:lnSpc>
                <a:spcPts val="4759"/>
              </a:lnSpc>
            </a:pPr>
            <a:r>
              <a:rPr lang="en-US" b="true" sz="2799">
                <a:solidFill>
                  <a:srgbClr val="000000"/>
                </a:solidFill>
                <a:latin typeface="Quicksand Bold"/>
                <a:ea typeface="Quicksand Bold"/>
                <a:cs typeface="Quicksand Bold"/>
                <a:sym typeface="Quicksand Bold"/>
              </a:rPr>
              <a:t>one node crashed</a:t>
            </a:r>
          </a:p>
          <a:p>
            <a:pPr algn="l" marL="0" indent="0" lvl="0">
              <a:lnSpc>
                <a:spcPts val="4759"/>
              </a:lnSpc>
            </a:pP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13660651" y="0"/>
            <a:ext cx="4627349" cy="10287000"/>
            <a:chOff x="0" y="0"/>
            <a:chExt cx="1218726" cy="2709333"/>
          </a:xfrm>
        </p:grpSpPr>
        <p:sp>
          <p:nvSpPr>
            <p:cNvPr name="Freeform 3" id="3"/>
            <p:cNvSpPr/>
            <p:nvPr/>
          </p:nvSpPr>
          <p:spPr>
            <a:xfrm flipH="false" flipV="false" rot="0">
              <a:off x="0" y="0"/>
              <a:ext cx="1218726" cy="2709333"/>
            </a:xfrm>
            <a:custGeom>
              <a:avLst/>
              <a:gdLst/>
              <a:ahLst/>
              <a:cxnLst/>
              <a:rect r="r" b="b" t="t" l="l"/>
              <a:pathLst>
                <a:path h="2709333" w="1218726">
                  <a:moveTo>
                    <a:pt x="0" y="0"/>
                  </a:moveTo>
                  <a:lnTo>
                    <a:pt x="1218726" y="0"/>
                  </a:lnTo>
                  <a:lnTo>
                    <a:pt x="1218726" y="2709333"/>
                  </a:lnTo>
                  <a:lnTo>
                    <a:pt x="0" y="2709333"/>
                  </a:lnTo>
                  <a:close/>
                </a:path>
              </a:pathLst>
            </a:custGeom>
            <a:solidFill>
              <a:srgbClr val="85530C"/>
            </a:solidFill>
          </p:spPr>
        </p:sp>
        <p:sp>
          <p:nvSpPr>
            <p:cNvPr name="TextBox 4" id="4"/>
            <p:cNvSpPr txBox="true"/>
            <p:nvPr/>
          </p:nvSpPr>
          <p:spPr>
            <a:xfrm>
              <a:off x="0" y="-123825"/>
              <a:ext cx="1218726" cy="2833158"/>
            </a:xfrm>
            <a:prstGeom prst="rect">
              <a:avLst/>
            </a:prstGeom>
          </p:spPr>
          <p:txBody>
            <a:bodyPr anchor="ctr" rtlCol="false" tIns="50800" lIns="50800" bIns="50800" rIns="50800"/>
            <a:lstStyle/>
            <a:p>
              <a:pPr algn="ctr">
                <a:lnSpc>
                  <a:spcPts val="4079"/>
                </a:lnSpc>
              </a:pPr>
            </a:p>
          </p:txBody>
        </p:sp>
      </p:grpSp>
      <p:sp>
        <p:nvSpPr>
          <p:cNvPr name="TextBox 5" id="5"/>
          <p:cNvSpPr txBox="true"/>
          <p:nvPr/>
        </p:nvSpPr>
        <p:spPr>
          <a:xfrm rot="0">
            <a:off x="1028700" y="599709"/>
            <a:ext cx="57028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00000"/>
                </a:solidFill>
                <a:latin typeface="Cormorant Garamond Bold Italics"/>
                <a:ea typeface="Cormorant Garamond Bold Italics"/>
                <a:cs typeface="Cormorant Garamond Bold Italics"/>
                <a:sym typeface="Cormorant Garamond Bold Italics"/>
              </a:rPr>
              <a:t>Crash Recovery</a:t>
            </a:r>
          </a:p>
        </p:txBody>
      </p:sp>
      <p:sp>
        <p:nvSpPr>
          <p:cNvPr name="TextBox 6" id="6"/>
          <p:cNvSpPr txBox="true"/>
          <p:nvPr/>
        </p:nvSpPr>
        <p:spPr>
          <a:xfrm rot="0">
            <a:off x="1028700" y="2434248"/>
            <a:ext cx="10527757" cy="1514475"/>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One node left can’t continue alone</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Manual clus</a:t>
            </a:r>
            <a:r>
              <a:rPr lang="en-US" sz="2400">
                <a:solidFill>
                  <a:srgbClr val="000000"/>
                </a:solidFill>
                <a:latin typeface="Quicksand"/>
                <a:ea typeface="Quicksand"/>
                <a:cs typeface="Quicksand"/>
                <a:sym typeface="Quicksand"/>
              </a:rPr>
              <a:t>ter restart is needed</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SET GLOBAL </a:t>
            </a:r>
            <a:r>
              <a:rPr lang="en-US" b="true" sz="2400">
                <a:solidFill>
                  <a:srgbClr val="000000"/>
                </a:solidFill>
                <a:latin typeface="Quicksand Bold"/>
                <a:ea typeface="Quicksand Bold"/>
                <a:cs typeface="Quicksand Bold"/>
                <a:sym typeface="Quicksand Bold"/>
              </a:rPr>
              <a:t>wsrep_provider_options=’pc.bootstrap=TRUE’;</a:t>
            </a:r>
          </a:p>
        </p:txBody>
      </p:sp>
      <p:sp>
        <p:nvSpPr>
          <p:cNvPr name="TextBox 7" id="7"/>
          <p:cNvSpPr txBox="true"/>
          <p:nvPr/>
        </p:nvSpPr>
        <p:spPr>
          <a:xfrm rot="0">
            <a:off x="1028700" y="4551973"/>
            <a:ext cx="10527757" cy="2030730"/>
          </a:xfrm>
          <a:prstGeom prst="rect">
            <a:avLst/>
          </a:prstGeom>
        </p:spPr>
        <p:txBody>
          <a:bodyPr anchor="t" rtlCol="false" tIns="0" lIns="0" bIns="0" rIns="0">
            <a:spAutoFit/>
          </a:bodyPr>
          <a:lstStyle/>
          <a:p>
            <a:pPr algn="l" marL="518160" indent="-259080" lvl="1">
              <a:lnSpc>
                <a:spcPts val="4079"/>
              </a:lnSpc>
              <a:buFont typeface="Arial"/>
              <a:buChar char="•"/>
            </a:pPr>
            <a:r>
              <a:rPr lang="en-US" sz="2400">
                <a:solidFill>
                  <a:srgbClr val="000000"/>
                </a:solidFill>
                <a:latin typeface="Quicksand"/>
                <a:ea typeface="Quicksand"/>
                <a:cs typeface="Quicksand"/>
                <a:sym typeface="Quicksand"/>
              </a:rPr>
              <a:t>in /var/lib/mysql/grastate.dat seqno = -1</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find seqno in mysqld --wsrep-recover </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/var/lib/mysql/grastate.dat → bootstrap=1</a:t>
            </a:r>
          </a:p>
          <a:p>
            <a:pPr algn="l" marL="518160" indent="-259080" lvl="1">
              <a:lnSpc>
                <a:spcPts val="4079"/>
              </a:lnSpc>
              <a:buFont typeface="Arial"/>
              <a:buChar char="•"/>
            </a:pPr>
            <a:r>
              <a:rPr lang="en-US" sz="2400">
                <a:solidFill>
                  <a:srgbClr val="000000"/>
                </a:solidFill>
                <a:latin typeface="Quicksand"/>
                <a:ea typeface="Quicksand"/>
                <a:cs typeface="Quicksand"/>
                <a:sym typeface="Quicksand"/>
              </a:rPr>
              <a:t>galera_new_cluster</a:t>
            </a:r>
          </a:p>
        </p:txBody>
      </p:sp>
      <p:sp>
        <p:nvSpPr>
          <p:cNvPr name="TextBox 8" id="8"/>
          <p:cNvSpPr txBox="true"/>
          <p:nvPr/>
        </p:nvSpPr>
        <p:spPr>
          <a:xfrm rot="0">
            <a:off x="1028700" y="1914818"/>
            <a:ext cx="1052775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00000"/>
                </a:solidFill>
                <a:latin typeface="Quicksand Bold"/>
                <a:ea typeface="Quicksand Bold"/>
                <a:cs typeface="Quicksand Bold"/>
                <a:sym typeface="Quicksand Bold"/>
              </a:rPr>
              <a:t>Two node crashed</a:t>
            </a:r>
          </a:p>
        </p:txBody>
      </p:sp>
      <p:sp>
        <p:nvSpPr>
          <p:cNvPr name="TextBox 9" id="9"/>
          <p:cNvSpPr txBox="true"/>
          <p:nvPr/>
        </p:nvSpPr>
        <p:spPr>
          <a:xfrm rot="0">
            <a:off x="1028700" y="3958248"/>
            <a:ext cx="10527757" cy="565150"/>
          </a:xfrm>
          <a:prstGeom prst="rect">
            <a:avLst/>
          </a:prstGeom>
        </p:spPr>
        <p:txBody>
          <a:bodyPr anchor="t" rtlCol="false" tIns="0" lIns="0" bIns="0" rIns="0">
            <a:spAutoFit/>
          </a:bodyPr>
          <a:lstStyle/>
          <a:p>
            <a:pPr algn="l" marL="0" indent="0" lvl="0">
              <a:lnSpc>
                <a:spcPts val="4759"/>
              </a:lnSpc>
            </a:pPr>
            <a:r>
              <a:rPr lang="en-US" b="true" sz="2799">
                <a:solidFill>
                  <a:srgbClr val="000000"/>
                </a:solidFill>
                <a:latin typeface="Quicksand Bold"/>
                <a:ea typeface="Quicksand Bold"/>
                <a:cs typeface="Quicksand Bold"/>
                <a:sym typeface="Quicksand Bold"/>
              </a:rPr>
              <a:t>All Nodes Crash</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13660651" y="15849"/>
            <a:ext cx="4627349" cy="10271151"/>
            <a:chOff x="0" y="0"/>
            <a:chExt cx="1218726" cy="2705159"/>
          </a:xfrm>
        </p:grpSpPr>
        <p:sp>
          <p:nvSpPr>
            <p:cNvPr name="Freeform 3" id="3"/>
            <p:cNvSpPr/>
            <p:nvPr/>
          </p:nvSpPr>
          <p:spPr>
            <a:xfrm flipH="false" flipV="false" rot="0">
              <a:off x="0" y="0"/>
              <a:ext cx="1218726" cy="2705159"/>
            </a:xfrm>
            <a:custGeom>
              <a:avLst/>
              <a:gdLst/>
              <a:ahLst/>
              <a:cxnLst/>
              <a:rect r="r" b="b" t="t" l="l"/>
              <a:pathLst>
                <a:path h="2705159" w="1218726">
                  <a:moveTo>
                    <a:pt x="0" y="0"/>
                  </a:moveTo>
                  <a:lnTo>
                    <a:pt x="1218726" y="0"/>
                  </a:lnTo>
                  <a:lnTo>
                    <a:pt x="1218726" y="2705159"/>
                  </a:lnTo>
                  <a:lnTo>
                    <a:pt x="0" y="2705159"/>
                  </a:lnTo>
                  <a:close/>
                </a:path>
              </a:pathLst>
            </a:custGeom>
            <a:solidFill>
              <a:srgbClr val="85530C"/>
            </a:solidFill>
          </p:spPr>
        </p:sp>
        <p:sp>
          <p:nvSpPr>
            <p:cNvPr name="TextBox 4" id="4"/>
            <p:cNvSpPr txBox="true"/>
            <p:nvPr/>
          </p:nvSpPr>
          <p:spPr>
            <a:xfrm>
              <a:off x="0" y="-47625"/>
              <a:ext cx="1218726" cy="2752784"/>
            </a:xfrm>
            <a:prstGeom prst="rect">
              <a:avLst/>
            </a:prstGeom>
          </p:spPr>
          <p:txBody>
            <a:bodyPr anchor="ctr" rtlCol="false" tIns="50800" lIns="50800" bIns="50800" rIns="50800"/>
            <a:lstStyle/>
            <a:p>
              <a:pPr algn="ctr">
                <a:lnSpc>
                  <a:spcPts val="3693"/>
                </a:lnSpc>
              </a:pPr>
            </a:p>
          </p:txBody>
        </p:sp>
      </p:grpSp>
      <p:sp>
        <p:nvSpPr>
          <p:cNvPr name="Freeform 5" id="5"/>
          <p:cNvSpPr/>
          <p:nvPr/>
        </p:nvSpPr>
        <p:spPr>
          <a:xfrm flipH="false" flipV="false" rot="0">
            <a:off x="1028700" y="8974931"/>
            <a:ext cx="1905000" cy="283369"/>
          </a:xfrm>
          <a:custGeom>
            <a:avLst/>
            <a:gdLst/>
            <a:ahLst/>
            <a:cxnLst/>
            <a:rect r="r" b="b" t="t" l="l"/>
            <a:pathLst>
              <a:path h="283369" w="1905000">
                <a:moveTo>
                  <a:pt x="0" y="0"/>
                </a:moveTo>
                <a:lnTo>
                  <a:pt x="1905000" y="0"/>
                </a:lnTo>
                <a:lnTo>
                  <a:pt x="1905000" y="283369"/>
                </a:lnTo>
                <a:lnTo>
                  <a:pt x="0" y="28336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6" id="6"/>
          <p:cNvSpPr txBox="true"/>
          <p:nvPr/>
        </p:nvSpPr>
        <p:spPr>
          <a:xfrm rot="0">
            <a:off x="1028700" y="599709"/>
            <a:ext cx="9390243" cy="1085215"/>
          </a:xfrm>
          <a:prstGeom prst="rect">
            <a:avLst/>
          </a:prstGeom>
        </p:spPr>
        <p:txBody>
          <a:bodyPr anchor="t" rtlCol="false" tIns="0" lIns="0" bIns="0" rIns="0">
            <a:spAutoFit/>
          </a:bodyPr>
          <a:lstStyle/>
          <a:p>
            <a:pPr algn="l" marL="0" indent="0" lvl="0">
              <a:lnSpc>
                <a:spcPts val="8959"/>
              </a:lnSpc>
              <a:spcBef>
                <a:spcPct val="0"/>
              </a:spcBef>
            </a:pPr>
            <a:r>
              <a:rPr lang="en-US" b="true" sz="6399" i="true">
                <a:solidFill>
                  <a:srgbClr val="000000"/>
                </a:solidFill>
                <a:latin typeface="Cormorant Garamond Bold Italics"/>
                <a:ea typeface="Cormorant Garamond Bold Italics"/>
                <a:cs typeface="Cormorant Garamond Bold Italics"/>
                <a:sym typeface="Cormorant Garamond Bold Italics"/>
              </a:rPr>
              <a:t>Crash Recovery</a:t>
            </a:r>
          </a:p>
        </p:txBody>
      </p:sp>
      <p:sp>
        <p:nvSpPr>
          <p:cNvPr name="TextBox 7" id="7"/>
          <p:cNvSpPr txBox="true"/>
          <p:nvPr/>
        </p:nvSpPr>
        <p:spPr>
          <a:xfrm rot="0">
            <a:off x="1028700" y="3386084"/>
            <a:ext cx="6938067" cy="4086225"/>
          </a:xfrm>
          <a:prstGeom prst="rect">
            <a:avLst/>
          </a:prstGeom>
        </p:spPr>
        <p:txBody>
          <a:bodyPr anchor="t" rtlCol="false" tIns="0" lIns="0" bIns="0" rIns="0">
            <a:spAutoFit/>
          </a:bodyPr>
          <a:lstStyle/>
          <a:p>
            <a:pPr algn="l">
              <a:lnSpc>
                <a:spcPts val="4079"/>
              </a:lnSpc>
            </a:pPr>
            <a:r>
              <a:rPr lang="en-US" sz="2400">
                <a:solidFill>
                  <a:srgbClr val="000000"/>
                </a:solidFill>
                <a:latin typeface="Quicksand"/>
                <a:ea typeface="Quicksand"/>
                <a:cs typeface="Quicksand"/>
                <a:sym typeface="Quicksand"/>
              </a:rPr>
              <a:t>Split Brain happens when the nodes in a cluster lose network connection with each other.</a:t>
            </a:r>
          </a:p>
          <a:p>
            <a:pPr algn="l">
              <a:lnSpc>
                <a:spcPts val="4079"/>
              </a:lnSpc>
            </a:pPr>
            <a:r>
              <a:rPr lang="en-US" sz="2400">
                <a:solidFill>
                  <a:srgbClr val="000000"/>
                </a:solidFill>
                <a:latin typeface="Quicksand"/>
                <a:ea typeface="Quicksand"/>
                <a:cs typeface="Quicksand"/>
                <a:sym typeface="Quicksand"/>
              </a:rPr>
              <a:t>Each part of the cluster thinks it is the main one and keeps working alone.</a:t>
            </a:r>
          </a:p>
          <a:p>
            <a:pPr algn="l" marL="0" indent="0" lvl="0">
              <a:lnSpc>
                <a:spcPts val="4079"/>
              </a:lnSpc>
            </a:pPr>
            <a:r>
              <a:rPr lang="en-US" sz="2400">
                <a:solidFill>
                  <a:srgbClr val="000000"/>
                </a:solidFill>
                <a:latin typeface="Quicksand"/>
                <a:ea typeface="Quicksand"/>
                <a:cs typeface="Quicksand"/>
                <a:sym typeface="Quicksand"/>
              </a:rPr>
              <a:t>This can cause data problems, because different nodes make changes without knowing what the others are doing.</a:t>
            </a:r>
          </a:p>
          <a:p>
            <a:pPr algn="l" marL="0" indent="0" lvl="0">
              <a:lnSpc>
                <a:spcPts val="4079"/>
              </a:lnSpc>
            </a:pPr>
          </a:p>
        </p:txBody>
      </p:sp>
      <p:sp>
        <p:nvSpPr>
          <p:cNvPr name="TextBox 8" id="8"/>
          <p:cNvSpPr txBox="true"/>
          <p:nvPr/>
        </p:nvSpPr>
        <p:spPr>
          <a:xfrm rot="0">
            <a:off x="1028700" y="2823184"/>
            <a:ext cx="6938067" cy="490855"/>
          </a:xfrm>
          <a:prstGeom prst="rect">
            <a:avLst/>
          </a:prstGeom>
        </p:spPr>
        <p:txBody>
          <a:bodyPr anchor="t" rtlCol="false" tIns="0" lIns="0" bIns="0" rIns="0">
            <a:spAutoFit/>
          </a:bodyPr>
          <a:lstStyle/>
          <a:p>
            <a:pPr algn="l" marL="0" indent="0" lvl="0">
              <a:lnSpc>
                <a:spcPts val="3919"/>
              </a:lnSpc>
              <a:spcBef>
                <a:spcPct val="0"/>
              </a:spcBef>
            </a:pPr>
            <a:r>
              <a:rPr lang="en-US" b="true" sz="2799">
                <a:solidFill>
                  <a:srgbClr val="000000"/>
                </a:solidFill>
                <a:latin typeface="Quicksand Bold"/>
                <a:ea typeface="Quicksand Bold"/>
                <a:cs typeface="Quicksand Bold"/>
                <a:sym typeface="Quicksand Bold"/>
              </a:rPr>
              <a:t>Split Brain</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DFB"/>
        </a:solidFill>
      </p:bgPr>
    </p:bg>
    <p:spTree>
      <p:nvGrpSpPr>
        <p:cNvPr id="1" name=""/>
        <p:cNvGrpSpPr/>
        <p:nvPr/>
      </p:nvGrpSpPr>
      <p:grpSpPr>
        <a:xfrm>
          <a:off x="0" y="0"/>
          <a:ext cx="0" cy="0"/>
          <a:chOff x="0" y="0"/>
          <a:chExt cx="0" cy="0"/>
        </a:xfrm>
      </p:grpSpPr>
      <p:grpSp>
        <p:nvGrpSpPr>
          <p:cNvPr name="Group 2" id="2"/>
          <p:cNvGrpSpPr/>
          <p:nvPr/>
        </p:nvGrpSpPr>
        <p:grpSpPr>
          <a:xfrm rot="0">
            <a:off x="1805097" y="2528824"/>
            <a:ext cx="6381750" cy="2340937"/>
            <a:chOff x="0" y="0"/>
            <a:chExt cx="2258522" cy="828465"/>
          </a:xfrm>
        </p:grpSpPr>
        <p:sp>
          <p:nvSpPr>
            <p:cNvPr name="Freeform 3" id="3"/>
            <p:cNvSpPr/>
            <p:nvPr/>
          </p:nvSpPr>
          <p:spPr>
            <a:xfrm flipH="false" flipV="false" rot="0">
              <a:off x="0" y="0"/>
              <a:ext cx="2258522" cy="828465"/>
            </a:xfrm>
            <a:custGeom>
              <a:avLst/>
              <a:gdLst/>
              <a:ahLst/>
              <a:cxnLst/>
              <a:rect r="r" b="b" t="t" l="l"/>
              <a:pathLst>
                <a:path h="828465" w="2258522">
                  <a:moveTo>
                    <a:pt x="12131" y="0"/>
                  </a:moveTo>
                  <a:lnTo>
                    <a:pt x="2246391" y="0"/>
                  </a:lnTo>
                  <a:cubicBezTo>
                    <a:pt x="2253091" y="0"/>
                    <a:pt x="2258522" y="5431"/>
                    <a:pt x="2258522" y="12131"/>
                  </a:cubicBezTo>
                  <a:lnTo>
                    <a:pt x="2258522" y="816334"/>
                  </a:lnTo>
                  <a:cubicBezTo>
                    <a:pt x="2258522" y="819551"/>
                    <a:pt x="2257244" y="822637"/>
                    <a:pt x="2254969" y="824912"/>
                  </a:cubicBezTo>
                  <a:cubicBezTo>
                    <a:pt x="2252694" y="827187"/>
                    <a:pt x="2249608" y="828465"/>
                    <a:pt x="2246391" y="828465"/>
                  </a:cubicBezTo>
                  <a:lnTo>
                    <a:pt x="12131" y="828465"/>
                  </a:lnTo>
                  <a:cubicBezTo>
                    <a:pt x="8914" y="828465"/>
                    <a:pt x="5828" y="827187"/>
                    <a:pt x="3553" y="824912"/>
                  </a:cubicBezTo>
                  <a:cubicBezTo>
                    <a:pt x="1278" y="822637"/>
                    <a:pt x="0" y="819551"/>
                    <a:pt x="0" y="816334"/>
                  </a:cubicBezTo>
                  <a:lnTo>
                    <a:pt x="0" y="12131"/>
                  </a:lnTo>
                  <a:cubicBezTo>
                    <a:pt x="0" y="8914"/>
                    <a:pt x="1278" y="5828"/>
                    <a:pt x="3553" y="3553"/>
                  </a:cubicBezTo>
                  <a:cubicBezTo>
                    <a:pt x="5828" y="1278"/>
                    <a:pt x="8914" y="0"/>
                    <a:pt x="12131" y="0"/>
                  </a:cubicBezTo>
                  <a:close/>
                </a:path>
              </a:pathLst>
            </a:custGeom>
            <a:solidFill>
              <a:srgbClr val="FFFFFF"/>
            </a:solidFill>
            <a:ln w="57150" cap="sq">
              <a:solidFill>
                <a:srgbClr val="717092"/>
              </a:solidFill>
              <a:prstDash val="solid"/>
              <a:miter/>
            </a:ln>
          </p:spPr>
        </p:sp>
        <p:sp>
          <p:nvSpPr>
            <p:cNvPr name="TextBox 4" id="4"/>
            <p:cNvSpPr txBox="true"/>
            <p:nvPr/>
          </p:nvSpPr>
          <p:spPr>
            <a:xfrm>
              <a:off x="0" y="-57150"/>
              <a:ext cx="2258522" cy="88561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5760068" y="5193611"/>
            <a:ext cx="6579574" cy="4676000"/>
            <a:chOff x="0" y="0"/>
            <a:chExt cx="2328533" cy="1654852"/>
          </a:xfrm>
        </p:grpSpPr>
        <p:sp>
          <p:nvSpPr>
            <p:cNvPr name="Freeform 6" id="6"/>
            <p:cNvSpPr/>
            <p:nvPr/>
          </p:nvSpPr>
          <p:spPr>
            <a:xfrm flipH="false" flipV="false" rot="0">
              <a:off x="0" y="0"/>
              <a:ext cx="2328533" cy="1654852"/>
            </a:xfrm>
            <a:custGeom>
              <a:avLst/>
              <a:gdLst/>
              <a:ahLst/>
              <a:cxnLst/>
              <a:rect r="r" b="b" t="t" l="l"/>
              <a:pathLst>
                <a:path h="1654852" w="2328533">
                  <a:moveTo>
                    <a:pt x="11767" y="0"/>
                  </a:moveTo>
                  <a:lnTo>
                    <a:pt x="2316767" y="0"/>
                  </a:lnTo>
                  <a:cubicBezTo>
                    <a:pt x="2323265" y="0"/>
                    <a:pt x="2328533" y="5268"/>
                    <a:pt x="2328533" y="11767"/>
                  </a:cubicBezTo>
                  <a:lnTo>
                    <a:pt x="2328533" y="1643086"/>
                  </a:lnTo>
                  <a:cubicBezTo>
                    <a:pt x="2328533" y="1649584"/>
                    <a:pt x="2323265" y="1654852"/>
                    <a:pt x="2316767" y="1654852"/>
                  </a:cubicBezTo>
                  <a:lnTo>
                    <a:pt x="11767" y="1654852"/>
                  </a:lnTo>
                  <a:cubicBezTo>
                    <a:pt x="5268" y="1654852"/>
                    <a:pt x="0" y="1649584"/>
                    <a:pt x="0" y="1643086"/>
                  </a:cubicBezTo>
                  <a:lnTo>
                    <a:pt x="0" y="11767"/>
                  </a:lnTo>
                  <a:cubicBezTo>
                    <a:pt x="0" y="5268"/>
                    <a:pt x="5268" y="0"/>
                    <a:pt x="11767" y="0"/>
                  </a:cubicBezTo>
                  <a:close/>
                </a:path>
              </a:pathLst>
            </a:custGeom>
            <a:solidFill>
              <a:srgbClr val="FFFFFF"/>
            </a:solidFill>
            <a:ln w="57150" cap="sq">
              <a:solidFill>
                <a:srgbClr val="A1B4A2"/>
              </a:solidFill>
              <a:prstDash val="solid"/>
              <a:miter/>
            </a:ln>
          </p:spPr>
        </p:sp>
        <p:sp>
          <p:nvSpPr>
            <p:cNvPr name="TextBox 7" id="7"/>
            <p:cNvSpPr txBox="true"/>
            <p:nvPr/>
          </p:nvSpPr>
          <p:spPr>
            <a:xfrm>
              <a:off x="0" y="-57150"/>
              <a:ext cx="2328533" cy="1712002"/>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947446" y="2528824"/>
            <a:ext cx="6381750" cy="2340937"/>
            <a:chOff x="0" y="0"/>
            <a:chExt cx="2258522" cy="828465"/>
          </a:xfrm>
        </p:grpSpPr>
        <p:sp>
          <p:nvSpPr>
            <p:cNvPr name="Freeform 9" id="9"/>
            <p:cNvSpPr/>
            <p:nvPr/>
          </p:nvSpPr>
          <p:spPr>
            <a:xfrm flipH="false" flipV="false" rot="0">
              <a:off x="0" y="0"/>
              <a:ext cx="2258522" cy="828465"/>
            </a:xfrm>
            <a:custGeom>
              <a:avLst/>
              <a:gdLst/>
              <a:ahLst/>
              <a:cxnLst/>
              <a:rect r="r" b="b" t="t" l="l"/>
              <a:pathLst>
                <a:path h="828465" w="2258522">
                  <a:moveTo>
                    <a:pt x="12131" y="0"/>
                  </a:moveTo>
                  <a:lnTo>
                    <a:pt x="2246391" y="0"/>
                  </a:lnTo>
                  <a:cubicBezTo>
                    <a:pt x="2253091" y="0"/>
                    <a:pt x="2258522" y="5431"/>
                    <a:pt x="2258522" y="12131"/>
                  </a:cubicBezTo>
                  <a:lnTo>
                    <a:pt x="2258522" y="816334"/>
                  </a:lnTo>
                  <a:cubicBezTo>
                    <a:pt x="2258522" y="819551"/>
                    <a:pt x="2257244" y="822637"/>
                    <a:pt x="2254969" y="824912"/>
                  </a:cubicBezTo>
                  <a:cubicBezTo>
                    <a:pt x="2252694" y="827187"/>
                    <a:pt x="2249608" y="828465"/>
                    <a:pt x="2246391" y="828465"/>
                  </a:cubicBezTo>
                  <a:lnTo>
                    <a:pt x="12131" y="828465"/>
                  </a:lnTo>
                  <a:cubicBezTo>
                    <a:pt x="8914" y="828465"/>
                    <a:pt x="5828" y="827187"/>
                    <a:pt x="3553" y="824912"/>
                  </a:cubicBezTo>
                  <a:cubicBezTo>
                    <a:pt x="1278" y="822637"/>
                    <a:pt x="0" y="819551"/>
                    <a:pt x="0" y="816334"/>
                  </a:cubicBezTo>
                  <a:lnTo>
                    <a:pt x="0" y="12131"/>
                  </a:lnTo>
                  <a:cubicBezTo>
                    <a:pt x="0" y="8914"/>
                    <a:pt x="1278" y="5828"/>
                    <a:pt x="3553" y="3553"/>
                  </a:cubicBezTo>
                  <a:cubicBezTo>
                    <a:pt x="5828" y="1278"/>
                    <a:pt x="8914" y="0"/>
                    <a:pt x="12131" y="0"/>
                  </a:cubicBezTo>
                  <a:close/>
                </a:path>
              </a:pathLst>
            </a:custGeom>
            <a:solidFill>
              <a:srgbClr val="FFFFFF"/>
            </a:solidFill>
            <a:ln w="57150" cap="sq">
              <a:solidFill>
                <a:srgbClr val="85530C"/>
              </a:solidFill>
              <a:prstDash val="solid"/>
              <a:miter/>
            </a:ln>
          </p:spPr>
        </p:sp>
        <p:sp>
          <p:nvSpPr>
            <p:cNvPr name="TextBox 10" id="10"/>
            <p:cNvSpPr txBox="true"/>
            <p:nvPr/>
          </p:nvSpPr>
          <p:spPr>
            <a:xfrm>
              <a:off x="0" y="-57150"/>
              <a:ext cx="2258522" cy="88561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1959298" y="2794009"/>
            <a:ext cx="689159" cy="457566"/>
            <a:chOff x="0" y="0"/>
            <a:chExt cx="812800" cy="539657"/>
          </a:xfrm>
        </p:grpSpPr>
        <p:sp>
          <p:nvSpPr>
            <p:cNvPr name="Freeform 12" id="12"/>
            <p:cNvSpPr/>
            <p:nvPr/>
          </p:nvSpPr>
          <p:spPr>
            <a:xfrm flipH="false" flipV="false" rot="0">
              <a:off x="56307" y="56032"/>
              <a:ext cx="700187" cy="483625"/>
            </a:xfrm>
            <a:custGeom>
              <a:avLst/>
              <a:gdLst/>
              <a:ahLst/>
              <a:cxnLst/>
              <a:rect r="r" b="b" t="t" l="l"/>
              <a:pathLst>
                <a:path h="483625" w="700187">
                  <a:moveTo>
                    <a:pt x="417672" y="33706"/>
                  </a:moveTo>
                  <a:lnTo>
                    <a:pt x="688914" y="393887"/>
                  </a:lnTo>
                  <a:cubicBezTo>
                    <a:pt x="701693" y="410856"/>
                    <a:pt x="703777" y="433593"/>
                    <a:pt x="694295" y="452602"/>
                  </a:cubicBezTo>
                  <a:cubicBezTo>
                    <a:pt x="684814" y="471612"/>
                    <a:pt x="665397" y="483625"/>
                    <a:pt x="644154" y="483625"/>
                  </a:cubicBezTo>
                  <a:lnTo>
                    <a:pt x="56032" y="483625"/>
                  </a:lnTo>
                  <a:cubicBezTo>
                    <a:pt x="34789" y="483625"/>
                    <a:pt x="15372" y="471612"/>
                    <a:pt x="5891" y="452602"/>
                  </a:cubicBezTo>
                  <a:cubicBezTo>
                    <a:pt x="-3591" y="433593"/>
                    <a:pt x="-1507" y="410856"/>
                    <a:pt x="11272" y="393887"/>
                  </a:cubicBezTo>
                  <a:lnTo>
                    <a:pt x="282514" y="33706"/>
                  </a:lnTo>
                  <a:cubicBezTo>
                    <a:pt x="298497" y="12482"/>
                    <a:pt x="323523" y="0"/>
                    <a:pt x="350093" y="0"/>
                  </a:cubicBezTo>
                  <a:cubicBezTo>
                    <a:pt x="376663" y="0"/>
                    <a:pt x="401689" y="12482"/>
                    <a:pt x="417672" y="33706"/>
                  </a:cubicBezTo>
                  <a:close/>
                </a:path>
              </a:pathLst>
            </a:custGeom>
            <a:solidFill>
              <a:srgbClr val="717092"/>
            </a:solidFill>
          </p:spPr>
        </p:sp>
        <p:sp>
          <p:nvSpPr>
            <p:cNvPr name="TextBox 13" id="13"/>
            <p:cNvSpPr txBox="true"/>
            <p:nvPr/>
          </p:nvSpPr>
          <p:spPr>
            <a:xfrm>
              <a:off x="127000" y="193405"/>
              <a:ext cx="558800" cy="30770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5400000">
            <a:off x="5875832" y="5588533"/>
            <a:ext cx="689159" cy="457566"/>
            <a:chOff x="0" y="0"/>
            <a:chExt cx="812800" cy="539657"/>
          </a:xfrm>
        </p:grpSpPr>
        <p:sp>
          <p:nvSpPr>
            <p:cNvPr name="Freeform 15" id="15"/>
            <p:cNvSpPr/>
            <p:nvPr/>
          </p:nvSpPr>
          <p:spPr>
            <a:xfrm flipH="false" flipV="false" rot="0">
              <a:off x="56307" y="56032"/>
              <a:ext cx="700187" cy="483625"/>
            </a:xfrm>
            <a:custGeom>
              <a:avLst/>
              <a:gdLst/>
              <a:ahLst/>
              <a:cxnLst/>
              <a:rect r="r" b="b" t="t" l="l"/>
              <a:pathLst>
                <a:path h="483625" w="700187">
                  <a:moveTo>
                    <a:pt x="417672" y="33706"/>
                  </a:moveTo>
                  <a:lnTo>
                    <a:pt x="688914" y="393887"/>
                  </a:lnTo>
                  <a:cubicBezTo>
                    <a:pt x="701693" y="410856"/>
                    <a:pt x="703777" y="433593"/>
                    <a:pt x="694295" y="452602"/>
                  </a:cubicBezTo>
                  <a:cubicBezTo>
                    <a:pt x="684814" y="471612"/>
                    <a:pt x="665397" y="483625"/>
                    <a:pt x="644154" y="483625"/>
                  </a:cubicBezTo>
                  <a:lnTo>
                    <a:pt x="56032" y="483625"/>
                  </a:lnTo>
                  <a:cubicBezTo>
                    <a:pt x="34789" y="483625"/>
                    <a:pt x="15372" y="471612"/>
                    <a:pt x="5891" y="452602"/>
                  </a:cubicBezTo>
                  <a:cubicBezTo>
                    <a:pt x="-3591" y="433593"/>
                    <a:pt x="-1507" y="410856"/>
                    <a:pt x="11272" y="393887"/>
                  </a:cubicBezTo>
                  <a:lnTo>
                    <a:pt x="282514" y="33706"/>
                  </a:lnTo>
                  <a:cubicBezTo>
                    <a:pt x="298497" y="12482"/>
                    <a:pt x="323523" y="0"/>
                    <a:pt x="350093" y="0"/>
                  </a:cubicBezTo>
                  <a:cubicBezTo>
                    <a:pt x="376663" y="0"/>
                    <a:pt x="401689" y="12482"/>
                    <a:pt x="417672" y="33706"/>
                  </a:cubicBezTo>
                  <a:close/>
                </a:path>
              </a:pathLst>
            </a:custGeom>
            <a:solidFill>
              <a:srgbClr val="A1B4A2"/>
            </a:solidFill>
          </p:spPr>
        </p:sp>
        <p:sp>
          <p:nvSpPr>
            <p:cNvPr name="TextBox 16" id="16"/>
            <p:cNvSpPr txBox="true"/>
            <p:nvPr/>
          </p:nvSpPr>
          <p:spPr>
            <a:xfrm>
              <a:off x="127000" y="193405"/>
              <a:ext cx="558800" cy="30770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5400000">
            <a:off x="9028203" y="2794009"/>
            <a:ext cx="689159" cy="457566"/>
            <a:chOff x="0" y="0"/>
            <a:chExt cx="812800" cy="539657"/>
          </a:xfrm>
        </p:grpSpPr>
        <p:sp>
          <p:nvSpPr>
            <p:cNvPr name="Freeform 18" id="18"/>
            <p:cNvSpPr/>
            <p:nvPr/>
          </p:nvSpPr>
          <p:spPr>
            <a:xfrm flipH="false" flipV="false" rot="0">
              <a:off x="56307" y="56032"/>
              <a:ext cx="700187" cy="483625"/>
            </a:xfrm>
            <a:custGeom>
              <a:avLst/>
              <a:gdLst/>
              <a:ahLst/>
              <a:cxnLst/>
              <a:rect r="r" b="b" t="t" l="l"/>
              <a:pathLst>
                <a:path h="483625" w="700187">
                  <a:moveTo>
                    <a:pt x="417672" y="33706"/>
                  </a:moveTo>
                  <a:lnTo>
                    <a:pt x="688914" y="393887"/>
                  </a:lnTo>
                  <a:cubicBezTo>
                    <a:pt x="701693" y="410856"/>
                    <a:pt x="703777" y="433593"/>
                    <a:pt x="694295" y="452602"/>
                  </a:cubicBezTo>
                  <a:cubicBezTo>
                    <a:pt x="684814" y="471612"/>
                    <a:pt x="665397" y="483625"/>
                    <a:pt x="644154" y="483625"/>
                  </a:cubicBezTo>
                  <a:lnTo>
                    <a:pt x="56032" y="483625"/>
                  </a:lnTo>
                  <a:cubicBezTo>
                    <a:pt x="34789" y="483625"/>
                    <a:pt x="15372" y="471612"/>
                    <a:pt x="5891" y="452602"/>
                  </a:cubicBezTo>
                  <a:cubicBezTo>
                    <a:pt x="-3591" y="433593"/>
                    <a:pt x="-1507" y="410856"/>
                    <a:pt x="11272" y="393887"/>
                  </a:cubicBezTo>
                  <a:lnTo>
                    <a:pt x="282514" y="33706"/>
                  </a:lnTo>
                  <a:cubicBezTo>
                    <a:pt x="298497" y="12482"/>
                    <a:pt x="323523" y="0"/>
                    <a:pt x="350093" y="0"/>
                  </a:cubicBezTo>
                  <a:cubicBezTo>
                    <a:pt x="376663" y="0"/>
                    <a:pt x="401689" y="12482"/>
                    <a:pt x="417672" y="33706"/>
                  </a:cubicBezTo>
                  <a:close/>
                </a:path>
              </a:pathLst>
            </a:custGeom>
            <a:solidFill>
              <a:srgbClr val="85530C"/>
            </a:solidFill>
          </p:spPr>
        </p:sp>
        <p:sp>
          <p:nvSpPr>
            <p:cNvPr name="TextBox 19" id="19"/>
            <p:cNvSpPr txBox="true"/>
            <p:nvPr/>
          </p:nvSpPr>
          <p:spPr>
            <a:xfrm>
              <a:off x="127000" y="193405"/>
              <a:ext cx="558800" cy="30770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6694805" y="885825"/>
            <a:ext cx="4898390" cy="868680"/>
          </a:xfrm>
          <a:prstGeom prst="rect">
            <a:avLst/>
          </a:prstGeom>
        </p:spPr>
        <p:txBody>
          <a:bodyPr anchor="t" rtlCol="false" tIns="0" lIns="0" bIns="0" rIns="0">
            <a:spAutoFit/>
          </a:bodyPr>
          <a:lstStyle/>
          <a:p>
            <a:pPr algn="ctr">
              <a:lnSpc>
                <a:spcPts val="6719"/>
              </a:lnSpc>
            </a:pPr>
            <a:r>
              <a:rPr lang="en-US" b="true" sz="4799">
                <a:solidFill>
                  <a:srgbClr val="000000"/>
                </a:solidFill>
                <a:latin typeface="Poppins Bold"/>
                <a:ea typeface="Poppins Bold"/>
                <a:cs typeface="Poppins Bold"/>
                <a:sym typeface="Poppins Bold"/>
              </a:rPr>
              <a:t>TRY SPLIT BRAIN</a:t>
            </a:r>
          </a:p>
        </p:txBody>
      </p:sp>
      <p:sp>
        <p:nvSpPr>
          <p:cNvPr name="TextBox 21" id="21"/>
          <p:cNvSpPr txBox="true"/>
          <p:nvPr/>
        </p:nvSpPr>
        <p:spPr>
          <a:xfrm rot="0">
            <a:off x="4240738" y="1975191"/>
            <a:ext cx="9806524" cy="382270"/>
          </a:xfrm>
          <a:prstGeom prst="rect">
            <a:avLst/>
          </a:prstGeom>
        </p:spPr>
        <p:txBody>
          <a:bodyPr anchor="t" rtlCol="false" tIns="0" lIns="0" bIns="0" rIns="0">
            <a:spAutoFit/>
          </a:bodyPr>
          <a:lstStyle/>
          <a:p>
            <a:pPr algn="ctr">
              <a:lnSpc>
                <a:spcPts val="3079"/>
              </a:lnSpc>
            </a:pPr>
            <a:r>
              <a:rPr lang="en-US" sz="2199">
                <a:solidFill>
                  <a:srgbClr val="000000"/>
                </a:solidFill>
                <a:latin typeface="Lato"/>
                <a:ea typeface="Lato"/>
                <a:cs typeface="Lato"/>
                <a:sym typeface="Lato"/>
              </a:rPr>
              <a:t>disconnect one node with other nodes</a:t>
            </a:r>
          </a:p>
        </p:txBody>
      </p:sp>
      <p:sp>
        <p:nvSpPr>
          <p:cNvPr name="TextBox 22" id="22"/>
          <p:cNvSpPr txBox="true"/>
          <p:nvPr/>
        </p:nvSpPr>
        <p:spPr>
          <a:xfrm rot="0">
            <a:off x="7447996" y="3809035"/>
            <a:ext cx="451046" cy="398780"/>
          </a:xfrm>
          <a:prstGeom prst="rect">
            <a:avLst/>
          </a:prstGeom>
        </p:spPr>
        <p:txBody>
          <a:bodyPr anchor="t" rtlCol="false" tIns="0" lIns="0" bIns="0" rIns="0">
            <a:spAutoFit/>
          </a:bodyPr>
          <a:lstStyle/>
          <a:p>
            <a:pPr algn="ctr">
              <a:lnSpc>
                <a:spcPts val="3219"/>
              </a:lnSpc>
            </a:pPr>
            <a:r>
              <a:rPr lang="en-US" sz="2299" b="true">
                <a:solidFill>
                  <a:srgbClr val="717092"/>
                </a:solidFill>
                <a:latin typeface="Lato Bold"/>
                <a:ea typeface="Lato Bold"/>
                <a:cs typeface="Lato Bold"/>
                <a:sym typeface="Lato Bold"/>
              </a:rPr>
              <a:t>01</a:t>
            </a:r>
          </a:p>
        </p:txBody>
      </p:sp>
      <p:sp>
        <p:nvSpPr>
          <p:cNvPr name="TextBox 23" id="23"/>
          <p:cNvSpPr txBox="true"/>
          <p:nvPr/>
        </p:nvSpPr>
        <p:spPr>
          <a:xfrm rot="0">
            <a:off x="14801950" y="3979851"/>
            <a:ext cx="451046" cy="398780"/>
          </a:xfrm>
          <a:prstGeom prst="rect">
            <a:avLst/>
          </a:prstGeom>
        </p:spPr>
        <p:txBody>
          <a:bodyPr anchor="t" rtlCol="false" tIns="0" lIns="0" bIns="0" rIns="0">
            <a:spAutoFit/>
          </a:bodyPr>
          <a:lstStyle/>
          <a:p>
            <a:pPr algn="ctr">
              <a:lnSpc>
                <a:spcPts val="3219"/>
              </a:lnSpc>
            </a:pPr>
            <a:r>
              <a:rPr lang="en-US" sz="2299" b="true">
                <a:solidFill>
                  <a:srgbClr val="000000"/>
                </a:solidFill>
                <a:latin typeface="Lato Bold"/>
                <a:ea typeface="Lato Bold"/>
                <a:cs typeface="Lato Bold"/>
                <a:sym typeface="Lato Bold"/>
              </a:rPr>
              <a:t>02</a:t>
            </a:r>
          </a:p>
        </p:txBody>
      </p:sp>
      <p:sp>
        <p:nvSpPr>
          <p:cNvPr name="TextBox 24" id="24"/>
          <p:cNvSpPr txBox="true"/>
          <p:nvPr/>
        </p:nvSpPr>
        <p:spPr>
          <a:xfrm rot="0">
            <a:off x="7673519" y="5425111"/>
            <a:ext cx="3340097" cy="422275"/>
          </a:xfrm>
          <a:prstGeom prst="rect">
            <a:avLst/>
          </a:prstGeom>
        </p:spPr>
        <p:txBody>
          <a:bodyPr anchor="t" rtlCol="false" tIns="0" lIns="0" bIns="0" rIns="0">
            <a:spAutoFit/>
          </a:bodyPr>
          <a:lstStyle/>
          <a:p>
            <a:pPr algn="l">
              <a:lnSpc>
                <a:spcPts val="3499"/>
              </a:lnSpc>
            </a:pPr>
            <a:r>
              <a:rPr lang="en-US" sz="2499" b="true">
                <a:solidFill>
                  <a:srgbClr val="000000"/>
                </a:solidFill>
                <a:latin typeface="Lato Bold"/>
                <a:ea typeface="Lato Bold"/>
                <a:cs typeface="Lato Bold"/>
                <a:sym typeface="Lato Bold"/>
              </a:rPr>
              <a:t>Make Connections</a:t>
            </a:r>
          </a:p>
        </p:txBody>
      </p:sp>
      <p:sp>
        <p:nvSpPr>
          <p:cNvPr name="TextBox 25" id="25"/>
          <p:cNvSpPr txBox="true"/>
          <p:nvPr/>
        </p:nvSpPr>
        <p:spPr>
          <a:xfrm rot="0">
            <a:off x="2848747" y="2640112"/>
            <a:ext cx="4599249" cy="2080260"/>
          </a:xfrm>
          <a:prstGeom prst="rect">
            <a:avLst/>
          </a:prstGeom>
        </p:spPr>
        <p:txBody>
          <a:bodyPr anchor="t" rtlCol="false" tIns="0" lIns="0" bIns="0" rIns="0">
            <a:spAutoFit/>
          </a:bodyPr>
          <a:lstStyle/>
          <a:p>
            <a:pPr algn="l">
              <a:lnSpc>
                <a:spcPts val="2799"/>
              </a:lnSpc>
            </a:pPr>
            <a:r>
              <a:rPr lang="en-US" sz="1999">
                <a:solidFill>
                  <a:srgbClr val="000000"/>
                </a:solidFill>
                <a:latin typeface="Lato"/>
                <a:ea typeface="Lato"/>
                <a:cs typeface="Lato"/>
                <a:sym typeface="Lato"/>
              </a:rPr>
              <a:t>sudo iptables -A INPUT -s otherip  -j DROP</a:t>
            </a:r>
          </a:p>
          <a:p>
            <a:pPr algn="l">
              <a:lnSpc>
                <a:spcPts val="2659"/>
              </a:lnSpc>
            </a:pPr>
            <a:r>
              <a:rPr lang="en-US" sz="1899">
                <a:solidFill>
                  <a:srgbClr val="000000"/>
                </a:solidFill>
                <a:latin typeface="Lato"/>
                <a:ea typeface="Lato"/>
                <a:cs typeface="Lato"/>
                <a:sym typeface="Lato"/>
              </a:rPr>
              <a:t>sudo iptables -A OUTPUT -d otherip -j DROP,sudo iptables -A INPUT -p tcp --dport 3306 -j DROP</a:t>
            </a:r>
          </a:p>
          <a:p>
            <a:pPr algn="l">
              <a:lnSpc>
                <a:spcPts val="3079"/>
              </a:lnSpc>
            </a:pPr>
            <a:r>
              <a:rPr lang="en-US" sz="2199">
                <a:solidFill>
                  <a:srgbClr val="000000"/>
                </a:solidFill>
                <a:latin typeface="Lato"/>
                <a:ea typeface="Lato"/>
                <a:cs typeface="Lato"/>
                <a:sym typeface="Lato"/>
              </a:rPr>
              <a:t>now this node is non-primary</a:t>
            </a:r>
          </a:p>
        </p:txBody>
      </p:sp>
      <p:sp>
        <p:nvSpPr>
          <p:cNvPr name="TextBox 26" id="26"/>
          <p:cNvSpPr txBox="true"/>
          <p:nvPr/>
        </p:nvSpPr>
        <p:spPr>
          <a:xfrm rot="0">
            <a:off x="9915891" y="2673323"/>
            <a:ext cx="4924617" cy="1553845"/>
          </a:xfrm>
          <a:prstGeom prst="rect">
            <a:avLst/>
          </a:prstGeom>
        </p:spPr>
        <p:txBody>
          <a:bodyPr anchor="t" rtlCol="false" tIns="0" lIns="0" bIns="0" rIns="0">
            <a:spAutoFit/>
          </a:bodyPr>
          <a:lstStyle/>
          <a:p>
            <a:pPr algn="l">
              <a:lnSpc>
                <a:spcPts val="3079"/>
              </a:lnSpc>
            </a:pPr>
            <a:r>
              <a:rPr lang="en-US" sz="2199">
                <a:solidFill>
                  <a:srgbClr val="000000"/>
                </a:solidFill>
                <a:latin typeface="Lato"/>
                <a:ea typeface="Lato"/>
                <a:cs typeface="Lato"/>
                <a:sym typeface="Lato"/>
              </a:rPr>
              <a:t>in that node:SET GLOBAL wsrep_provider_options=’pc.bootstrap=TRUE’;</a:t>
            </a:r>
          </a:p>
          <a:p>
            <a:pPr algn="l">
              <a:lnSpc>
                <a:spcPts val="3079"/>
              </a:lnSpc>
            </a:pPr>
            <a:r>
              <a:rPr lang="en-US" sz="2199">
                <a:solidFill>
                  <a:srgbClr val="000000"/>
                </a:solidFill>
                <a:latin typeface="Lato"/>
                <a:ea typeface="Lato"/>
                <a:cs typeface="Lato"/>
                <a:sym typeface="Lato"/>
              </a:rPr>
              <a:t>now we two cluster that are seprated.</a:t>
            </a:r>
          </a:p>
        </p:txBody>
      </p:sp>
      <p:sp>
        <p:nvSpPr>
          <p:cNvPr name="TextBox 27" id="27"/>
          <p:cNvSpPr txBox="true"/>
          <p:nvPr/>
        </p:nvSpPr>
        <p:spPr>
          <a:xfrm rot="0">
            <a:off x="6449195" y="5942731"/>
            <a:ext cx="5689126" cy="3760689"/>
          </a:xfrm>
          <a:prstGeom prst="rect">
            <a:avLst/>
          </a:prstGeom>
        </p:spPr>
        <p:txBody>
          <a:bodyPr anchor="t" rtlCol="false" tIns="0" lIns="0" bIns="0" rIns="0">
            <a:spAutoFit/>
          </a:bodyPr>
          <a:lstStyle/>
          <a:p>
            <a:pPr algn="l">
              <a:lnSpc>
                <a:spcPts val="2717"/>
              </a:lnSpc>
            </a:pPr>
            <a:r>
              <a:rPr lang="en-US" sz="1941">
                <a:solidFill>
                  <a:srgbClr val="000000"/>
                </a:solidFill>
                <a:latin typeface="Lato"/>
                <a:ea typeface="Lato"/>
                <a:cs typeface="Lato"/>
                <a:sym typeface="Lato"/>
              </a:rPr>
              <a:t>sudo iptables -f</a:t>
            </a:r>
          </a:p>
          <a:p>
            <a:pPr algn="l">
              <a:lnSpc>
                <a:spcPts val="2717"/>
              </a:lnSpc>
            </a:pPr>
            <a:r>
              <a:rPr lang="en-US" sz="1941">
                <a:solidFill>
                  <a:srgbClr val="000000"/>
                </a:solidFill>
                <a:latin typeface="Lato"/>
                <a:ea typeface="Lato"/>
                <a:cs typeface="Lato"/>
                <a:sym typeface="Lato"/>
              </a:rPr>
              <a:t>If you want the separated node to become the new cluster:</a:t>
            </a:r>
          </a:p>
          <a:p>
            <a:pPr algn="l">
              <a:lnSpc>
                <a:spcPts val="2717"/>
              </a:lnSpc>
            </a:pPr>
            <a:r>
              <a:rPr lang="en-US" sz="1941">
                <a:solidFill>
                  <a:srgbClr val="000000"/>
                </a:solidFill>
                <a:latin typeface="Lato"/>
                <a:ea typeface="Lato"/>
                <a:cs typeface="Lato"/>
                <a:sym typeface="Lato"/>
              </a:rPr>
              <a:t>- Stop all other nodes.</a:t>
            </a:r>
          </a:p>
          <a:p>
            <a:pPr algn="l">
              <a:lnSpc>
                <a:spcPts val="2717"/>
              </a:lnSpc>
            </a:pPr>
            <a:r>
              <a:rPr lang="en-US" sz="1941">
                <a:solidFill>
                  <a:srgbClr val="000000"/>
                </a:solidFill>
                <a:latin typeface="Lato"/>
                <a:ea typeface="Lato"/>
                <a:cs typeface="Lato"/>
                <a:sym typeface="Lato"/>
              </a:rPr>
              <a:t>- On the separated node, run `galera_new_cluster`.</a:t>
            </a:r>
          </a:p>
          <a:p>
            <a:pPr algn="l">
              <a:lnSpc>
                <a:spcPts val="2717"/>
              </a:lnSpc>
            </a:pPr>
          </a:p>
          <a:p>
            <a:pPr algn="l">
              <a:lnSpc>
                <a:spcPts val="2717"/>
              </a:lnSpc>
            </a:pPr>
            <a:r>
              <a:rPr lang="en-US" sz="1941">
                <a:solidFill>
                  <a:srgbClr val="000000"/>
                </a:solidFill>
                <a:latin typeface="Lato"/>
                <a:ea typeface="Lato"/>
                <a:cs typeface="Lato"/>
                <a:sym typeface="Lato"/>
              </a:rPr>
              <a:t>If you want the separated node to rejoin an existing cluster instead:</a:t>
            </a:r>
          </a:p>
          <a:p>
            <a:pPr algn="l">
              <a:lnSpc>
                <a:spcPts val="2717"/>
              </a:lnSpc>
            </a:pPr>
            <a:r>
              <a:rPr lang="en-US" sz="1941">
                <a:solidFill>
                  <a:srgbClr val="000000"/>
                </a:solidFill>
                <a:latin typeface="Lato"/>
                <a:ea typeface="Lato"/>
                <a:cs typeface="Lato"/>
                <a:sym typeface="Lato"/>
              </a:rPr>
              <a:t>- Delete the grastate file with `rm -f /var/lib/mysql/grastate.dat`.</a:t>
            </a:r>
          </a:p>
          <a:p>
            <a:pPr algn="l">
              <a:lnSpc>
                <a:spcPts val="2717"/>
              </a:lnSpc>
            </a:pPr>
            <a:r>
              <a:rPr lang="en-US" sz="1941">
                <a:solidFill>
                  <a:srgbClr val="000000"/>
                </a:solidFill>
                <a:latin typeface="Lato"/>
                <a:ea typeface="Lato"/>
                <a:cs typeface="Lato"/>
                <a:sym typeface="Lato"/>
              </a:rPr>
              <a:t>- Then start MySQL on that node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DAGtsLrz5kU</dc:identifier>
  <dcterms:modified xsi:type="dcterms:W3CDTF">2011-08-01T06:04:30Z</dcterms:modified>
  <cp:revision>1</cp:revision>
  <dc:title>galera cluster</dc:title>
</cp:coreProperties>
</file>