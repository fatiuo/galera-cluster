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" charset="1" panose="00000500000000000000"/>
      <p:regular r:id="rId13"/>
    </p:embeddedFont>
    <p:embeddedFont>
      <p:font typeface="Montserrat Bold" charset="1" panose="00000800000000000000"/>
      <p:regular r:id="rId14"/>
    </p:embeddedFont>
    <p:embeddedFont>
      <p:font typeface="Poppins Bold" charset="1" panose="00000800000000000000"/>
      <p:regular r:id="rId15"/>
    </p:embeddedFont>
    <p:embeddedFont>
      <p:font typeface="Garet Bold" charset="1" panose="00000000000000000000"/>
      <p:regular r:id="rId16"/>
    </p:embeddedFont>
    <p:embeddedFont>
      <p:font typeface="Open Sauce Bold" charset="1" panose="00000800000000000000"/>
      <p:regular r:id="rId17"/>
    </p:embeddedFont>
    <p:embeddedFont>
      <p:font typeface="Open Sauc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324485" y="7419628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18345" y="3103189"/>
            <a:ext cx="15093073" cy="215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When w</a:t>
            </a:r>
            <a:r>
              <a:rPr lang="en-US" sz="243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 have only two nodes in a Galera cluster, there is a big problem:</a:t>
            </a:r>
          </a:p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If one node crashes or the network between them breaks, they can't see each other.</a:t>
            </a:r>
          </a:p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Each one thinks the other is dead, but because we don’t have quorum (majority), both nodes stop</a:t>
            </a:r>
          </a:p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working and no data can be written.</a:t>
            </a:r>
          </a:p>
          <a:p>
            <a:pPr algn="l" marL="0" indent="0" lvl="0">
              <a:lnSpc>
                <a:spcPts val="3403"/>
              </a:lnSpc>
              <a:spcBef>
                <a:spcPct val="0"/>
              </a:spcBef>
            </a:pPr>
            <a:r>
              <a:rPr lang="en-US" sz="2430" spc="-48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This is safe because it prevents split-brain, but it means the cluster becomes unavailable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345" y="2273750"/>
            <a:ext cx="4155745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b="true" sz="45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TWO NODE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8345" y="6393332"/>
            <a:ext cx="13007568" cy="2864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SELECT @@GLOBAL.wsrep_provider_options; → </a:t>
            </a:r>
          </a:p>
          <a:p>
            <a:pPr algn="l">
              <a:lnSpc>
                <a:spcPts val="3263"/>
              </a:lnSpc>
            </a:pPr>
            <a:r>
              <a:rPr lang="en-US" sz="233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If we set pc.ignore_quorum = yes, it means the node doesn't care about quorum anymore and node is primary. </a:t>
            </a:r>
          </a:p>
          <a:p>
            <a:pPr algn="l">
              <a:lnSpc>
                <a:spcPts val="3263"/>
              </a:lnSpc>
            </a:pPr>
            <a:r>
              <a:rPr lang="en-US" sz="233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So when the connection is lost, each node thinks it's still OK to write data.</a:t>
            </a:r>
          </a:p>
          <a:p>
            <a:pPr algn="l">
              <a:lnSpc>
                <a:spcPts val="3263"/>
              </a:lnSpc>
            </a:pPr>
            <a:r>
              <a:rPr lang="en-US" sz="233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Now both nodes can make changes separately, and this causes split-brain — which is very dangerous</a:t>
            </a:r>
          </a:p>
          <a:p>
            <a:pPr algn="l" marL="0" indent="0" lvl="0">
              <a:lnSpc>
                <a:spcPts val="3263"/>
              </a:lnSpc>
              <a:spcBef>
                <a:spcPct val="0"/>
              </a:spcBef>
            </a:pPr>
            <a:r>
              <a:rPr lang="en-US" sz="2330" spc="-4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because data will be different on each node.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8345" y="5566125"/>
            <a:ext cx="5308720" cy="41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  <a:spcBef>
                <a:spcPct val="0"/>
              </a:spcBef>
            </a:pPr>
            <a:r>
              <a:rPr lang="en-US" b="true" sz="2486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pc.ignore_quorum = yes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4445" y="1301762"/>
            <a:ext cx="16230600" cy="8292725"/>
            <a:chOff x="0" y="0"/>
            <a:chExt cx="4274726" cy="2184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84092"/>
            </a:xfrm>
            <a:custGeom>
              <a:avLst/>
              <a:gdLst/>
              <a:ahLst/>
              <a:cxnLst/>
              <a:rect r="r" b="b" t="t" l="l"/>
              <a:pathLst>
                <a:path h="2184092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84092"/>
                  </a:lnTo>
                  <a:lnTo>
                    <a:pt x="0" y="218409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22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77242" y="24873"/>
            <a:ext cx="9333516" cy="100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5"/>
              </a:lnSpc>
              <a:spcBef>
                <a:spcPct val="0"/>
              </a:spcBef>
            </a:pPr>
            <a:r>
              <a:rPr lang="en-US" b="true" sz="585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solve split brain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33861" y="1820531"/>
            <a:ext cx="14220279" cy="762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b="true" sz="2548" spc="-5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If N</a:t>
            </a:r>
            <a:r>
              <a:rPr lang="en-US" b="true" sz="2548" spc="-5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o Conflict Happened </a:t>
            </a:r>
          </a:p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If during the network partition (split-brain), only one node accepted writes, and the others were just running or idle: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You can safely shut down all nodes, fix the network issue, and then: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Start the node with the most advanced state (highest seqno in grastate.dat) first using --wsrep-new-cluster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Then start the others — they will perform IST (Incremental State Transfer) or SST if needed.</a:t>
            </a:r>
          </a:p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b="true" sz="2548" spc="-5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 If Conflicting Writes Happened </a:t>
            </a:r>
          </a:p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If both partitions accepted writes independently, you've got a real split-brain.</a:t>
            </a:r>
          </a:p>
          <a:p>
            <a:pPr algn="ctr">
              <a:lnSpc>
                <a:spcPts val="3568"/>
              </a:lnSpc>
              <a:spcBef>
                <a:spcPct val="0"/>
              </a:spcBef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Option A: Manual Recovery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Shut down all nodes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Choose the node with correct data (e.g., most recent, or trusted)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Delete /var/lib/mysql/grastate.dat on other nodes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Start the correct one with --wsrep-new-cluster</a:t>
            </a:r>
          </a:p>
          <a:p>
            <a:pPr algn="ctr" marL="550300" indent="-275150" lvl="1">
              <a:lnSpc>
                <a:spcPts val="3568"/>
              </a:lnSpc>
              <a:spcBef>
                <a:spcPct val="0"/>
              </a:spcBef>
              <a:buFont typeface="Arial"/>
              <a:buChar char="•"/>
            </a:pPr>
            <a:r>
              <a:rPr lang="en-US" sz="2548" spc="-50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Let others join via SST (State Snapshot Transfer)</a:t>
            </a:r>
          </a:p>
          <a:p>
            <a:pPr algn="ctr">
              <a:lnSpc>
                <a:spcPts val="35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09418" y="-2520683"/>
            <a:ext cx="9250345" cy="15178802"/>
            <a:chOff x="0" y="0"/>
            <a:chExt cx="49534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341" cy="812800"/>
            </a:xfrm>
            <a:custGeom>
              <a:avLst/>
              <a:gdLst/>
              <a:ahLst/>
              <a:cxnLst/>
              <a:rect r="r" b="b" t="t" l="l"/>
              <a:pathLst>
                <a:path h="812800" w="495341">
                  <a:moveTo>
                    <a:pt x="247670" y="0"/>
                  </a:moveTo>
                  <a:cubicBezTo>
                    <a:pt x="110886" y="0"/>
                    <a:pt x="0" y="181951"/>
                    <a:pt x="0" y="406400"/>
                  </a:cubicBezTo>
                  <a:cubicBezTo>
                    <a:pt x="0" y="630849"/>
                    <a:pt x="110886" y="812800"/>
                    <a:pt x="247670" y="812800"/>
                  </a:cubicBezTo>
                  <a:cubicBezTo>
                    <a:pt x="384455" y="812800"/>
                    <a:pt x="495341" y="630849"/>
                    <a:pt x="495341" y="406400"/>
                  </a:cubicBezTo>
                  <a:cubicBezTo>
                    <a:pt x="495341" y="181951"/>
                    <a:pt x="384455" y="0"/>
                    <a:pt x="24767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46438" y="38100"/>
              <a:ext cx="402464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655107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68066" y="487866"/>
            <a:ext cx="14696263" cy="191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755"/>
              </a:lnSpc>
              <a:buFont typeface="Arial"/>
              <a:buChar char="•"/>
            </a:pPr>
            <a:r>
              <a:rPr lang="en-US" b="true" sz="2682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 global wsrep_provider_options=’pc.bootstrap=YES’  in other node</a:t>
            </a:r>
          </a:p>
          <a:p>
            <a:pPr algn="l">
              <a:lnSpc>
                <a:spcPts val="3755"/>
              </a:lnSpc>
            </a:pPr>
            <a:r>
              <a:rPr lang="en-US" sz="2682" spc="-53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will bootstrap the surviving node as a new Primary Component. When the other node comes back online or regains network connectivity with this node, it will recognize that it is behind and initiate a state transfer (sst or ist) to be synchronized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8066" y="3114915"/>
            <a:ext cx="15647073" cy="762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120" indent="-289560" lvl="1">
              <a:lnSpc>
                <a:spcPts val="3755"/>
              </a:lnSpc>
              <a:buFont typeface="Arial"/>
              <a:buChar char="•"/>
            </a:pPr>
            <a:r>
              <a:rPr lang="en-US" b="true" sz="2682" spc="-5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garbd -&gt;</a:t>
            </a: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garbd (Galera Arbitrator Daemon) as a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third node. It doesn't store any data — it only helps with quorum decisions.garbd can be installed on a separate server .This is recommended because if it is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installed on the same machine as one of the data nodes and that node crashes, garbd will also go down,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and the quorum will be lost</a:t>
            </a:r>
          </a:p>
          <a:p>
            <a:pPr algn="l">
              <a:lnSpc>
                <a:spcPts val="3755"/>
              </a:lnSpc>
            </a:pPr>
            <a:r>
              <a:rPr lang="en-US" sz="2682" spc="-5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 up garbd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sudo apt install galera-arbitrator-3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sudo ufw allow 4567/tcp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sudo ufw enable</a:t>
            </a:r>
          </a:p>
          <a:p>
            <a:pPr algn="l">
              <a:lnSpc>
                <a:spcPts val="3755"/>
              </a:lnSpc>
            </a:pPr>
            <a:r>
              <a:rPr lang="en-US" sz="2682" spc="-5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sudo nano /etc/garbd.conf →</a:t>
            </a:r>
          </a:p>
          <a:p>
            <a:pPr algn="l">
              <a:lnSpc>
                <a:spcPts val="3755"/>
              </a:lnSpc>
            </a:pPr>
            <a:r>
              <a:rPr lang="en-US" sz="2682" spc="-53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group = example_cluster  like galera name</a:t>
            </a:r>
          </a:p>
          <a:p>
            <a:pPr algn="l">
              <a:lnSpc>
                <a:spcPts val="3755"/>
              </a:lnSpc>
            </a:pPr>
            <a:r>
              <a:rPr lang="en-US" sz="2682" spc="-53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= gcomm://192.168.1.1,192.168.1.2,192.168.1.3 like galera nodes ip</a:t>
            </a:r>
          </a:p>
          <a:p>
            <a:pPr algn="l">
              <a:lnSpc>
                <a:spcPts val="3755"/>
              </a:lnSpc>
            </a:pPr>
            <a:r>
              <a:rPr lang="en-US" sz="2682" spc="-53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start with → garbd --cfg /etc/garbd.conf [--options = “pc.weight=1”]</a:t>
            </a:r>
          </a:p>
          <a:p>
            <a:pPr algn="l">
              <a:lnSpc>
                <a:spcPts val="3755"/>
              </a:lnSpc>
            </a:pPr>
          </a:p>
          <a:p>
            <a:pPr algn="l">
              <a:lnSpc>
                <a:spcPts val="375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09418" y="-2520683"/>
            <a:ext cx="9250345" cy="15178802"/>
            <a:chOff x="0" y="0"/>
            <a:chExt cx="49534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341" cy="812800"/>
            </a:xfrm>
            <a:custGeom>
              <a:avLst/>
              <a:gdLst/>
              <a:ahLst/>
              <a:cxnLst/>
              <a:rect r="r" b="b" t="t" l="l"/>
              <a:pathLst>
                <a:path h="812800" w="495341">
                  <a:moveTo>
                    <a:pt x="247670" y="0"/>
                  </a:moveTo>
                  <a:cubicBezTo>
                    <a:pt x="110886" y="0"/>
                    <a:pt x="0" y="181951"/>
                    <a:pt x="0" y="406400"/>
                  </a:cubicBezTo>
                  <a:cubicBezTo>
                    <a:pt x="0" y="630849"/>
                    <a:pt x="110886" y="812800"/>
                    <a:pt x="247670" y="812800"/>
                  </a:cubicBezTo>
                  <a:cubicBezTo>
                    <a:pt x="384455" y="812800"/>
                    <a:pt x="495341" y="630849"/>
                    <a:pt x="495341" y="406400"/>
                  </a:cubicBezTo>
                  <a:cubicBezTo>
                    <a:pt x="495341" y="181951"/>
                    <a:pt x="384455" y="0"/>
                    <a:pt x="24767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46438" y="38100"/>
              <a:ext cx="402464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655107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868066" y="2234752"/>
            <a:ext cx="15647073" cy="6286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b="true" sz="2982" spc="-5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pc.weight</a:t>
            </a: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sets the importance of a node when Galera decides which node or group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becomes Primary Component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Imagine: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 1 → pc.weight = 1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 2 → pc.weight = 2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connection between them breaks (network split):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 1 is alone with only weight 1 → not enough to continue → it shut</a:t>
            </a: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down.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Node 2 is alone with weight 2 → enough to continue →</a:t>
            </a:r>
            <a:r>
              <a:rPr lang="en-US" sz="2982" spc="-5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it becomes the Primary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Component.</a:t>
            </a:r>
          </a:p>
          <a:p>
            <a:pPr algn="l" marL="643888" indent="-321944" lvl="1">
              <a:lnSpc>
                <a:spcPts val="4175"/>
              </a:lnSpc>
              <a:buFont typeface="Arial"/>
              <a:buChar char="•"/>
            </a:pPr>
            <a:r>
              <a:rPr lang="en-US" sz="2982" spc="-5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</a:t>
            </a:r>
            <a:r>
              <a:rPr lang="en-US" sz="2982" spc="-59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 prevents split-brain</a:t>
            </a:r>
          </a:p>
          <a:p>
            <a:pPr algn="l">
              <a:lnSpc>
                <a:spcPts val="417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37002" y="0"/>
            <a:ext cx="550998" cy="10287000"/>
            <a:chOff x="0" y="0"/>
            <a:chExt cx="435356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356" cy="8128000"/>
            </a:xfrm>
            <a:custGeom>
              <a:avLst/>
              <a:gdLst/>
              <a:ahLst/>
              <a:cxnLst/>
              <a:rect r="r" b="b" t="t" l="l"/>
              <a:pathLst>
                <a:path h="8128000" w="435356">
                  <a:moveTo>
                    <a:pt x="0" y="0"/>
                  </a:moveTo>
                  <a:lnTo>
                    <a:pt x="435356" y="0"/>
                  </a:lnTo>
                  <a:lnTo>
                    <a:pt x="435356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356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551064" y="5997897"/>
            <a:ext cx="17185873" cy="47625"/>
          </a:xfrm>
          <a:prstGeom prst="line">
            <a:avLst/>
          </a:prstGeom>
          <a:ln cap="flat" w="47625">
            <a:solidFill>
              <a:srgbClr val="051D4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9144000" y="2400860"/>
            <a:ext cx="0" cy="7222650"/>
          </a:xfrm>
          <a:prstGeom prst="line">
            <a:avLst/>
          </a:prstGeom>
          <a:ln cap="flat" w="47625">
            <a:solidFill>
              <a:srgbClr val="051D4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63347" y="2400860"/>
            <a:ext cx="7629377" cy="669452"/>
            <a:chOff x="0" y="0"/>
            <a:chExt cx="4853694" cy="4258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53694" cy="425895"/>
            </a:xfrm>
            <a:custGeom>
              <a:avLst/>
              <a:gdLst/>
              <a:ahLst/>
              <a:cxnLst/>
              <a:rect r="r" b="b" t="t" l="l"/>
              <a:pathLst>
                <a:path h="425895" w="4853694">
                  <a:moveTo>
                    <a:pt x="4650494" y="0"/>
                  </a:moveTo>
                  <a:cubicBezTo>
                    <a:pt x="4762719" y="0"/>
                    <a:pt x="4853694" y="95340"/>
                    <a:pt x="4853694" y="212948"/>
                  </a:cubicBezTo>
                  <a:cubicBezTo>
                    <a:pt x="4853694" y="330556"/>
                    <a:pt x="4762719" y="425895"/>
                    <a:pt x="4650494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53694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 garbd, no weights, pc.ignore_quorum=NO: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3347" y="6643833"/>
            <a:ext cx="7629377" cy="762000"/>
            <a:chOff x="0" y="0"/>
            <a:chExt cx="4853694" cy="4847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53694" cy="484773"/>
            </a:xfrm>
            <a:custGeom>
              <a:avLst/>
              <a:gdLst/>
              <a:ahLst/>
              <a:cxnLst/>
              <a:rect r="r" b="b" t="t" l="l"/>
              <a:pathLst>
                <a:path h="484773" w="4853694">
                  <a:moveTo>
                    <a:pt x="4650494" y="0"/>
                  </a:moveTo>
                  <a:cubicBezTo>
                    <a:pt x="4762719" y="0"/>
                    <a:pt x="4853694" y="108520"/>
                    <a:pt x="4853694" y="242386"/>
                  </a:cubicBezTo>
                  <a:cubicBezTo>
                    <a:pt x="4853694" y="376253"/>
                    <a:pt x="4762719" y="484773"/>
                    <a:pt x="4650494" y="484773"/>
                  </a:cubicBezTo>
                  <a:lnTo>
                    <a:pt x="203200" y="484773"/>
                  </a:lnTo>
                  <a:cubicBezTo>
                    <a:pt x="90976" y="484773"/>
                    <a:pt x="0" y="376253"/>
                    <a:pt x="0" y="242386"/>
                  </a:cubicBezTo>
                  <a:cubicBezTo>
                    <a:pt x="0" y="10852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853694" cy="522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 garbd, different node weights (e.g., node1=2, node2=1), pc.ignore_quorum=NO: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94370" y="2400860"/>
            <a:ext cx="7364930" cy="741363"/>
            <a:chOff x="0" y="0"/>
            <a:chExt cx="4685457" cy="4716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85457" cy="471644"/>
            </a:xfrm>
            <a:custGeom>
              <a:avLst/>
              <a:gdLst/>
              <a:ahLst/>
              <a:cxnLst/>
              <a:rect r="r" b="b" t="t" l="l"/>
              <a:pathLst>
                <a:path h="471644" w="4685457">
                  <a:moveTo>
                    <a:pt x="4482257" y="0"/>
                  </a:moveTo>
                  <a:cubicBezTo>
                    <a:pt x="4594482" y="0"/>
                    <a:pt x="4685457" y="105581"/>
                    <a:pt x="4685457" y="235822"/>
                  </a:cubicBezTo>
                  <a:cubicBezTo>
                    <a:pt x="4685457" y="366063"/>
                    <a:pt x="4594482" y="471644"/>
                    <a:pt x="4482257" y="471644"/>
                  </a:cubicBezTo>
                  <a:lnTo>
                    <a:pt x="203200" y="471644"/>
                  </a:lnTo>
                  <a:cubicBezTo>
                    <a:pt x="90976" y="471644"/>
                    <a:pt x="0" y="366063"/>
                    <a:pt x="0" y="235822"/>
                  </a:cubicBezTo>
                  <a:cubicBezTo>
                    <a:pt x="0" y="10558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685457" cy="509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garbd weight = 0, nodes have equal weight,</a:t>
              </a:r>
            </a:p>
            <a:p>
              <a:pPr algn="ctr">
                <a:lnSpc>
                  <a:spcPts val="2380"/>
                </a:lnSpc>
              </a:pPr>
              <a:r>
                <a:rPr lang="en-US" b="true" sz="17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pc.ignore_quorum=NO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894370" y="6643833"/>
            <a:ext cx="7364930" cy="762000"/>
            <a:chOff x="0" y="0"/>
            <a:chExt cx="4685457" cy="4847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85457" cy="484773"/>
            </a:xfrm>
            <a:custGeom>
              <a:avLst/>
              <a:gdLst/>
              <a:ahLst/>
              <a:cxnLst/>
              <a:rect r="r" b="b" t="t" l="l"/>
              <a:pathLst>
                <a:path h="484773" w="4685457">
                  <a:moveTo>
                    <a:pt x="4482257" y="0"/>
                  </a:moveTo>
                  <a:cubicBezTo>
                    <a:pt x="4594482" y="0"/>
                    <a:pt x="4685457" y="108520"/>
                    <a:pt x="4685457" y="242386"/>
                  </a:cubicBezTo>
                  <a:cubicBezTo>
                    <a:pt x="4685457" y="376253"/>
                    <a:pt x="4594482" y="484773"/>
                    <a:pt x="4482257" y="484773"/>
                  </a:cubicBezTo>
                  <a:lnTo>
                    <a:pt x="203200" y="484773"/>
                  </a:lnTo>
                  <a:cubicBezTo>
                    <a:pt x="90976" y="484773"/>
                    <a:pt x="0" y="376253"/>
                    <a:pt x="0" y="242386"/>
                  </a:cubicBezTo>
                  <a:cubicBezTo>
                    <a:pt x="0" y="10852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685457" cy="522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garbd weight = 1, nodes equal (1 each), pc.ignore_quorum=NO: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SCE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NARIOES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3347" y="3394549"/>
            <a:ext cx="7629377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network link between two nodes is lost, neither has quorum alone. Both nodes shut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 to prevent data inconsistency. This is safe but causes downtime.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3347" y="7518859"/>
            <a:ext cx="7629377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connection is lost, the node with higher weight stays running. The weaker one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shuts down. This increases availability while still avoiding split-brain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94370" y="3275886"/>
            <a:ext cx="7629377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Garbd participates in communication but doesn't count for quorum. If one node is lost,</a:t>
            </a:r>
          </a:p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remaining node still lacks majority and shuts down. Safe, but availability is still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94370" y="7518859"/>
            <a:ext cx="7629377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one node and garbd are still connected, that node has quorum and stays running. This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increases availability. However, if garbd fails or behaves unreliably, there's risk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45DA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37002" y="0"/>
            <a:ext cx="550998" cy="10287000"/>
            <a:chOff x="0" y="0"/>
            <a:chExt cx="435356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356" cy="8128000"/>
            </a:xfrm>
            <a:custGeom>
              <a:avLst/>
              <a:gdLst/>
              <a:ahLst/>
              <a:cxnLst/>
              <a:rect r="r" b="b" t="t" l="l"/>
              <a:pathLst>
                <a:path h="8128000" w="435356">
                  <a:moveTo>
                    <a:pt x="0" y="0"/>
                  </a:moveTo>
                  <a:lnTo>
                    <a:pt x="435356" y="0"/>
                  </a:lnTo>
                  <a:lnTo>
                    <a:pt x="435356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5356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551064" y="5997897"/>
            <a:ext cx="17185873" cy="47625"/>
          </a:xfrm>
          <a:prstGeom prst="line">
            <a:avLst/>
          </a:prstGeom>
          <a:ln cap="flat" w="47625">
            <a:solidFill>
              <a:srgbClr val="051D4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63347" y="2447134"/>
            <a:ext cx="7629377" cy="669452"/>
            <a:chOff x="0" y="0"/>
            <a:chExt cx="4853694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3694" cy="425895"/>
            </a:xfrm>
            <a:custGeom>
              <a:avLst/>
              <a:gdLst/>
              <a:ahLst/>
              <a:cxnLst/>
              <a:rect r="r" b="b" t="t" l="l"/>
              <a:pathLst>
                <a:path h="425895" w="4853694">
                  <a:moveTo>
                    <a:pt x="4650494" y="0"/>
                  </a:moveTo>
                  <a:cubicBezTo>
                    <a:pt x="4762719" y="0"/>
                    <a:pt x="4853694" y="95340"/>
                    <a:pt x="4853694" y="212948"/>
                  </a:cubicBezTo>
                  <a:cubicBezTo>
                    <a:pt x="4853694" y="330556"/>
                    <a:pt x="4762719" y="425895"/>
                    <a:pt x="4650494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53694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garbd weight = 1, node1 = 2, node2 = 1, pc.ignore_quorum=NO: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690107"/>
            <a:ext cx="10488386" cy="669452"/>
            <a:chOff x="0" y="0"/>
            <a:chExt cx="6672553" cy="425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72552" cy="425895"/>
            </a:xfrm>
            <a:custGeom>
              <a:avLst/>
              <a:gdLst/>
              <a:ahLst/>
              <a:cxnLst/>
              <a:rect r="r" b="b" t="t" l="l"/>
              <a:pathLst>
                <a:path h="425895" w="6672552">
                  <a:moveTo>
                    <a:pt x="6469353" y="0"/>
                  </a:moveTo>
                  <a:cubicBezTo>
                    <a:pt x="6581577" y="0"/>
                    <a:pt x="6672552" y="95340"/>
                    <a:pt x="6672552" y="212948"/>
                  </a:cubicBezTo>
                  <a:cubicBezTo>
                    <a:pt x="6672552" y="330556"/>
                    <a:pt x="6581577" y="425895"/>
                    <a:pt x="646935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672553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garbd+weight is better than all scenarios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94370" y="2400860"/>
            <a:ext cx="7364930" cy="669452"/>
            <a:chOff x="0" y="0"/>
            <a:chExt cx="4685457" cy="42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85457" cy="425895"/>
            </a:xfrm>
            <a:custGeom>
              <a:avLst/>
              <a:gdLst/>
              <a:ahLst/>
              <a:cxnLst/>
              <a:rect r="r" b="b" t="t" l="l"/>
              <a:pathLst>
                <a:path h="425895" w="4685457">
                  <a:moveTo>
                    <a:pt x="4482257" y="0"/>
                  </a:moveTo>
                  <a:cubicBezTo>
                    <a:pt x="4594482" y="0"/>
                    <a:pt x="4685457" y="95340"/>
                    <a:pt x="4685457" y="212948"/>
                  </a:cubicBezTo>
                  <a:cubicBezTo>
                    <a:pt x="4685457" y="330556"/>
                    <a:pt x="4594482" y="425895"/>
                    <a:pt x="4482257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685457" cy="463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ignore_quorum=YES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SCE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NARIOES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347" y="3394549"/>
            <a:ext cx="7629377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a split occurs, node1 plus garbd gives 3 &gt; 2 quorum, so node1 stays active. Node2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alone only has 1 and shuts down. This is still safe.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347" y="7683409"/>
            <a:ext cx="16760400" cy="217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weight: Mostly safe, but rare split-brain can happen.</a:t>
            </a:r>
          </a:p>
          <a:p>
            <a:pPr algn="just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Only garbd (weight 1): Helps cluster stay up, but may keep wrong node active.</a:t>
            </a:r>
          </a:p>
          <a:p>
            <a:pPr algn="just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Garbd with weight 0: Safer — prevents split-brain by not helping form quorum.</a:t>
            </a:r>
          </a:p>
          <a:p>
            <a:pPr algn="just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Weight + garbd(0): Best setup — combines smart voting with safe quorum checks</a:t>
            </a:r>
          </a:p>
          <a:p>
            <a:pPr algn="just" marL="0" indent="0" lvl="0">
              <a:lnSpc>
                <a:spcPts val="345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894370" y="3275886"/>
            <a:ext cx="7629377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nodes lose connection, they both assume they can keep running. This causes split-</a:t>
            </a:r>
          </a:p>
          <a:p>
            <a:pPr algn="just" marL="0" indent="0" lvl="0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brain because both accept writes separately. Unsafe.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0" cap="sq">
              <a:solidFill>
                <a:srgbClr val="145DA0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03977" y="1634232"/>
            <a:ext cx="7945961" cy="83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62"/>
              </a:lnSpc>
              <a:spcBef>
                <a:spcPct val="0"/>
              </a:spcBef>
            </a:pPr>
            <a:r>
              <a:rPr lang="en-US" sz="5921" spc="207">
                <a:solidFill>
                  <a:srgbClr val="040506"/>
                </a:solidFill>
                <a:latin typeface="Poppins"/>
                <a:ea typeface="Poppins"/>
                <a:cs typeface="Poppins"/>
                <a:sym typeface="Poppins"/>
              </a:rPr>
              <a:t>gcache.recover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03977" y="2679259"/>
            <a:ext cx="14558376" cy="650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1989" spc="194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gcache.recover = yes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After a full cluster shutdown, nodes keep the gcache data.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So, when the cluster comes back up, the first node keeps its data and other nodes can use it for IST.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IST (Incremental State Transfer) is much faster than SST.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This is better for big databases and faster recovery.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Use this when:</a:t>
            </a:r>
          </a:p>
          <a:p>
            <a:pPr algn="l" marL="858944" indent="-286315" lvl="2">
              <a:lnSpc>
                <a:spcPts val="2745"/>
              </a:lnSpc>
              <a:buFont typeface="Arial"/>
              <a:buChar char="⚬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Your database is large.</a:t>
            </a:r>
          </a:p>
          <a:p>
            <a:pPr algn="l" marL="858944" indent="-286315" lvl="2">
              <a:lnSpc>
                <a:spcPts val="2745"/>
              </a:lnSpc>
              <a:buFont typeface="Arial"/>
              <a:buChar char="⚬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 want to reduce downtime.</a:t>
            </a:r>
          </a:p>
          <a:p>
            <a:pPr algn="l" marL="858944" indent="-286315" lvl="2">
              <a:lnSpc>
                <a:spcPts val="2745"/>
              </a:lnSpc>
              <a:buFont typeface="Arial"/>
              <a:buChar char="⚬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 often</a:t>
            </a: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restart the cluster.</a:t>
            </a:r>
          </a:p>
          <a:p>
            <a:pPr algn="l">
              <a:lnSpc>
                <a:spcPts val="2745"/>
              </a:lnSpc>
            </a:pPr>
            <a:r>
              <a:rPr lang="en-US" sz="1989" spc="194" b="true">
                <a:solidFill>
                  <a:srgbClr val="231F2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gcache.recover = no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After a shutdown, the node clears the gcache data.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So, when the node restarts, it cannot use IST.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It must do SS</a:t>
            </a: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T (State Snapshot Transfer), which is slower and uses more resources.</a:t>
            </a:r>
          </a:p>
          <a:p>
            <a:pPr algn="l" marL="429472" indent="-214736" lvl="1">
              <a:lnSpc>
                <a:spcPts val="2745"/>
              </a:lnSpc>
              <a:buFont typeface="Arial"/>
              <a:buChar char="•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Use</a:t>
            </a: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this when:</a:t>
            </a:r>
          </a:p>
          <a:p>
            <a:pPr algn="l" marL="858944" indent="-286315" lvl="2">
              <a:lnSpc>
                <a:spcPts val="2745"/>
              </a:lnSpc>
              <a:spcBef>
                <a:spcPct val="0"/>
              </a:spcBef>
              <a:buFont typeface="Arial"/>
              <a:buChar char="⚬"/>
            </a:pPr>
            <a:r>
              <a:rPr lang="en-US" sz="1989" spc="194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 want</a:t>
            </a:r>
            <a:r>
              <a:rPr lang="en-US" sz="1989" spc="194" u="none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 a clean start every time.</a:t>
            </a:r>
          </a:p>
          <a:p>
            <a:pPr algn="l" marL="858944" indent="-286315" lvl="2">
              <a:lnSpc>
                <a:spcPts val="2745"/>
              </a:lnSpc>
              <a:spcBef>
                <a:spcPct val="0"/>
              </a:spcBef>
              <a:buFont typeface="Arial"/>
              <a:buChar char="⚬"/>
            </a:pPr>
            <a:r>
              <a:rPr lang="en-US" sz="1989" spc="194" u="none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Your cluster rarely shuts down.</a:t>
            </a:r>
          </a:p>
          <a:p>
            <a:pPr algn="l" marL="858944" indent="-286315" lvl="2">
              <a:lnSpc>
                <a:spcPts val="2745"/>
              </a:lnSpc>
              <a:spcBef>
                <a:spcPct val="0"/>
              </a:spcBef>
              <a:buFont typeface="Arial"/>
              <a:buChar char="⚬"/>
            </a:pPr>
            <a:r>
              <a:rPr lang="en-US" sz="1989" spc="194" u="none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You worry about old or corrupted gcache data.</a:t>
            </a:r>
          </a:p>
          <a:p>
            <a:pPr algn="l" marL="0" indent="0" lvl="0">
              <a:lnSpc>
                <a:spcPts val="2745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305814" y="-323115"/>
            <a:ext cx="8744064" cy="2511931"/>
          </a:xfrm>
          <a:custGeom>
            <a:avLst/>
            <a:gdLst/>
            <a:ahLst/>
            <a:cxnLst/>
            <a:rect r="r" b="b" t="t" l="l"/>
            <a:pathLst>
              <a:path h="2511931" w="8744064">
                <a:moveTo>
                  <a:pt x="0" y="0"/>
                </a:moveTo>
                <a:lnTo>
                  <a:pt x="8744064" y="0"/>
                </a:lnTo>
                <a:lnTo>
                  <a:pt x="8744064" y="2511931"/>
                </a:lnTo>
                <a:lnTo>
                  <a:pt x="0" y="25119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321012"/>
            <a:ext cx="332765" cy="33276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3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6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DAGvIKJrCes</dc:identifier>
  <dcterms:modified xsi:type="dcterms:W3CDTF">2011-08-01T06:04:30Z</dcterms:modified>
  <cp:revision>1</cp:revision>
  <dc:title>TWO NODE</dc:title>
</cp:coreProperties>
</file>