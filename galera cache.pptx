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Poppins Bold" charset="1" panose="00000800000000000000"/>
      <p:regular r:id="rId17"/>
    </p:embeddedFont>
    <p:embeddedFont>
      <p:font typeface="Canva Sans Bold" charset="1" panose="020B0803030501040103"/>
      <p:regular r:id="rId18"/>
    </p:embeddedFont>
    <p:embeddedFont>
      <p:font typeface="Poppins" charset="1" panose="00000500000000000000"/>
      <p:regular r:id="rId19"/>
    </p:embeddedFont>
    <p:embeddedFont>
      <p:font typeface="Canva Sans" charset="1" panose="020B0503030501040103"/>
      <p:regular r:id="rId20"/>
    </p:embeddedFont>
    <p:embeddedFont>
      <p:font typeface="League Spartan" charset="1" panose="00000800000000000000"/>
      <p:regular r:id="rId21"/>
    </p:embeddedFont>
    <p:embeddedFont>
      <p:font typeface="Cormorant Garamond Bold Italics" charset="1" panose="00000800000000000000"/>
      <p:regular r:id="rId22"/>
    </p:embeddedFont>
    <p:embeddedFont>
      <p:font typeface="Glacial Indifference Bold" charset="1" panose="00000800000000000000"/>
      <p:regular r:id="rId23"/>
    </p:embeddedFont>
    <p:embeddedFont>
      <p:font typeface="Glacial Indifference" charset="1" panose="00000000000000000000"/>
      <p:regular r:id="rId24"/>
    </p:embeddedFont>
    <p:embeddedFont>
      <p:font typeface="Lato" charset="1" panose="020F0502020204030203"/>
      <p:regular r:id="rId25"/>
    </p:embeddedFont>
    <p:embeddedFont>
      <p:font typeface="Lato Bold" charset="1" panose="020F0502020204030203"/>
      <p:regular r:id="rId26"/>
    </p:embeddedFont>
    <p:embeddedFont>
      <p:font typeface="Archivo Black" charset="1" panose="020B0A03020202020B04"/>
      <p:regular r:id="rId27"/>
    </p:embeddedFont>
    <p:embeddedFont>
      <p:font typeface="Open Sauce Italics" charset="1" panose="00000500000000000000"/>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EFFFA"/>
        </a:solidFill>
      </p:bgPr>
    </p:bg>
    <p:spTree>
      <p:nvGrpSpPr>
        <p:cNvPr id="1" name=""/>
        <p:cNvGrpSpPr/>
        <p:nvPr/>
      </p:nvGrpSpPr>
      <p:grpSpPr>
        <a:xfrm>
          <a:off x="0" y="0"/>
          <a:ext cx="0" cy="0"/>
          <a:chOff x="0" y="0"/>
          <a:chExt cx="0" cy="0"/>
        </a:xfrm>
      </p:grpSpPr>
      <p:grpSp>
        <p:nvGrpSpPr>
          <p:cNvPr name="Group 2" id="2"/>
          <p:cNvGrpSpPr/>
          <p:nvPr/>
        </p:nvGrpSpPr>
        <p:grpSpPr>
          <a:xfrm rot="0">
            <a:off x="7479895" y="755830"/>
            <a:ext cx="9894109" cy="8775341"/>
            <a:chOff x="0" y="0"/>
            <a:chExt cx="2605856" cy="2311201"/>
          </a:xfrm>
        </p:grpSpPr>
        <p:sp>
          <p:nvSpPr>
            <p:cNvPr name="Freeform 3" id="3"/>
            <p:cNvSpPr/>
            <p:nvPr/>
          </p:nvSpPr>
          <p:spPr>
            <a:xfrm flipH="false" flipV="false" rot="0">
              <a:off x="0" y="0"/>
              <a:ext cx="2605856" cy="2311201"/>
            </a:xfrm>
            <a:custGeom>
              <a:avLst/>
              <a:gdLst/>
              <a:ahLst/>
              <a:cxnLst/>
              <a:rect r="r" b="b" t="t" l="l"/>
              <a:pathLst>
                <a:path h="2311201" w="2605856">
                  <a:moveTo>
                    <a:pt x="0" y="0"/>
                  </a:moveTo>
                  <a:lnTo>
                    <a:pt x="2605856" y="0"/>
                  </a:lnTo>
                  <a:lnTo>
                    <a:pt x="2605856" y="2311201"/>
                  </a:lnTo>
                  <a:lnTo>
                    <a:pt x="0" y="2311201"/>
                  </a:lnTo>
                  <a:close/>
                </a:path>
              </a:pathLst>
            </a:custGeom>
            <a:solidFill>
              <a:srgbClr val="FEFFFA"/>
            </a:solidFill>
            <a:ln w="47625" cap="sq">
              <a:solidFill>
                <a:srgbClr val="000000"/>
              </a:solidFill>
              <a:prstDash val="solid"/>
              <a:miter/>
            </a:ln>
          </p:spPr>
        </p:sp>
        <p:sp>
          <p:nvSpPr>
            <p:cNvPr name="TextBox 4" id="4"/>
            <p:cNvSpPr txBox="true"/>
            <p:nvPr/>
          </p:nvSpPr>
          <p:spPr>
            <a:xfrm>
              <a:off x="0" y="-47625"/>
              <a:ext cx="2605856" cy="2358826"/>
            </a:xfrm>
            <a:prstGeom prst="rect">
              <a:avLst/>
            </a:prstGeom>
          </p:spPr>
          <p:txBody>
            <a:bodyPr anchor="ctr" rtlCol="false" tIns="50800" lIns="50800" bIns="50800" rIns="50800"/>
            <a:lstStyle/>
            <a:p>
              <a:pPr algn="ctr">
                <a:lnSpc>
                  <a:spcPts val="3499"/>
                </a:lnSpc>
              </a:pPr>
            </a:p>
          </p:txBody>
        </p:sp>
      </p:grpSp>
      <p:grpSp>
        <p:nvGrpSpPr>
          <p:cNvPr name="Group 5" id="5"/>
          <p:cNvGrpSpPr/>
          <p:nvPr/>
        </p:nvGrpSpPr>
        <p:grpSpPr>
          <a:xfrm rot="0">
            <a:off x="-387713" y="122914"/>
            <a:ext cx="7167241" cy="1457724"/>
            <a:chOff x="0" y="0"/>
            <a:chExt cx="1887668" cy="383927"/>
          </a:xfrm>
        </p:grpSpPr>
        <p:sp>
          <p:nvSpPr>
            <p:cNvPr name="Freeform 6" id="6"/>
            <p:cNvSpPr/>
            <p:nvPr/>
          </p:nvSpPr>
          <p:spPr>
            <a:xfrm flipH="false" flipV="false" rot="0">
              <a:off x="0" y="0"/>
              <a:ext cx="1887668" cy="383927"/>
            </a:xfrm>
            <a:custGeom>
              <a:avLst/>
              <a:gdLst/>
              <a:ahLst/>
              <a:cxnLst/>
              <a:rect r="r" b="b" t="t" l="l"/>
              <a:pathLst>
                <a:path h="383927" w="1887668">
                  <a:moveTo>
                    <a:pt x="55089" y="0"/>
                  </a:moveTo>
                  <a:lnTo>
                    <a:pt x="1832579" y="0"/>
                  </a:lnTo>
                  <a:cubicBezTo>
                    <a:pt x="1863004" y="0"/>
                    <a:pt x="1887668" y="24664"/>
                    <a:pt x="1887668" y="55089"/>
                  </a:cubicBezTo>
                  <a:lnTo>
                    <a:pt x="1887668" y="328838"/>
                  </a:lnTo>
                  <a:cubicBezTo>
                    <a:pt x="1887668" y="343449"/>
                    <a:pt x="1881864" y="357461"/>
                    <a:pt x="1871533" y="367792"/>
                  </a:cubicBezTo>
                  <a:cubicBezTo>
                    <a:pt x="1861202" y="378123"/>
                    <a:pt x="1847190" y="383927"/>
                    <a:pt x="1832579" y="383927"/>
                  </a:cubicBezTo>
                  <a:lnTo>
                    <a:pt x="55089" y="383927"/>
                  </a:lnTo>
                  <a:cubicBezTo>
                    <a:pt x="24664" y="383927"/>
                    <a:pt x="0" y="359263"/>
                    <a:pt x="0" y="328838"/>
                  </a:cubicBezTo>
                  <a:lnTo>
                    <a:pt x="0" y="55089"/>
                  </a:lnTo>
                  <a:cubicBezTo>
                    <a:pt x="0" y="24664"/>
                    <a:pt x="24664" y="0"/>
                    <a:pt x="55089" y="0"/>
                  </a:cubicBezTo>
                  <a:close/>
                </a:path>
              </a:pathLst>
            </a:custGeom>
            <a:solidFill>
              <a:srgbClr val="577550"/>
            </a:solidFill>
          </p:spPr>
        </p:sp>
        <p:sp>
          <p:nvSpPr>
            <p:cNvPr name="TextBox 7" id="7"/>
            <p:cNvSpPr txBox="true"/>
            <p:nvPr/>
          </p:nvSpPr>
          <p:spPr>
            <a:xfrm>
              <a:off x="0" y="-333375"/>
              <a:ext cx="1887668" cy="717302"/>
            </a:xfrm>
            <a:prstGeom prst="rect">
              <a:avLst/>
            </a:prstGeom>
          </p:spPr>
          <p:txBody>
            <a:bodyPr anchor="ctr" rtlCol="false" tIns="50800" lIns="50800" bIns="50800" rIns="50800"/>
            <a:lstStyle/>
            <a:p>
              <a:pPr algn="ctr">
                <a:lnSpc>
                  <a:spcPts val="6249"/>
                </a:lnSpc>
              </a:pPr>
            </a:p>
          </p:txBody>
        </p:sp>
      </p:grpSp>
      <p:sp>
        <p:nvSpPr>
          <p:cNvPr name="Freeform 8" id="8"/>
          <p:cNvSpPr/>
          <p:nvPr/>
        </p:nvSpPr>
        <p:spPr>
          <a:xfrm flipH="false" flipV="false" rot="0">
            <a:off x="-1198215" y="2786148"/>
            <a:ext cx="8233291" cy="6472152"/>
          </a:xfrm>
          <a:custGeom>
            <a:avLst/>
            <a:gdLst/>
            <a:ahLst/>
            <a:cxnLst/>
            <a:rect r="r" b="b" t="t" l="l"/>
            <a:pathLst>
              <a:path h="6472152" w="8233291">
                <a:moveTo>
                  <a:pt x="0" y="0"/>
                </a:moveTo>
                <a:lnTo>
                  <a:pt x="8233291" y="0"/>
                </a:lnTo>
                <a:lnTo>
                  <a:pt x="8233291" y="6472152"/>
                </a:lnTo>
                <a:lnTo>
                  <a:pt x="0" y="6472152"/>
                </a:lnTo>
                <a:lnTo>
                  <a:pt x="0" y="0"/>
                </a:lnTo>
                <a:close/>
              </a:path>
            </a:pathLst>
          </a:custGeom>
          <a:blipFill>
            <a:blip r:embed="rId2"/>
            <a:stretch>
              <a:fillRect l="-77698" t="0" r="0" b="-27153"/>
            </a:stretch>
          </a:blipFill>
        </p:spPr>
      </p:sp>
      <p:sp>
        <p:nvSpPr>
          <p:cNvPr name="TextBox 9" id="9"/>
          <p:cNvSpPr txBox="true"/>
          <p:nvPr/>
        </p:nvSpPr>
        <p:spPr>
          <a:xfrm rot="0">
            <a:off x="792163" y="416796"/>
            <a:ext cx="5493069" cy="927110"/>
          </a:xfrm>
          <a:prstGeom prst="rect">
            <a:avLst/>
          </a:prstGeom>
        </p:spPr>
        <p:txBody>
          <a:bodyPr anchor="t" rtlCol="false" tIns="0" lIns="0" bIns="0" rIns="0">
            <a:spAutoFit/>
          </a:bodyPr>
          <a:lstStyle/>
          <a:p>
            <a:pPr algn="l">
              <a:lnSpc>
                <a:spcPts val="6500"/>
              </a:lnSpc>
            </a:pPr>
            <a:r>
              <a:rPr lang="en-US" sz="6500" b="true">
                <a:solidFill>
                  <a:srgbClr val="FFFFFF"/>
                </a:solidFill>
                <a:latin typeface="Poppins Bold"/>
                <a:ea typeface="Poppins Bold"/>
                <a:cs typeface="Poppins Bold"/>
                <a:sym typeface="Poppins Bold"/>
              </a:rPr>
              <a:t>WRITE-SET</a:t>
            </a:r>
          </a:p>
        </p:txBody>
      </p:sp>
      <p:sp>
        <p:nvSpPr>
          <p:cNvPr name="TextBox 10" id="10"/>
          <p:cNvSpPr txBox="true"/>
          <p:nvPr/>
        </p:nvSpPr>
        <p:spPr>
          <a:xfrm rot="0">
            <a:off x="8290614" y="1494913"/>
            <a:ext cx="364836" cy="777832"/>
          </a:xfrm>
          <a:prstGeom prst="rect">
            <a:avLst/>
          </a:prstGeom>
        </p:spPr>
        <p:txBody>
          <a:bodyPr anchor="t" rtlCol="false" tIns="0" lIns="0" bIns="0" rIns="0">
            <a:spAutoFit/>
          </a:bodyPr>
          <a:lstStyle/>
          <a:p>
            <a:pPr algn="l">
              <a:lnSpc>
                <a:spcPts val="6397"/>
              </a:lnSpc>
            </a:pPr>
            <a:r>
              <a:rPr lang="en-US" b="true" sz="4569">
                <a:solidFill>
                  <a:srgbClr val="FFFFFF"/>
                </a:solidFill>
                <a:latin typeface="Canva Sans Bold"/>
                <a:ea typeface="Canva Sans Bold"/>
                <a:cs typeface="Canva Sans Bold"/>
                <a:sym typeface="Canva Sans Bold"/>
              </a:rPr>
              <a:t>1</a:t>
            </a:r>
          </a:p>
        </p:txBody>
      </p:sp>
      <p:sp>
        <p:nvSpPr>
          <p:cNvPr name="TextBox 11" id="11"/>
          <p:cNvSpPr txBox="true"/>
          <p:nvPr/>
        </p:nvSpPr>
        <p:spPr>
          <a:xfrm rot="0">
            <a:off x="7984221" y="1404658"/>
            <a:ext cx="8932323" cy="7382993"/>
          </a:xfrm>
          <a:prstGeom prst="rect">
            <a:avLst/>
          </a:prstGeom>
        </p:spPr>
        <p:txBody>
          <a:bodyPr anchor="t" rtlCol="false" tIns="0" lIns="0" bIns="0" rIns="0">
            <a:spAutoFit/>
          </a:bodyPr>
          <a:lstStyle/>
          <a:p>
            <a:pPr algn="just">
              <a:lnSpc>
                <a:spcPts val="3295"/>
              </a:lnSpc>
            </a:pPr>
          </a:p>
          <a:p>
            <a:pPr algn="just" marL="527074" indent="-263537" lvl="1">
              <a:lnSpc>
                <a:spcPts val="3295"/>
              </a:lnSpc>
              <a:buFont typeface="Arial"/>
              <a:buChar char="•"/>
            </a:pPr>
            <a:r>
              <a:rPr lang="en-US" sz="2441" spc="75" u="none">
                <a:solidFill>
                  <a:srgbClr val="2B2B2B"/>
                </a:solidFill>
                <a:latin typeface="Poppins"/>
                <a:ea typeface="Poppins"/>
                <a:cs typeface="Poppins"/>
                <a:sym typeface="Poppins"/>
              </a:rPr>
              <a:t>A write-set is not just a simple SQL query.</a:t>
            </a:r>
          </a:p>
          <a:p>
            <a:pPr algn="just" marL="527074" indent="-263537" lvl="1">
              <a:lnSpc>
                <a:spcPts val="3295"/>
              </a:lnSpc>
              <a:buFont typeface="Arial"/>
              <a:buChar char="•"/>
            </a:pPr>
            <a:r>
              <a:rPr lang="en-US" sz="2441" spc="75" u="none">
                <a:solidFill>
                  <a:srgbClr val="2B2B2B"/>
                </a:solidFill>
                <a:latin typeface="Poppins"/>
                <a:ea typeface="Poppins"/>
                <a:cs typeface="Poppins"/>
                <a:sym typeface="Poppins"/>
              </a:rPr>
              <a:t>It is a detailed list of all the data changes made by a transaction.</a:t>
            </a:r>
          </a:p>
          <a:p>
            <a:pPr algn="just" marL="527074" indent="-263537" lvl="1">
              <a:lnSpc>
                <a:spcPts val="3295"/>
              </a:lnSpc>
              <a:buFont typeface="Arial"/>
              <a:buChar char="•"/>
            </a:pPr>
            <a:r>
              <a:rPr lang="en-US" sz="2441" spc="75" u="none">
                <a:solidFill>
                  <a:srgbClr val="2B2B2B"/>
                </a:solidFill>
                <a:latin typeface="Poppins"/>
                <a:ea typeface="Poppins"/>
                <a:cs typeface="Poppins"/>
                <a:sym typeface="Poppins"/>
              </a:rPr>
              <a:t>Instead of sending the original SQL query, Galera sends this write-set to other nodes.</a:t>
            </a:r>
          </a:p>
          <a:p>
            <a:pPr algn="just" marL="527074" indent="-263537" lvl="1">
              <a:lnSpc>
                <a:spcPts val="3295"/>
              </a:lnSpc>
              <a:buFont typeface="Arial"/>
              <a:buChar char="•"/>
            </a:pPr>
            <a:r>
              <a:rPr lang="en-US" sz="2441" spc="75" u="none">
                <a:solidFill>
                  <a:srgbClr val="2B2B2B"/>
                </a:solidFill>
                <a:latin typeface="Poppins"/>
                <a:ea typeface="Poppins"/>
                <a:cs typeface="Poppins"/>
                <a:sym typeface="Poppins"/>
              </a:rPr>
              <a:t>The write-set contains all the rows and columns that were changed during the transaction.</a:t>
            </a:r>
          </a:p>
          <a:p>
            <a:pPr algn="just" marL="527074" indent="-263537" lvl="1">
              <a:lnSpc>
                <a:spcPts val="3295"/>
              </a:lnSpc>
              <a:buFont typeface="Arial"/>
              <a:buChar char="•"/>
            </a:pPr>
            <a:r>
              <a:rPr lang="en-US" sz="2441" spc="75" u="none">
                <a:solidFill>
                  <a:srgbClr val="2B2B2B"/>
                </a:solidFill>
                <a:latin typeface="Poppins"/>
                <a:ea typeface="Poppins"/>
                <a:cs typeface="Poppins"/>
                <a:sym typeface="Poppins"/>
              </a:rPr>
              <a:t>This helps Galera ensure all nodes apply exactly the same changes in the same order.</a:t>
            </a:r>
          </a:p>
          <a:p>
            <a:pPr algn="just" marL="527074" indent="-263537" lvl="1">
              <a:lnSpc>
                <a:spcPts val="3295"/>
              </a:lnSpc>
              <a:buFont typeface="Arial"/>
              <a:buChar char="•"/>
            </a:pPr>
            <a:r>
              <a:rPr lang="en-US" sz="2441" spc="75" u="none">
                <a:solidFill>
                  <a:srgbClr val="2B2B2B"/>
                </a:solidFill>
                <a:latin typeface="Poppins"/>
                <a:ea typeface="Poppins"/>
                <a:cs typeface="Poppins"/>
                <a:sym typeface="Poppins"/>
              </a:rPr>
              <a:t>Using write-sets improves consistency and speed in multi-master replication.</a:t>
            </a:r>
          </a:p>
          <a:p>
            <a:pPr algn="just" marL="527074" indent="-263537" lvl="1">
              <a:lnSpc>
                <a:spcPts val="3295"/>
              </a:lnSpc>
              <a:buFont typeface="Arial"/>
              <a:buChar char="•"/>
            </a:pPr>
            <a:r>
              <a:rPr lang="en-US" sz="2441" spc="75" u="none">
                <a:solidFill>
                  <a:srgbClr val="2B2B2B"/>
                </a:solidFill>
                <a:latin typeface="Poppins"/>
                <a:ea typeface="Poppins"/>
                <a:cs typeface="Poppins"/>
                <a:sym typeface="Poppins"/>
              </a:rPr>
              <a:t>But a write-set never mixes changes from different transactions—each transaction has its own write-set</a:t>
            </a:r>
          </a:p>
          <a:p>
            <a:pPr algn="just" marL="527074" indent="-263537" lvl="1">
              <a:lnSpc>
                <a:spcPts val="3295"/>
              </a:lnSpc>
              <a:buFont typeface="Arial"/>
              <a:buChar char="•"/>
            </a:pPr>
            <a:r>
              <a:rPr lang="en-US" b="true" sz="2441" spc="75" u="none">
                <a:solidFill>
                  <a:srgbClr val="2B2B2B"/>
                </a:solidFill>
                <a:latin typeface="Poppins Bold"/>
                <a:ea typeface="Poppins Bold"/>
                <a:cs typeface="Poppins Bold"/>
                <a:sym typeface="Poppins Bold"/>
              </a:rPr>
              <a:t> One write-set = all changes from one transaction (which may have multiple queries).</a:t>
            </a:r>
          </a:p>
          <a:p>
            <a:pPr algn="just">
              <a:lnSpc>
                <a:spcPts val="3295"/>
              </a:lnSpc>
            </a:pPr>
          </a:p>
        </p:txBody>
      </p:sp>
      <p:sp>
        <p:nvSpPr>
          <p:cNvPr name="TextBox 12" id="12"/>
          <p:cNvSpPr txBox="true"/>
          <p:nvPr/>
        </p:nvSpPr>
        <p:spPr>
          <a:xfrm rot="0">
            <a:off x="8290614" y="3418038"/>
            <a:ext cx="364836" cy="777832"/>
          </a:xfrm>
          <a:prstGeom prst="rect">
            <a:avLst/>
          </a:prstGeom>
        </p:spPr>
        <p:txBody>
          <a:bodyPr anchor="t" rtlCol="false" tIns="0" lIns="0" bIns="0" rIns="0">
            <a:spAutoFit/>
          </a:bodyPr>
          <a:lstStyle/>
          <a:p>
            <a:pPr algn="l">
              <a:lnSpc>
                <a:spcPts val="6397"/>
              </a:lnSpc>
            </a:pPr>
            <a:r>
              <a:rPr lang="en-US" b="true" sz="4569">
                <a:solidFill>
                  <a:srgbClr val="FFFFFF"/>
                </a:solidFill>
                <a:latin typeface="Canva Sans Bold"/>
                <a:ea typeface="Canva Sans Bold"/>
                <a:cs typeface="Canva Sans Bold"/>
                <a:sym typeface="Canva Sans Bold"/>
              </a:rPr>
              <a:t>2</a:t>
            </a:r>
          </a:p>
        </p:txBody>
      </p:sp>
      <p:sp>
        <p:nvSpPr>
          <p:cNvPr name="TextBox 13" id="13"/>
          <p:cNvSpPr txBox="true"/>
          <p:nvPr/>
        </p:nvSpPr>
        <p:spPr>
          <a:xfrm rot="0">
            <a:off x="8290614" y="5345502"/>
            <a:ext cx="364836" cy="777832"/>
          </a:xfrm>
          <a:prstGeom prst="rect">
            <a:avLst/>
          </a:prstGeom>
        </p:spPr>
        <p:txBody>
          <a:bodyPr anchor="t" rtlCol="false" tIns="0" lIns="0" bIns="0" rIns="0">
            <a:spAutoFit/>
          </a:bodyPr>
          <a:lstStyle/>
          <a:p>
            <a:pPr algn="l">
              <a:lnSpc>
                <a:spcPts val="6397"/>
              </a:lnSpc>
            </a:pPr>
            <a:r>
              <a:rPr lang="en-US" b="true" sz="4569">
                <a:solidFill>
                  <a:srgbClr val="FFFFFF"/>
                </a:solidFill>
                <a:latin typeface="Canva Sans Bold"/>
                <a:ea typeface="Canva Sans Bold"/>
                <a:cs typeface="Canva Sans Bold"/>
                <a:sym typeface="Canva Sans Bold"/>
              </a:rPr>
              <a:t>3</a:t>
            </a:r>
          </a:p>
        </p:txBody>
      </p:sp>
      <p:sp>
        <p:nvSpPr>
          <p:cNvPr name="TextBox 14" id="14"/>
          <p:cNvSpPr txBox="true"/>
          <p:nvPr/>
        </p:nvSpPr>
        <p:spPr>
          <a:xfrm rot="0">
            <a:off x="8290614" y="7272965"/>
            <a:ext cx="364836" cy="777832"/>
          </a:xfrm>
          <a:prstGeom prst="rect">
            <a:avLst/>
          </a:prstGeom>
        </p:spPr>
        <p:txBody>
          <a:bodyPr anchor="t" rtlCol="false" tIns="0" lIns="0" bIns="0" rIns="0">
            <a:spAutoFit/>
          </a:bodyPr>
          <a:lstStyle/>
          <a:p>
            <a:pPr algn="l">
              <a:lnSpc>
                <a:spcPts val="6397"/>
              </a:lnSpc>
            </a:pPr>
            <a:r>
              <a:rPr lang="en-US" b="true" sz="4569">
                <a:solidFill>
                  <a:srgbClr val="FFFFFF"/>
                </a:solidFill>
                <a:latin typeface="Canva Sans Bold"/>
                <a:ea typeface="Canva Sans Bold"/>
                <a:cs typeface="Canva Sans Bold"/>
                <a:sym typeface="Canva Sans Bold"/>
              </a:rPr>
              <a:t>4</a:t>
            </a:r>
          </a:p>
        </p:txBody>
      </p:sp>
      <p:sp>
        <p:nvSpPr>
          <p:cNvPr name="TextBox 15" id="15"/>
          <p:cNvSpPr txBox="true"/>
          <p:nvPr/>
        </p:nvSpPr>
        <p:spPr>
          <a:xfrm rot="0">
            <a:off x="469190" y="3179835"/>
            <a:ext cx="6139013" cy="5650229"/>
          </a:xfrm>
          <a:prstGeom prst="rect">
            <a:avLst/>
          </a:prstGeom>
        </p:spPr>
        <p:txBody>
          <a:bodyPr anchor="t" rtlCol="false" tIns="0" lIns="0" bIns="0" rIns="0">
            <a:spAutoFit/>
          </a:bodyPr>
          <a:lstStyle/>
          <a:p>
            <a:pPr algn="ctr" marL="518165" indent="-259082" lvl="1">
              <a:lnSpc>
                <a:spcPts val="3360"/>
              </a:lnSpc>
              <a:buFont typeface="Arial"/>
              <a:buChar char="•"/>
            </a:pPr>
            <a:r>
              <a:rPr lang="en-US" sz="2400">
                <a:solidFill>
                  <a:srgbClr val="FFFFFF"/>
                </a:solidFill>
                <a:latin typeface="Canva Sans"/>
                <a:ea typeface="Canva Sans"/>
                <a:cs typeface="Canva Sans"/>
                <a:sym typeface="Canva Sans"/>
              </a:rPr>
              <a:t>Each no</a:t>
            </a:r>
            <a:r>
              <a:rPr lang="en-US" sz="2400">
                <a:solidFill>
                  <a:srgbClr val="FFFFFF"/>
                </a:solidFill>
                <a:latin typeface="Canva Sans"/>
                <a:ea typeface="Canva Sans"/>
                <a:cs typeface="Canva Sans"/>
                <a:sym typeface="Canva Sans"/>
              </a:rPr>
              <a:t>de in a Galera Cluster has some worker threads (called slave threads).</a:t>
            </a:r>
          </a:p>
          <a:p>
            <a:pPr algn="ctr">
              <a:lnSpc>
                <a:spcPts val="3360"/>
              </a:lnSpc>
            </a:pPr>
            <a:r>
              <a:rPr lang="en-US" sz="2400" spc="74">
                <a:solidFill>
                  <a:srgbClr val="FFFFFF"/>
                </a:solidFill>
                <a:latin typeface="Canva Sans"/>
                <a:ea typeface="Canva Sans"/>
                <a:cs typeface="Canva Sans"/>
                <a:sym typeface="Canva Sans"/>
              </a:rPr>
              <a:t> These threads are responsible for applying the write-sets (changes) that the node receives from other nodes.</a:t>
            </a:r>
          </a:p>
          <a:p>
            <a:pPr algn="ctr">
              <a:lnSpc>
                <a:spcPts val="3360"/>
              </a:lnSpc>
            </a:pPr>
            <a:r>
              <a:rPr lang="en-US" sz="2400" spc="74">
                <a:solidFill>
                  <a:srgbClr val="FFFFFF"/>
                </a:solidFill>
                <a:latin typeface="Canva Sans"/>
                <a:ea typeface="Canva Sans"/>
                <a:cs typeface="Canva Sans"/>
                <a:sym typeface="Canva Sans"/>
              </a:rPr>
              <a:t>You can control how many of these threads run by changing a setting called wsrep_slave_threads.</a:t>
            </a:r>
          </a:p>
          <a:p>
            <a:pPr algn="ctr">
              <a:lnSpc>
                <a:spcPts val="3360"/>
              </a:lnSpc>
            </a:pPr>
            <a:r>
              <a:rPr lang="en-US" sz="2400" spc="74">
                <a:solidFill>
                  <a:srgbClr val="FFFFFF"/>
                </a:solidFill>
                <a:latin typeface="Canva Sans"/>
                <a:ea typeface="Canva Sans"/>
                <a:cs typeface="Canva Sans"/>
                <a:sym typeface="Canva Sans"/>
              </a:rPr>
              <a:t>More threads = faster applying of changes (useful when your node is busy).</a:t>
            </a:r>
          </a:p>
          <a:p>
            <a:pPr algn="ctr">
              <a:lnSpc>
                <a:spcPts val="3360"/>
              </a:lnSpc>
            </a:pPr>
            <a:r>
              <a:rPr lang="en-US" sz="2400" spc="74">
                <a:solidFill>
                  <a:srgbClr val="FFFFFF"/>
                </a:solidFill>
                <a:latin typeface="Canva Sans"/>
                <a:ea typeface="Canva Sans"/>
                <a:cs typeface="Canva Sans"/>
                <a:sym typeface="Canva Sans"/>
              </a:rPr>
              <a:t>Fewer threads = uses less CPU.</a:t>
            </a:r>
          </a:p>
          <a:p>
            <a:pPr algn="ctr">
              <a:lnSpc>
                <a:spcPts val="1680"/>
              </a:lnSpc>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EFFFA"/>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028700" y="1028700"/>
            <a:ext cx="778457" cy="778457"/>
            <a:chOff x="0" y="0"/>
            <a:chExt cx="495300" cy="495300"/>
          </a:xfrm>
        </p:grpSpPr>
        <p:sp>
          <p:nvSpPr>
            <p:cNvPr name="Freeform 3" id="3"/>
            <p:cNvSpPr/>
            <p:nvPr/>
          </p:nvSpPr>
          <p:spPr>
            <a:xfrm flipH="false" flipV="false" rot="0">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577550"/>
            </a:solidFill>
          </p:spPr>
        </p:sp>
        <p:sp>
          <p:nvSpPr>
            <p:cNvPr name="Freeform 4" id="4"/>
            <p:cNvSpPr/>
            <p:nvPr/>
          </p:nvSpPr>
          <p:spPr>
            <a:xfrm flipH="false" flipV="false" rot="0">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FEFFFA"/>
            </a:solidFill>
          </p:spPr>
        </p:sp>
      </p:grpSp>
      <p:grpSp>
        <p:nvGrpSpPr>
          <p:cNvPr name="Group 5" id="5"/>
          <p:cNvGrpSpPr/>
          <p:nvPr/>
        </p:nvGrpSpPr>
        <p:grpSpPr>
          <a:xfrm rot="0">
            <a:off x="1028700" y="8475178"/>
            <a:ext cx="896220" cy="2485261"/>
            <a:chOff x="0" y="0"/>
            <a:chExt cx="236041" cy="654554"/>
          </a:xfrm>
        </p:grpSpPr>
        <p:sp>
          <p:nvSpPr>
            <p:cNvPr name="Freeform 6" id="6"/>
            <p:cNvSpPr/>
            <p:nvPr/>
          </p:nvSpPr>
          <p:spPr>
            <a:xfrm flipH="false" flipV="false" rot="0">
              <a:off x="0" y="0"/>
              <a:ext cx="236041" cy="654554"/>
            </a:xfrm>
            <a:custGeom>
              <a:avLst/>
              <a:gdLst/>
              <a:ahLst/>
              <a:cxnLst/>
              <a:rect r="r" b="b" t="t" l="l"/>
              <a:pathLst>
                <a:path h="654554" w="236041">
                  <a:moveTo>
                    <a:pt x="118021" y="0"/>
                  </a:moveTo>
                  <a:lnTo>
                    <a:pt x="118021" y="0"/>
                  </a:lnTo>
                  <a:cubicBezTo>
                    <a:pt x="149322" y="0"/>
                    <a:pt x="179341" y="12434"/>
                    <a:pt x="201474" y="34567"/>
                  </a:cubicBezTo>
                  <a:cubicBezTo>
                    <a:pt x="223607" y="56701"/>
                    <a:pt x="236041" y="86720"/>
                    <a:pt x="236041" y="118021"/>
                  </a:cubicBezTo>
                  <a:lnTo>
                    <a:pt x="236041" y="536534"/>
                  </a:lnTo>
                  <a:cubicBezTo>
                    <a:pt x="236041" y="567835"/>
                    <a:pt x="223607" y="597854"/>
                    <a:pt x="201474" y="619987"/>
                  </a:cubicBezTo>
                  <a:cubicBezTo>
                    <a:pt x="179341" y="642120"/>
                    <a:pt x="149322" y="654554"/>
                    <a:pt x="118021" y="654554"/>
                  </a:cubicBezTo>
                  <a:lnTo>
                    <a:pt x="118021" y="654554"/>
                  </a:lnTo>
                  <a:cubicBezTo>
                    <a:pt x="86720" y="654554"/>
                    <a:pt x="56701" y="642120"/>
                    <a:pt x="34567" y="619987"/>
                  </a:cubicBezTo>
                  <a:cubicBezTo>
                    <a:pt x="12434" y="597854"/>
                    <a:pt x="0" y="567835"/>
                    <a:pt x="0" y="536534"/>
                  </a:cubicBezTo>
                  <a:lnTo>
                    <a:pt x="0" y="118021"/>
                  </a:lnTo>
                  <a:cubicBezTo>
                    <a:pt x="0" y="86720"/>
                    <a:pt x="12434" y="56701"/>
                    <a:pt x="34567" y="34567"/>
                  </a:cubicBezTo>
                  <a:cubicBezTo>
                    <a:pt x="56701" y="12434"/>
                    <a:pt x="86720" y="0"/>
                    <a:pt x="118021" y="0"/>
                  </a:cubicBezTo>
                  <a:close/>
                </a:path>
              </a:pathLst>
            </a:custGeom>
            <a:solidFill>
              <a:srgbClr val="577550"/>
            </a:solidFill>
          </p:spPr>
        </p:sp>
        <p:sp>
          <p:nvSpPr>
            <p:cNvPr name="TextBox 7" id="7"/>
            <p:cNvSpPr txBox="true"/>
            <p:nvPr/>
          </p:nvSpPr>
          <p:spPr>
            <a:xfrm>
              <a:off x="0" y="-47625"/>
              <a:ext cx="236041" cy="702179"/>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5400000">
            <a:off x="15960310" y="2134023"/>
            <a:ext cx="2597980" cy="387335"/>
          </a:xfrm>
          <a:custGeom>
            <a:avLst/>
            <a:gdLst/>
            <a:ahLst/>
            <a:cxnLst/>
            <a:rect r="r" b="b" t="t" l="l"/>
            <a:pathLst>
              <a:path h="387335" w="2597980">
                <a:moveTo>
                  <a:pt x="0" y="0"/>
                </a:moveTo>
                <a:lnTo>
                  <a:pt x="2597980" y="0"/>
                </a:lnTo>
                <a:lnTo>
                  <a:pt x="2597980" y="387335"/>
                </a:lnTo>
                <a:lnTo>
                  <a:pt x="0" y="387335"/>
                </a:lnTo>
                <a:lnTo>
                  <a:pt x="0" y="0"/>
                </a:lnTo>
                <a:close/>
              </a:path>
            </a:pathLst>
          </a:custGeom>
          <a:blipFill>
            <a:blip r:embed="rId2">
              <a:alphaModFix amt="26000"/>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1028700" y="2194340"/>
            <a:ext cx="8115300" cy="1201544"/>
          </a:xfrm>
          <a:prstGeom prst="rect">
            <a:avLst/>
          </a:prstGeom>
        </p:spPr>
        <p:txBody>
          <a:bodyPr anchor="t" rtlCol="false" tIns="0" lIns="0" bIns="0" rIns="0">
            <a:spAutoFit/>
          </a:bodyPr>
          <a:lstStyle/>
          <a:p>
            <a:pPr algn="l">
              <a:lnSpc>
                <a:spcPts val="9898"/>
              </a:lnSpc>
              <a:spcBef>
                <a:spcPct val="0"/>
              </a:spcBef>
            </a:pPr>
            <a:r>
              <a:rPr lang="en-US" sz="7070">
                <a:solidFill>
                  <a:srgbClr val="134E1A"/>
                </a:solidFill>
                <a:latin typeface="League Spartan"/>
                <a:ea typeface="League Spartan"/>
                <a:cs typeface="League Spartan"/>
                <a:sym typeface="League Spartan"/>
              </a:rPr>
              <a:t>GALERA CACHE</a:t>
            </a:r>
          </a:p>
        </p:txBody>
      </p:sp>
      <p:sp>
        <p:nvSpPr>
          <p:cNvPr name="TextBox 10" id="10"/>
          <p:cNvSpPr txBox="true"/>
          <p:nvPr/>
        </p:nvSpPr>
        <p:spPr>
          <a:xfrm rot="0">
            <a:off x="1417928" y="3550480"/>
            <a:ext cx="14370789" cy="4377627"/>
          </a:xfrm>
          <a:prstGeom prst="rect">
            <a:avLst/>
          </a:prstGeom>
        </p:spPr>
        <p:txBody>
          <a:bodyPr anchor="t" rtlCol="false" tIns="0" lIns="0" bIns="0" rIns="0">
            <a:spAutoFit/>
          </a:bodyPr>
          <a:lstStyle/>
          <a:p>
            <a:pPr algn="l">
              <a:lnSpc>
                <a:spcPts val="3888"/>
              </a:lnSpc>
              <a:spcBef>
                <a:spcPct val="0"/>
              </a:spcBef>
            </a:pPr>
            <a:r>
              <a:rPr lang="en-US" sz="2777">
                <a:solidFill>
                  <a:srgbClr val="000000"/>
                </a:solidFill>
                <a:latin typeface="Poppins"/>
                <a:ea typeface="Poppins"/>
                <a:cs typeface="Poppins"/>
                <a:sym typeface="Poppins"/>
              </a:rPr>
              <a:t>Galera GCache is a special memory or buffer that stores recent write-sets. It helps nodes that join later to catch up without full sync. Instead of sending all data from the start, the cluster sends only what is stored in GCache. GCache is faster than SST because it avoids full database transfer. It is used during </a:t>
            </a:r>
            <a:r>
              <a:rPr lang="en-US" sz="2777" b="true">
                <a:solidFill>
                  <a:srgbClr val="000000"/>
                </a:solidFill>
                <a:latin typeface="Poppins Bold"/>
                <a:ea typeface="Poppins Bold"/>
                <a:cs typeface="Poppins Bold"/>
                <a:sym typeface="Poppins Bold"/>
              </a:rPr>
              <a:t>IST </a:t>
            </a:r>
            <a:r>
              <a:rPr lang="en-US" sz="2777">
                <a:solidFill>
                  <a:srgbClr val="000000"/>
                </a:solidFill>
                <a:latin typeface="Poppins"/>
                <a:ea typeface="Poppins"/>
                <a:cs typeface="Poppins"/>
                <a:sym typeface="Poppins"/>
              </a:rPr>
              <a:t>(Incremental State Transfer). GCache is stored in each node, and it has a </a:t>
            </a:r>
            <a:r>
              <a:rPr lang="en-US" sz="2777" b="true">
                <a:solidFill>
                  <a:srgbClr val="000000"/>
                </a:solidFill>
                <a:latin typeface="Poppins Bold"/>
                <a:ea typeface="Poppins Bold"/>
                <a:cs typeface="Poppins Bold"/>
                <a:sym typeface="Poppins Bold"/>
              </a:rPr>
              <a:t>fixed size and locally</a:t>
            </a:r>
            <a:r>
              <a:rPr lang="en-US" sz="2777">
                <a:solidFill>
                  <a:srgbClr val="000000"/>
                </a:solidFill>
                <a:latin typeface="Poppins"/>
                <a:ea typeface="Poppins"/>
                <a:cs typeface="Poppins"/>
                <a:sym typeface="Poppins"/>
              </a:rPr>
              <a:t>. If it is full, older data is removed. If a node was offline for a long time, and its needed data is no longer in GCache, SST will be used. So, having a large enough GCache helps prevent full syncs. GCache works with writesets and uses seqno to track data changes.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EFFFA"/>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028700" y="1028700"/>
            <a:ext cx="778457" cy="778457"/>
            <a:chOff x="0" y="0"/>
            <a:chExt cx="495300" cy="495300"/>
          </a:xfrm>
        </p:grpSpPr>
        <p:sp>
          <p:nvSpPr>
            <p:cNvPr name="Freeform 3" id="3"/>
            <p:cNvSpPr/>
            <p:nvPr/>
          </p:nvSpPr>
          <p:spPr>
            <a:xfrm flipH="false" flipV="false" rot="0">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577550"/>
            </a:solidFill>
          </p:spPr>
        </p:sp>
        <p:sp>
          <p:nvSpPr>
            <p:cNvPr name="Freeform 4" id="4"/>
            <p:cNvSpPr/>
            <p:nvPr/>
          </p:nvSpPr>
          <p:spPr>
            <a:xfrm flipH="false" flipV="false" rot="0">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FEFFFA"/>
            </a:solidFill>
          </p:spPr>
        </p:sp>
      </p:grpSp>
      <p:grpSp>
        <p:nvGrpSpPr>
          <p:cNvPr name="Group 5" id="5"/>
          <p:cNvGrpSpPr/>
          <p:nvPr/>
        </p:nvGrpSpPr>
        <p:grpSpPr>
          <a:xfrm rot="0">
            <a:off x="1028700" y="8475178"/>
            <a:ext cx="896220" cy="2485261"/>
            <a:chOff x="0" y="0"/>
            <a:chExt cx="236041" cy="654554"/>
          </a:xfrm>
        </p:grpSpPr>
        <p:sp>
          <p:nvSpPr>
            <p:cNvPr name="Freeform 6" id="6"/>
            <p:cNvSpPr/>
            <p:nvPr/>
          </p:nvSpPr>
          <p:spPr>
            <a:xfrm flipH="false" flipV="false" rot="0">
              <a:off x="0" y="0"/>
              <a:ext cx="236041" cy="654554"/>
            </a:xfrm>
            <a:custGeom>
              <a:avLst/>
              <a:gdLst/>
              <a:ahLst/>
              <a:cxnLst/>
              <a:rect r="r" b="b" t="t" l="l"/>
              <a:pathLst>
                <a:path h="654554" w="236041">
                  <a:moveTo>
                    <a:pt x="118021" y="0"/>
                  </a:moveTo>
                  <a:lnTo>
                    <a:pt x="118021" y="0"/>
                  </a:lnTo>
                  <a:cubicBezTo>
                    <a:pt x="149322" y="0"/>
                    <a:pt x="179341" y="12434"/>
                    <a:pt x="201474" y="34567"/>
                  </a:cubicBezTo>
                  <a:cubicBezTo>
                    <a:pt x="223607" y="56701"/>
                    <a:pt x="236041" y="86720"/>
                    <a:pt x="236041" y="118021"/>
                  </a:cubicBezTo>
                  <a:lnTo>
                    <a:pt x="236041" y="536534"/>
                  </a:lnTo>
                  <a:cubicBezTo>
                    <a:pt x="236041" y="567835"/>
                    <a:pt x="223607" y="597854"/>
                    <a:pt x="201474" y="619987"/>
                  </a:cubicBezTo>
                  <a:cubicBezTo>
                    <a:pt x="179341" y="642120"/>
                    <a:pt x="149322" y="654554"/>
                    <a:pt x="118021" y="654554"/>
                  </a:cubicBezTo>
                  <a:lnTo>
                    <a:pt x="118021" y="654554"/>
                  </a:lnTo>
                  <a:cubicBezTo>
                    <a:pt x="86720" y="654554"/>
                    <a:pt x="56701" y="642120"/>
                    <a:pt x="34567" y="619987"/>
                  </a:cubicBezTo>
                  <a:cubicBezTo>
                    <a:pt x="12434" y="597854"/>
                    <a:pt x="0" y="567835"/>
                    <a:pt x="0" y="536534"/>
                  </a:cubicBezTo>
                  <a:lnTo>
                    <a:pt x="0" y="118021"/>
                  </a:lnTo>
                  <a:cubicBezTo>
                    <a:pt x="0" y="86720"/>
                    <a:pt x="12434" y="56701"/>
                    <a:pt x="34567" y="34567"/>
                  </a:cubicBezTo>
                  <a:cubicBezTo>
                    <a:pt x="56701" y="12434"/>
                    <a:pt x="86720" y="0"/>
                    <a:pt x="118021" y="0"/>
                  </a:cubicBezTo>
                  <a:close/>
                </a:path>
              </a:pathLst>
            </a:custGeom>
            <a:solidFill>
              <a:srgbClr val="577550"/>
            </a:solidFill>
          </p:spPr>
        </p:sp>
        <p:sp>
          <p:nvSpPr>
            <p:cNvPr name="TextBox 7" id="7"/>
            <p:cNvSpPr txBox="true"/>
            <p:nvPr/>
          </p:nvSpPr>
          <p:spPr>
            <a:xfrm>
              <a:off x="0" y="-47625"/>
              <a:ext cx="236041" cy="702179"/>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5400000">
            <a:off x="15960310" y="2134023"/>
            <a:ext cx="2597980" cy="387335"/>
          </a:xfrm>
          <a:custGeom>
            <a:avLst/>
            <a:gdLst/>
            <a:ahLst/>
            <a:cxnLst/>
            <a:rect r="r" b="b" t="t" l="l"/>
            <a:pathLst>
              <a:path h="387335" w="2597980">
                <a:moveTo>
                  <a:pt x="0" y="0"/>
                </a:moveTo>
                <a:lnTo>
                  <a:pt x="2597980" y="0"/>
                </a:lnTo>
                <a:lnTo>
                  <a:pt x="2597980" y="387335"/>
                </a:lnTo>
                <a:lnTo>
                  <a:pt x="0" y="387335"/>
                </a:lnTo>
                <a:lnTo>
                  <a:pt x="0" y="0"/>
                </a:lnTo>
                <a:close/>
              </a:path>
            </a:pathLst>
          </a:custGeom>
          <a:blipFill>
            <a:blip r:embed="rId2">
              <a:alphaModFix amt="26000"/>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1028700" y="1878618"/>
            <a:ext cx="8115300" cy="1201544"/>
          </a:xfrm>
          <a:prstGeom prst="rect">
            <a:avLst/>
          </a:prstGeom>
        </p:spPr>
        <p:txBody>
          <a:bodyPr anchor="t" rtlCol="false" tIns="0" lIns="0" bIns="0" rIns="0">
            <a:spAutoFit/>
          </a:bodyPr>
          <a:lstStyle/>
          <a:p>
            <a:pPr algn="l">
              <a:lnSpc>
                <a:spcPts val="9898"/>
              </a:lnSpc>
              <a:spcBef>
                <a:spcPct val="0"/>
              </a:spcBef>
            </a:pPr>
            <a:r>
              <a:rPr lang="en-US" sz="7070">
                <a:solidFill>
                  <a:srgbClr val="134E1A"/>
                </a:solidFill>
                <a:latin typeface="League Spartan"/>
                <a:ea typeface="League Spartan"/>
                <a:cs typeface="League Spartan"/>
                <a:sym typeface="League Spartan"/>
              </a:rPr>
              <a:t>GALERA CACHE</a:t>
            </a:r>
          </a:p>
        </p:txBody>
      </p:sp>
      <p:sp>
        <p:nvSpPr>
          <p:cNvPr name="TextBox 10" id="10"/>
          <p:cNvSpPr txBox="true"/>
          <p:nvPr/>
        </p:nvSpPr>
        <p:spPr>
          <a:xfrm rot="0">
            <a:off x="1417928" y="3223037"/>
            <a:ext cx="13748869" cy="5853227"/>
          </a:xfrm>
          <a:prstGeom prst="rect">
            <a:avLst/>
          </a:prstGeom>
        </p:spPr>
        <p:txBody>
          <a:bodyPr anchor="t" rtlCol="false" tIns="0" lIns="0" bIns="0" rIns="0">
            <a:spAutoFit/>
          </a:bodyPr>
          <a:lstStyle/>
          <a:p>
            <a:pPr algn="l">
              <a:lnSpc>
                <a:spcPts val="3637"/>
              </a:lnSpc>
              <a:spcBef>
                <a:spcPct val="0"/>
              </a:spcBef>
            </a:pPr>
            <a:r>
              <a:rPr lang="en-US" sz="2598">
                <a:solidFill>
                  <a:srgbClr val="000000"/>
                </a:solidFill>
                <a:latin typeface="Poppins"/>
                <a:ea typeface="Poppins"/>
                <a:cs typeface="Poppins"/>
                <a:sym typeface="Poppins"/>
              </a:rPr>
              <a:t>In Galera Cluster, when one node finishes a transaction(committe), it creates a "write-set" that contains all the changes. This write-set is sent to all other nodes in the cluster. Each node receives it confirmed and applies the changes in the same order. Then write-set is also saved in a special memory area called gcache, so if a node falls behind later, it can catch up using that. </a:t>
            </a:r>
          </a:p>
          <a:p>
            <a:pPr algn="l">
              <a:lnSpc>
                <a:spcPts val="3637"/>
              </a:lnSpc>
              <a:spcBef>
                <a:spcPct val="0"/>
              </a:spcBef>
            </a:pPr>
          </a:p>
          <a:p>
            <a:pPr algn="l">
              <a:lnSpc>
                <a:spcPts val="3637"/>
              </a:lnSpc>
              <a:spcBef>
                <a:spcPct val="0"/>
              </a:spcBef>
            </a:pPr>
            <a:r>
              <a:rPr lang="en-US" sz="2598">
                <a:solidFill>
                  <a:srgbClr val="000000"/>
                </a:solidFill>
                <a:latin typeface="Poppins"/>
                <a:ea typeface="Poppins"/>
                <a:cs typeface="Poppins"/>
                <a:sym typeface="Poppins"/>
              </a:rPr>
              <a:t>view the contents of the gcache file using: </a:t>
            </a:r>
            <a:r>
              <a:rPr lang="en-US" sz="2598" b="true">
                <a:solidFill>
                  <a:srgbClr val="000000"/>
                </a:solidFill>
                <a:latin typeface="Poppins Bold"/>
                <a:ea typeface="Poppins Bold"/>
                <a:cs typeface="Poppins Bold"/>
                <a:sym typeface="Poppins Bold"/>
              </a:rPr>
              <a:t>sudo cat /var/lib/mysql/galera.cache </a:t>
            </a:r>
            <a:r>
              <a:rPr lang="en-US" sz="2598">
                <a:solidFill>
                  <a:srgbClr val="000000"/>
                </a:solidFill>
                <a:latin typeface="Poppins"/>
                <a:ea typeface="Poppins"/>
                <a:cs typeface="Poppins"/>
                <a:sym typeface="Poppins"/>
              </a:rPr>
              <a:t>However, since this file is in binary format, it won't be readable as plain text.so use </a:t>
            </a:r>
            <a:r>
              <a:rPr lang="en-US" sz="2598" b="true">
                <a:solidFill>
                  <a:srgbClr val="000000"/>
                </a:solidFill>
                <a:latin typeface="Poppins Bold"/>
                <a:ea typeface="Poppins Bold"/>
                <a:cs typeface="Poppins Bold"/>
                <a:sym typeface="Poppins Bold"/>
              </a:rPr>
              <a:t>sudo strings /path/to/galera.cache </a:t>
            </a:r>
            <a:r>
              <a:rPr lang="en-US" sz="2598">
                <a:solidFill>
                  <a:srgbClr val="000000"/>
                </a:solidFill>
                <a:latin typeface="Poppins"/>
                <a:ea typeface="Poppins"/>
                <a:cs typeface="Poppins"/>
                <a:sym typeface="Poppins"/>
              </a:rPr>
              <a:t>some parts will still remain unclear or unknown because they are stored in binary or encoded formats.</a:t>
            </a:r>
          </a:p>
          <a:p>
            <a:pPr algn="l">
              <a:lnSpc>
                <a:spcPts val="3637"/>
              </a:lnSpc>
              <a:spcBef>
                <a:spcPct val="0"/>
              </a:spcBef>
            </a:pPr>
          </a:p>
          <a:p>
            <a:pPr algn="l">
              <a:lnSpc>
                <a:spcPts val="3637"/>
              </a:lnSpc>
              <a:spcBef>
                <a:spcPct val="0"/>
              </a:spcBef>
            </a:pPr>
          </a:p>
          <a:p>
            <a:pPr algn="l">
              <a:lnSpc>
                <a:spcPts val="3637"/>
              </a:lnSpc>
              <a:spcBef>
                <a:spcPct val="0"/>
              </a:spcBef>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EFFFA"/>
        </a:solidFill>
      </p:bgPr>
    </p:bg>
    <p:spTree>
      <p:nvGrpSpPr>
        <p:cNvPr id="1" name=""/>
        <p:cNvGrpSpPr/>
        <p:nvPr/>
      </p:nvGrpSpPr>
      <p:grpSpPr>
        <a:xfrm>
          <a:off x="0" y="0"/>
          <a:ext cx="0" cy="0"/>
          <a:chOff x="0" y="0"/>
          <a:chExt cx="0" cy="0"/>
        </a:xfrm>
      </p:grpSpPr>
      <p:grpSp>
        <p:nvGrpSpPr>
          <p:cNvPr name="Group 2" id="2"/>
          <p:cNvGrpSpPr/>
          <p:nvPr/>
        </p:nvGrpSpPr>
        <p:grpSpPr>
          <a:xfrm rot="0">
            <a:off x="0" y="307975"/>
            <a:ext cx="8293100" cy="1222375"/>
            <a:chOff x="0" y="0"/>
            <a:chExt cx="2184191" cy="321942"/>
          </a:xfrm>
        </p:grpSpPr>
        <p:sp>
          <p:nvSpPr>
            <p:cNvPr name="Freeform 3" id="3"/>
            <p:cNvSpPr/>
            <p:nvPr/>
          </p:nvSpPr>
          <p:spPr>
            <a:xfrm flipH="false" flipV="false" rot="0">
              <a:off x="0" y="0"/>
              <a:ext cx="2184191" cy="321942"/>
            </a:xfrm>
            <a:custGeom>
              <a:avLst/>
              <a:gdLst/>
              <a:ahLst/>
              <a:cxnLst/>
              <a:rect r="r" b="b" t="t" l="l"/>
              <a:pathLst>
                <a:path h="321942" w="2184191">
                  <a:moveTo>
                    <a:pt x="0" y="0"/>
                  </a:moveTo>
                  <a:lnTo>
                    <a:pt x="2184191" y="0"/>
                  </a:lnTo>
                  <a:lnTo>
                    <a:pt x="2184191" y="321942"/>
                  </a:lnTo>
                  <a:lnTo>
                    <a:pt x="0" y="321942"/>
                  </a:lnTo>
                  <a:close/>
                </a:path>
              </a:pathLst>
            </a:custGeom>
            <a:solidFill>
              <a:srgbClr val="577550"/>
            </a:solidFill>
          </p:spPr>
        </p:sp>
        <p:sp>
          <p:nvSpPr>
            <p:cNvPr name="TextBox 4" id="4"/>
            <p:cNvSpPr txBox="true"/>
            <p:nvPr/>
          </p:nvSpPr>
          <p:spPr>
            <a:xfrm>
              <a:off x="0" y="-47625"/>
              <a:ext cx="2184191" cy="369567"/>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9388046" y="461962"/>
            <a:ext cx="3657600" cy="914400"/>
          </a:xfrm>
          <a:custGeom>
            <a:avLst/>
            <a:gdLst/>
            <a:ahLst/>
            <a:cxnLst/>
            <a:rect r="r" b="b" t="t" l="l"/>
            <a:pathLst>
              <a:path h="914400" w="3657600">
                <a:moveTo>
                  <a:pt x="0" y="0"/>
                </a:moveTo>
                <a:lnTo>
                  <a:pt x="3657600" y="0"/>
                </a:lnTo>
                <a:lnTo>
                  <a:pt x="3657600" y="914400"/>
                </a:lnTo>
                <a:lnTo>
                  <a:pt x="0" y="914400"/>
                </a:lnTo>
                <a:lnTo>
                  <a:pt x="0" y="0"/>
                </a:lnTo>
                <a:close/>
              </a:path>
            </a:pathLst>
          </a:custGeom>
          <a:blipFill>
            <a:blip r:embed="rId2">
              <a:alphaModFix amt="46000"/>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522918" y="1748519"/>
            <a:ext cx="7247264" cy="518598"/>
          </a:xfrm>
          <a:prstGeom prst="rect">
            <a:avLst/>
          </a:prstGeom>
        </p:spPr>
        <p:txBody>
          <a:bodyPr anchor="t" rtlCol="false" tIns="0" lIns="0" bIns="0" rIns="0">
            <a:spAutoFit/>
          </a:bodyPr>
          <a:lstStyle/>
          <a:p>
            <a:pPr algn="l">
              <a:lnSpc>
                <a:spcPts val="4242"/>
              </a:lnSpc>
              <a:spcBef>
                <a:spcPct val="0"/>
              </a:spcBef>
            </a:pPr>
            <a:r>
              <a:rPr lang="en-US" sz="3030">
                <a:solidFill>
                  <a:srgbClr val="000000"/>
                </a:solidFill>
                <a:latin typeface="League Spartan"/>
                <a:ea typeface="League Spartan"/>
                <a:cs typeface="League Spartan"/>
                <a:sym typeface="League Spartan"/>
              </a:rPr>
              <a:t>FINDING GCACHE INFORMATION</a:t>
            </a:r>
          </a:p>
        </p:txBody>
      </p:sp>
      <p:sp>
        <p:nvSpPr>
          <p:cNvPr name="TextBox 7" id="7"/>
          <p:cNvSpPr txBox="true"/>
          <p:nvPr/>
        </p:nvSpPr>
        <p:spPr>
          <a:xfrm rot="0">
            <a:off x="860679" y="2476667"/>
            <a:ext cx="17054735" cy="8732246"/>
          </a:xfrm>
          <a:prstGeom prst="rect">
            <a:avLst/>
          </a:prstGeom>
        </p:spPr>
        <p:txBody>
          <a:bodyPr anchor="t" rtlCol="false" tIns="0" lIns="0" bIns="0" rIns="0">
            <a:spAutoFit/>
          </a:bodyPr>
          <a:lstStyle/>
          <a:p>
            <a:pPr algn="l">
              <a:lnSpc>
                <a:spcPts val="3620"/>
              </a:lnSpc>
            </a:pPr>
            <a:r>
              <a:rPr lang="en-US" sz="2585">
                <a:solidFill>
                  <a:srgbClr val="000000"/>
                </a:solidFill>
                <a:latin typeface="Poppins"/>
                <a:ea typeface="Poppins"/>
                <a:cs typeface="Poppins"/>
                <a:sym typeface="Poppins"/>
              </a:rPr>
              <a:t>SHOW VARIABLES LIKE 'wsrep_provider_options';</a:t>
            </a:r>
          </a:p>
          <a:p>
            <a:pPr algn="l" marL="515092" indent="-257546" lvl="1">
              <a:lnSpc>
                <a:spcPts val="3340"/>
              </a:lnSpc>
              <a:buFont typeface="Arial"/>
              <a:buChar char="•"/>
            </a:pPr>
            <a:r>
              <a:rPr lang="en-US" sz="2385">
                <a:solidFill>
                  <a:srgbClr val="000000"/>
                </a:solidFill>
                <a:latin typeface="Poppins"/>
                <a:ea typeface="Poppins"/>
                <a:cs typeface="Poppins"/>
                <a:sym typeface="Poppins"/>
              </a:rPr>
              <a:t>gcache.dir: This is the folder where the node saves its gcache files. Each node has its own folder to store write-sets.</a:t>
            </a:r>
          </a:p>
          <a:p>
            <a:pPr algn="l" marL="515092" indent="-257546" lvl="1">
              <a:lnSpc>
                <a:spcPts val="3340"/>
              </a:lnSpc>
              <a:buFont typeface="Arial"/>
              <a:buChar char="•"/>
            </a:pPr>
            <a:r>
              <a:rPr lang="en-US" sz="2385">
                <a:solidFill>
                  <a:srgbClr val="000000"/>
                </a:solidFill>
                <a:latin typeface="Poppins"/>
                <a:ea typeface="Poppins"/>
                <a:cs typeface="Poppins"/>
                <a:sym typeface="Poppins"/>
              </a:rPr>
              <a:t>gcache.keep_pages_size: This controls how much space is used for keeping old cached data in memory-mapped files, even when it’s not needed right now.</a:t>
            </a:r>
          </a:p>
          <a:p>
            <a:pPr algn="l" marL="515092" indent="-257546" lvl="1">
              <a:lnSpc>
                <a:spcPts val="3340"/>
              </a:lnSpc>
              <a:buFont typeface="Arial"/>
              <a:buChar char="•"/>
            </a:pPr>
            <a:r>
              <a:rPr lang="en-US" sz="2385">
                <a:solidFill>
                  <a:srgbClr val="000000"/>
                </a:solidFill>
                <a:latin typeface="Poppins"/>
                <a:ea typeface="Poppins"/>
                <a:cs typeface="Poppins"/>
                <a:sym typeface="Poppins"/>
              </a:rPr>
              <a:t>gcache.mem_size: This is the maximum RAM that can be used to store write-sets directly in memory. It’s useful if the system has extra RAM.</a:t>
            </a:r>
          </a:p>
          <a:p>
            <a:pPr algn="l" marL="515092" indent="-257546" lvl="1">
              <a:lnSpc>
                <a:spcPts val="3340"/>
              </a:lnSpc>
              <a:buFont typeface="Arial"/>
              <a:buChar char="•"/>
            </a:pPr>
            <a:r>
              <a:rPr lang="en-US" sz="2385">
                <a:solidFill>
                  <a:srgbClr val="000000"/>
                </a:solidFill>
                <a:latin typeface="Poppins"/>
                <a:ea typeface="Poppins"/>
                <a:cs typeface="Poppins"/>
                <a:sym typeface="Poppins"/>
              </a:rPr>
              <a:t>gcache.name: This is the name of the gcache file on disk. It stores write actions (write-sets) so the node can use them later, like after a restart.</a:t>
            </a:r>
          </a:p>
          <a:p>
            <a:pPr algn="l" marL="515092" indent="-257546" lvl="1">
              <a:lnSpc>
                <a:spcPts val="3340"/>
              </a:lnSpc>
              <a:buFont typeface="Arial"/>
              <a:buChar char="•"/>
            </a:pPr>
            <a:r>
              <a:rPr lang="en-US" sz="2385">
                <a:solidFill>
                  <a:srgbClr val="000000"/>
                </a:solidFill>
                <a:latin typeface="Poppins"/>
                <a:ea typeface="Poppins"/>
                <a:cs typeface="Poppins"/>
                <a:sym typeface="Poppins"/>
              </a:rPr>
              <a:t>gcache.page_size: This is the size of each data block (called a page) saved in the gcache file. The data is stored in these pages.</a:t>
            </a:r>
          </a:p>
          <a:p>
            <a:pPr algn="l" marL="515092" indent="-257546" lvl="1">
              <a:lnSpc>
                <a:spcPts val="3340"/>
              </a:lnSpc>
              <a:buFont typeface="Arial"/>
              <a:buChar char="•"/>
            </a:pPr>
            <a:r>
              <a:rPr lang="en-US" sz="2385">
                <a:solidFill>
                  <a:srgbClr val="000000"/>
                </a:solidFill>
                <a:latin typeface="Poppins"/>
                <a:ea typeface="Poppins"/>
                <a:cs typeface="Poppins"/>
                <a:sym typeface="Poppins"/>
              </a:rPr>
              <a:t>gcache.recover: If this is set to "yes", the node tries to recover and reuse the gcache after a restart, so it can help other nodes by sending them IST instead of SST.</a:t>
            </a:r>
          </a:p>
          <a:p>
            <a:pPr algn="l" marL="515092" indent="-257546" lvl="1">
              <a:lnSpc>
                <a:spcPts val="3340"/>
              </a:lnSpc>
              <a:buFont typeface="Arial"/>
              <a:buChar char="•"/>
            </a:pPr>
            <a:r>
              <a:rPr lang="en-US" sz="2385">
                <a:solidFill>
                  <a:srgbClr val="000000"/>
                </a:solidFill>
                <a:latin typeface="Poppins"/>
                <a:ea typeface="Poppins"/>
                <a:cs typeface="Poppins"/>
                <a:sym typeface="Poppins"/>
              </a:rPr>
              <a:t>gcache.size: This is how much total disk space is used for storing write-sets in the gcache file. The node uses this space when it starts</a:t>
            </a:r>
          </a:p>
          <a:p>
            <a:pPr algn="l">
              <a:lnSpc>
                <a:spcPts val="3200"/>
              </a:lnSpc>
            </a:pPr>
            <a:r>
              <a:rPr lang="en-US" sz="2285" b="true">
                <a:solidFill>
                  <a:srgbClr val="000000"/>
                </a:solidFill>
                <a:latin typeface="Poppins Bold"/>
                <a:ea typeface="Poppins Bold"/>
                <a:cs typeface="Poppins Bold"/>
                <a:sym typeface="Poppins Bold"/>
              </a:rPr>
              <a:t>wsrep_provider_options="gcache.size=1G; gcache.page_size=512M; gcache.keep_pages_size=512M" </a:t>
            </a:r>
            <a:r>
              <a:rPr lang="en-US" sz="2285">
                <a:solidFill>
                  <a:srgbClr val="000000"/>
                </a:solidFill>
                <a:latin typeface="Poppins"/>
                <a:ea typeface="Poppins"/>
                <a:cs typeface="Poppins"/>
                <a:sym typeface="Poppins"/>
              </a:rPr>
              <a:t>-&gt;</a:t>
            </a:r>
          </a:p>
          <a:p>
            <a:pPr algn="l">
              <a:lnSpc>
                <a:spcPts val="3200"/>
              </a:lnSpc>
            </a:pPr>
            <a:r>
              <a:rPr lang="en-US" sz="2285">
                <a:solidFill>
                  <a:srgbClr val="000000"/>
                </a:solidFill>
                <a:latin typeface="Poppins"/>
                <a:ea typeface="Poppins"/>
                <a:cs typeface="Poppins"/>
                <a:sym typeface="Poppins"/>
              </a:rPr>
              <a:t>we can change this variables in our config of galera</a:t>
            </a:r>
          </a:p>
          <a:p>
            <a:pPr algn="l">
              <a:lnSpc>
                <a:spcPts val="3200"/>
              </a:lnSpc>
            </a:pPr>
          </a:p>
          <a:p>
            <a:pPr algn="l">
              <a:lnSpc>
                <a:spcPts val="3200"/>
              </a:lnSpc>
              <a:spcBef>
                <a:spcPct val="0"/>
              </a:spcBef>
            </a:pPr>
          </a:p>
          <a:p>
            <a:pPr algn="l">
              <a:lnSpc>
                <a:spcPts val="3480"/>
              </a:lnSpc>
              <a:spcBef>
                <a:spcPct val="0"/>
              </a:spcBef>
            </a:pPr>
          </a:p>
          <a:p>
            <a:pPr algn="l">
              <a:lnSpc>
                <a:spcPts val="2920"/>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EFFFA"/>
        </a:solidFill>
      </p:bgPr>
    </p:bg>
    <p:spTree>
      <p:nvGrpSpPr>
        <p:cNvPr id="1" name=""/>
        <p:cNvGrpSpPr/>
        <p:nvPr/>
      </p:nvGrpSpPr>
      <p:grpSpPr>
        <a:xfrm>
          <a:off x="0" y="0"/>
          <a:ext cx="0" cy="0"/>
          <a:chOff x="0" y="0"/>
          <a:chExt cx="0" cy="0"/>
        </a:xfrm>
      </p:grpSpPr>
      <p:grpSp>
        <p:nvGrpSpPr>
          <p:cNvPr name="Group 2" id="2"/>
          <p:cNvGrpSpPr/>
          <p:nvPr/>
        </p:nvGrpSpPr>
        <p:grpSpPr>
          <a:xfrm rot="0">
            <a:off x="1065043" y="2630491"/>
            <a:ext cx="1054100" cy="1117600"/>
            <a:chOff x="0" y="0"/>
            <a:chExt cx="277623" cy="294347"/>
          </a:xfrm>
        </p:grpSpPr>
        <p:sp>
          <p:nvSpPr>
            <p:cNvPr name="Freeform 3" id="3"/>
            <p:cNvSpPr/>
            <p:nvPr/>
          </p:nvSpPr>
          <p:spPr>
            <a:xfrm flipH="false" flipV="false" rot="0">
              <a:off x="0" y="0"/>
              <a:ext cx="277623" cy="294347"/>
            </a:xfrm>
            <a:custGeom>
              <a:avLst/>
              <a:gdLst/>
              <a:ahLst/>
              <a:cxnLst/>
              <a:rect r="r" b="b" t="t" l="l"/>
              <a:pathLst>
                <a:path h="294347" w="277623">
                  <a:moveTo>
                    <a:pt x="0" y="0"/>
                  </a:moveTo>
                  <a:lnTo>
                    <a:pt x="277623" y="0"/>
                  </a:lnTo>
                  <a:lnTo>
                    <a:pt x="277623" y="294347"/>
                  </a:lnTo>
                  <a:lnTo>
                    <a:pt x="0" y="294347"/>
                  </a:lnTo>
                  <a:close/>
                </a:path>
              </a:pathLst>
            </a:custGeom>
            <a:solidFill>
              <a:srgbClr val="577550"/>
            </a:solidFill>
          </p:spPr>
        </p:sp>
        <p:sp>
          <p:nvSpPr>
            <p:cNvPr name="TextBox 4" id="4"/>
            <p:cNvSpPr txBox="true"/>
            <p:nvPr/>
          </p:nvSpPr>
          <p:spPr>
            <a:xfrm>
              <a:off x="0" y="-47625"/>
              <a:ext cx="277623" cy="341972"/>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065043" y="4568739"/>
            <a:ext cx="1054100" cy="1117600"/>
            <a:chOff x="0" y="0"/>
            <a:chExt cx="277623" cy="294347"/>
          </a:xfrm>
        </p:grpSpPr>
        <p:sp>
          <p:nvSpPr>
            <p:cNvPr name="Freeform 6" id="6"/>
            <p:cNvSpPr/>
            <p:nvPr/>
          </p:nvSpPr>
          <p:spPr>
            <a:xfrm flipH="false" flipV="false" rot="0">
              <a:off x="0" y="0"/>
              <a:ext cx="277623" cy="294347"/>
            </a:xfrm>
            <a:custGeom>
              <a:avLst/>
              <a:gdLst/>
              <a:ahLst/>
              <a:cxnLst/>
              <a:rect r="r" b="b" t="t" l="l"/>
              <a:pathLst>
                <a:path h="294347" w="277623">
                  <a:moveTo>
                    <a:pt x="0" y="0"/>
                  </a:moveTo>
                  <a:lnTo>
                    <a:pt x="277623" y="0"/>
                  </a:lnTo>
                  <a:lnTo>
                    <a:pt x="277623" y="294347"/>
                  </a:lnTo>
                  <a:lnTo>
                    <a:pt x="0" y="294347"/>
                  </a:lnTo>
                  <a:close/>
                </a:path>
              </a:pathLst>
            </a:custGeom>
            <a:solidFill>
              <a:srgbClr val="577550"/>
            </a:solidFill>
          </p:spPr>
        </p:sp>
        <p:sp>
          <p:nvSpPr>
            <p:cNvPr name="TextBox 7" id="7"/>
            <p:cNvSpPr txBox="true"/>
            <p:nvPr/>
          </p:nvSpPr>
          <p:spPr>
            <a:xfrm>
              <a:off x="0" y="-47625"/>
              <a:ext cx="277623" cy="341972"/>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065043" y="6505489"/>
            <a:ext cx="1054100" cy="1117600"/>
            <a:chOff x="0" y="0"/>
            <a:chExt cx="277623" cy="294347"/>
          </a:xfrm>
        </p:grpSpPr>
        <p:sp>
          <p:nvSpPr>
            <p:cNvPr name="Freeform 9" id="9"/>
            <p:cNvSpPr/>
            <p:nvPr/>
          </p:nvSpPr>
          <p:spPr>
            <a:xfrm flipH="false" flipV="false" rot="0">
              <a:off x="0" y="0"/>
              <a:ext cx="277623" cy="294347"/>
            </a:xfrm>
            <a:custGeom>
              <a:avLst/>
              <a:gdLst/>
              <a:ahLst/>
              <a:cxnLst/>
              <a:rect r="r" b="b" t="t" l="l"/>
              <a:pathLst>
                <a:path h="294347" w="277623">
                  <a:moveTo>
                    <a:pt x="0" y="0"/>
                  </a:moveTo>
                  <a:lnTo>
                    <a:pt x="277623" y="0"/>
                  </a:lnTo>
                  <a:lnTo>
                    <a:pt x="277623" y="294347"/>
                  </a:lnTo>
                  <a:lnTo>
                    <a:pt x="0" y="294347"/>
                  </a:lnTo>
                  <a:close/>
                </a:path>
              </a:pathLst>
            </a:custGeom>
            <a:solidFill>
              <a:srgbClr val="577550"/>
            </a:solidFill>
          </p:spPr>
        </p:sp>
        <p:sp>
          <p:nvSpPr>
            <p:cNvPr name="TextBox 10" id="10"/>
            <p:cNvSpPr txBox="true"/>
            <p:nvPr/>
          </p:nvSpPr>
          <p:spPr>
            <a:xfrm>
              <a:off x="0" y="-47625"/>
              <a:ext cx="277623" cy="341972"/>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1028700" y="2699941"/>
            <a:ext cx="1126786" cy="1069522"/>
          </a:xfrm>
          <a:prstGeom prst="rect">
            <a:avLst/>
          </a:prstGeom>
        </p:spPr>
        <p:txBody>
          <a:bodyPr anchor="t" rtlCol="false" tIns="0" lIns="0" bIns="0" rIns="0">
            <a:spAutoFit/>
          </a:bodyPr>
          <a:lstStyle/>
          <a:p>
            <a:pPr algn="ctr">
              <a:lnSpc>
                <a:spcPts val="8774"/>
              </a:lnSpc>
            </a:pPr>
            <a:r>
              <a:rPr lang="en-US" sz="6267">
                <a:solidFill>
                  <a:srgbClr val="FFFFFF"/>
                </a:solidFill>
                <a:latin typeface="League Spartan"/>
                <a:ea typeface="League Spartan"/>
                <a:cs typeface="League Spartan"/>
                <a:sym typeface="League Spartan"/>
              </a:rPr>
              <a:t>1</a:t>
            </a:r>
          </a:p>
        </p:txBody>
      </p:sp>
      <p:sp>
        <p:nvSpPr>
          <p:cNvPr name="TextBox 12" id="12"/>
          <p:cNvSpPr txBox="true"/>
          <p:nvPr/>
        </p:nvSpPr>
        <p:spPr>
          <a:xfrm rot="0">
            <a:off x="1028700" y="4650689"/>
            <a:ext cx="1126786" cy="1069522"/>
          </a:xfrm>
          <a:prstGeom prst="rect">
            <a:avLst/>
          </a:prstGeom>
        </p:spPr>
        <p:txBody>
          <a:bodyPr anchor="t" rtlCol="false" tIns="0" lIns="0" bIns="0" rIns="0">
            <a:spAutoFit/>
          </a:bodyPr>
          <a:lstStyle/>
          <a:p>
            <a:pPr algn="ctr">
              <a:lnSpc>
                <a:spcPts val="8774"/>
              </a:lnSpc>
            </a:pPr>
            <a:r>
              <a:rPr lang="en-US" sz="6267">
                <a:solidFill>
                  <a:srgbClr val="FFFFFF"/>
                </a:solidFill>
                <a:latin typeface="League Spartan"/>
                <a:ea typeface="League Spartan"/>
                <a:cs typeface="League Spartan"/>
                <a:sym typeface="League Spartan"/>
              </a:rPr>
              <a:t>2</a:t>
            </a:r>
          </a:p>
        </p:txBody>
      </p:sp>
      <p:sp>
        <p:nvSpPr>
          <p:cNvPr name="TextBox 13" id="13"/>
          <p:cNvSpPr txBox="true"/>
          <p:nvPr/>
        </p:nvSpPr>
        <p:spPr>
          <a:xfrm rot="0">
            <a:off x="1055518" y="6586987"/>
            <a:ext cx="1126786" cy="1069522"/>
          </a:xfrm>
          <a:prstGeom prst="rect">
            <a:avLst/>
          </a:prstGeom>
        </p:spPr>
        <p:txBody>
          <a:bodyPr anchor="t" rtlCol="false" tIns="0" lIns="0" bIns="0" rIns="0">
            <a:spAutoFit/>
          </a:bodyPr>
          <a:lstStyle/>
          <a:p>
            <a:pPr algn="ctr">
              <a:lnSpc>
                <a:spcPts val="8774"/>
              </a:lnSpc>
            </a:pPr>
            <a:r>
              <a:rPr lang="en-US" sz="6267">
                <a:solidFill>
                  <a:srgbClr val="FFFFFF"/>
                </a:solidFill>
                <a:latin typeface="League Spartan"/>
                <a:ea typeface="League Spartan"/>
                <a:cs typeface="League Spartan"/>
                <a:sym typeface="League Spartan"/>
              </a:rPr>
              <a:t>3</a:t>
            </a:r>
          </a:p>
        </p:txBody>
      </p:sp>
      <p:sp>
        <p:nvSpPr>
          <p:cNvPr name="TextBox 14" id="14"/>
          <p:cNvSpPr txBox="true"/>
          <p:nvPr/>
        </p:nvSpPr>
        <p:spPr>
          <a:xfrm rot="0">
            <a:off x="2622347" y="2563816"/>
            <a:ext cx="8992235" cy="1609389"/>
          </a:xfrm>
          <a:prstGeom prst="rect">
            <a:avLst/>
          </a:prstGeom>
        </p:spPr>
        <p:txBody>
          <a:bodyPr anchor="t" rtlCol="false" tIns="0" lIns="0" bIns="0" rIns="0">
            <a:spAutoFit/>
          </a:bodyPr>
          <a:lstStyle/>
          <a:p>
            <a:pPr algn="l">
              <a:lnSpc>
                <a:spcPts val="3168"/>
              </a:lnSpc>
              <a:spcBef>
                <a:spcPct val="0"/>
              </a:spcBef>
            </a:pPr>
            <a:r>
              <a:rPr lang="en-US" sz="2263">
                <a:solidFill>
                  <a:srgbClr val="000000"/>
                </a:solidFill>
                <a:latin typeface="Poppins"/>
                <a:ea typeface="Poppins"/>
                <a:cs typeface="Poppins"/>
                <a:sym typeface="Poppins"/>
              </a:rPr>
              <a:t>Check current committed state of this node:</a:t>
            </a:r>
          </a:p>
          <a:p>
            <a:pPr algn="l">
              <a:lnSpc>
                <a:spcPts val="3168"/>
              </a:lnSpc>
              <a:spcBef>
                <a:spcPct val="0"/>
              </a:spcBef>
            </a:pPr>
            <a:r>
              <a:rPr lang="en-US" sz="2263">
                <a:solidFill>
                  <a:srgbClr val="000000"/>
                </a:solidFill>
                <a:latin typeface="Poppins"/>
                <a:ea typeface="Poppins"/>
                <a:cs typeface="Poppins"/>
                <a:sym typeface="Poppins"/>
              </a:rPr>
              <a:t>SHOW STATUS LIKE 'wsrep_last_committed';</a:t>
            </a:r>
          </a:p>
          <a:p>
            <a:pPr algn="l">
              <a:lnSpc>
                <a:spcPts val="3168"/>
              </a:lnSpc>
              <a:spcBef>
                <a:spcPct val="0"/>
              </a:spcBef>
            </a:pPr>
            <a:r>
              <a:rPr lang="en-US" sz="2263">
                <a:solidFill>
                  <a:srgbClr val="000000"/>
                </a:solidFill>
                <a:latin typeface="Poppins"/>
                <a:ea typeface="Poppins"/>
                <a:cs typeface="Poppins"/>
                <a:sym typeface="Poppins"/>
              </a:rPr>
              <a:t>his shows the latest write-set that this node has committed.</a:t>
            </a:r>
          </a:p>
          <a:p>
            <a:pPr algn="l">
              <a:lnSpc>
                <a:spcPts val="3168"/>
              </a:lnSpc>
              <a:spcBef>
                <a:spcPct val="0"/>
              </a:spcBef>
            </a:pPr>
          </a:p>
        </p:txBody>
      </p:sp>
      <p:sp>
        <p:nvSpPr>
          <p:cNvPr name="TextBox 15" id="15"/>
          <p:cNvSpPr txBox="true"/>
          <p:nvPr/>
        </p:nvSpPr>
        <p:spPr>
          <a:xfrm rot="0">
            <a:off x="2622347" y="4502064"/>
            <a:ext cx="8992235" cy="3134044"/>
          </a:xfrm>
          <a:prstGeom prst="rect">
            <a:avLst/>
          </a:prstGeom>
        </p:spPr>
        <p:txBody>
          <a:bodyPr anchor="t" rtlCol="false" tIns="0" lIns="0" bIns="0" rIns="0">
            <a:spAutoFit/>
          </a:bodyPr>
          <a:lstStyle/>
          <a:p>
            <a:pPr algn="l">
              <a:lnSpc>
                <a:spcPts val="3132"/>
              </a:lnSpc>
            </a:pPr>
            <a:r>
              <a:rPr lang="en-US" sz="2237">
                <a:solidFill>
                  <a:srgbClr val="000000"/>
                </a:solidFill>
                <a:latin typeface="Poppins"/>
                <a:ea typeface="Poppins"/>
                <a:cs typeface="Poppins"/>
                <a:sym typeface="Poppins"/>
              </a:rPr>
              <a:t>Check the lowest write-set in gcache (downto):</a:t>
            </a:r>
          </a:p>
          <a:p>
            <a:pPr algn="l">
              <a:lnSpc>
                <a:spcPts val="3132"/>
              </a:lnSpc>
            </a:pPr>
            <a:r>
              <a:rPr lang="en-US" sz="2237">
                <a:solidFill>
                  <a:srgbClr val="000000"/>
                </a:solidFill>
                <a:latin typeface="Poppins"/>
                <a:ea typeface="Poppins"/>
                <a:cs typeface="Poppins"/>
                <a:sym typeface="Poppins"/>
              </a:rPr>
              <a:t>SHOW STATUS LIKE 'wsrep_local_cached_downto';</a:t>
            </a:r>
          </a:p>
          <a:p>
            <a:pPr algn="l">
              <a:lnSpc>
                <a:spcPts val="3132"/>
              </a:lnSpc>
            </a:pPr>
            <a:r>
              <a:rPr lang="en-US" sz="2237">
                <a:solidFill>
                  <a:srgbClr val="000000"/>
                </a:solidFill>
                <a:latin typeface="Poppins"/>
                <a:ea typeface="Poppins"/>
                <a:cs typeface="Poppins"/>
                <a:sym typeface="Poppins"/>
              </a:rPr>
              <a:t>This tells us the earliest write-set that is still stored in this node’s gcache.</a:t>
            </a:r>
          </a:p>
          <a:p>
            <a:pPr algn="l">
              <a:lnSpc>
                <a:spcPts val="3132"/>
              </a:lnSpc>
              <a:spcBef>
                <a:spcPct val="0"/>
              </a:spcBef>
            </a:pPr>
          </a:p>
          <a:p>
            <a:pPr algn="l">
              <a:lnSpc>
                <a:spcPts val="3132"/>
              </a:lnSpc>
              <a:spcBef>
                <a:spcPct val="0"/>
              </a:spcBef>
            </a:pPr>
          </a:p>
          <a:p>
            <a:pPr algn="l">
              <a:lnSpc>
                <a:spcPts val="3132"/>
              </a:lnSpc>
              <a:spcBef>
                <a:spcPct val="0"/>
              </a:spcBef>
            </a:pPr>
          </a:p>
          <a:p>
            <a:pPr algn="l">
              <a:lnSpc>
                <a:spcPts val="3132"/>
              </a:lnSpc>
              <a:spcBef>
                <a:spcPct val="0"/>
              </a:spcBef>
            </a:pPr>
          </a:p>
        </p:txBody>
      </p:sp>
      <p:sp>
        <p:nvSpPr>
          <p:cNvPr name="TextBox 16" id="16"/>
          <p:cNvSpPr txBox="true"/>
          <p:nvPr/>
        </p:nvSpPr>
        <p:spPr>
          <a:xfrm rot="0">
            <a:off x="2622347" y="6438814"/>
            <a:ext cx="9386847" cy="2678729"/>
          </a:xfrm>
          <a:prstGeom prst="rect">
            <a:avLst/>
          </a:prstGeom>
        </p:spPr>
        <p:txBody>
          <a:bodyPr anchor="t" rtlCol="false" tIns="0" lIns="0" bIns="0" rIns="0">
            <a:spAutoFit/>
          </a:bodyPr>
          <a:lstStyle/>
          <a:p>
            <a:pPr algn="l">
              <a:lnSpc>
                <a:spcPts val="3028"/>
              </a:lnSpc>
            </a:pPr>
            <a:r>
              <a:rPr lang="en-US" sz="2163">
                <a:solidFill>
                  <a:srgbClr val="000000"/>
                </a:solidFill>
                <a:latin typeface="Poppins"/>
                <a:ea typeface="Poppins"/>
                <a:cs typeface="Poppins"/>
                <a:sym typeface="Poppins"/>
              </a:rPr>
              <a:t>if NODE_LAST_COMMITTED of the joining node is greater than or equal to the donor node’s GCACHE_DOWNTO →</a:t>
            </a:r>
          </a:p>
          <a:p>
            <a:pPr algn="l">
              <a:lnSpc>
                <a:spcPts val="3028"/>
              </a:lnSpc>
            </a:pPr>
            <a:r>
              <a:rPr lang="en-US" sz="2163">
                <a:solidFill>
                  <a:srgbClr val="000000"/>
                </a:solidFill>
                <a:latin typeface="Poppins"/>
                <a:ea typeface="Poppins"/>
                <a:cs typeface="Poppins"/>
                <a:sym typeface="Poppins"/>
              </a:rPr>
              <a:t>Then IST is possible (data still exists in gcache).</a:t>
            </a:r>
          </a:p>
          <a:p>
            <a:pPr algn="l">
              <a:lnSpc>
                <a:spcPts val="3028"/>
              </a:lnSpc>
            </a:pPr>
            <a:r>
              <a:rPr lang="en-US" sz="2163">
                <a:solidFill>
                  <a:srgbClr val="000000"/>
                </a:solidFill>
                <a:latin typeface="Poppins"/>
                <a:ea typeface="Poppins"/>
                <a:cs typeface="Poppins"/>
                <a:sym typeface="Poppins"/>
              </a:rPr>
              <a:t>Otherwise →</a:t>
            </a:r>
          </a:p>
          <a:p>
            <a:pPr algn="l">
              <a:lnSpc>
                <a:spcPts val="3028"/>
              </a:lnSpc>
            </a:pPr>
            <a:r>
              <a:rPr lang="en-US" sz="2163">
                <a:solidFill>
                  <a:srgbClr val="000000"/>
                </a:solidFill>
                <a:latin typeface="Poppins"/>
                <a:ea typeface="Poppins"/>
                <a:cs typeface="Poppins"/>
                <a:sym typeface="Poppins"/>
              </a:rPr>
              <a:t>The donor node does not have the needed write-sets in its gcache → SST will be needed.</a:t>
            </a:r>
          </a:p>
          <a:p>
            <a:pPr algn="l">
              <a:lnSpc>
                <a:spcPts val="3028"/>
              </a:lnSpc>
              <a:spcBef>
                <a:spcPct val="0"/>
              </a:spcBef>
            </a:pPr>
          </a:p>
        </p:txBody>
      </p:sp>
      <p:sp>
        <p:nvSpPr>
          <p:cNvPr name="TextBox 17" id="17"/>
          <p:cNvSpPr txBox="true"/>
          <p:nvPr/>
        </p:nvSpPr>
        <p:spPr>
          <a:xfrm rot="0">
            <a:off x="1592093" y="923925"/>
            <a:ext cx="3934619" cy="1002666"/>
          </a:xfrm>
          <a:prstGeom prst="rect">
            <a:avLst/>
          </a:prstGeom>
        </p:spPr>
        <p:txBody>
          <a:bodyPr anchor="t" rtlCol="false" tIns="0" lIns="0" bIns="0" rIns="0">
            <a:spAutoFit/>
          </a:bodyPr>
          <a:lstStyle/>
          <a:p>
            <a:pPr algn="ctr">
              <a:lnSpc>
                <a:spcPts val="8259"/>
              </a:lnSpc>
            </a:pPr>
            <a:r>
              <a:rPr lang="en-US" sz="5899" b="true">
                <a:solidFill>
                  <a:srgbClr val="134E1A"/>
                </a:solidFill>
                <a:latin typeface="Canva Sans Bold"/>
                <a:ea typeface="Canva Sans Bold"/>
                <a:cs typeface="Canva Sans Bold"/>
                <a:sym typeface="Canva Sans Bold"/>
              </a:rPr>
              <a:t>SST OR IST</a:t>
            </a:r>
          </a:p>
        </p:txBody>
      </p:sp>
      <p:sp>
        <p:nvSpPr>
          <p:cNvPr name="Freeform 18" id="18"/>
          <p:cNvSpPr/>
          <p:nvPr/>
        </p:nvSpPr>
        <p:spPr>
          <a:xfrm flipH="false" flipV="false" rot="0">
            <a:off x="13601700" y="1012191"/>
            <a:ext cx="3657600" cy="914400"/>
          </a:xfrm>
          <a:custGeom>
            <a:avLst/>
            <a:gdLst/>
            <a:ahLst/>
            <a:cxnLst/>
            <a:rect r="r" b="b" t="t" l="l"/>
            <a:pathLst>
              <a:path h="914400" w="3657600">
                <a:moveTo>
                  <a:pt x="0" y="0"/>
                </a:moveTo>
                <a:lnTo>
                  <a:pt x="3657600" y="0"/>
                </a:lnTo>
                <a:lnTo>
                  <a:pt x="3657600" y="914400"/>
                </a:lnTo>
                <a:lnTo>
                  <a:pt x="0" y="914400"/>
                </a:lnTo>
                <a:lnTo>
                  <a:pt x="0" y="0"/>
                </a:lnTo>
                <a:close/>
              </a:path>
            </a:pathLst>
          </a:custGeom>
          <a:blipFill>
            <a:blip r:embed="rId2">
              <a:alphaModFix amt="46000"/>
              <a:extLst>
                <a:ext uri="{96DAC541-7B7A-43D3-8B79-37D633B846F1}">
                  <asvg:svgBlip xmlns:asvg="http://schemas.microsoft.com/office/drawing/2016/SVG/main" r:embed="rId3"/>
                </a:ext>
              </a:extLst>
            </a:blip>
            <a:stretch>
              <a:fillRect l="0" t="0" r="0" b="0"/>
            </a:stretch>
          </a:blipFill>
        </p:spPr>
      </p:sp>
      <p:grpSp>
        <p:nvGrpSpPr>
          <p:cNvPr name="Group 19" id="19"/>
          <p:cNvGrpSpPr/>
          <p:nvPr/>
        </p:nvGrpSpPr>
        <p:grpSpPr>
          <a:xfrm rot="0">
            <a:off x="16811190" y="8264284"/>
            <a:ext cx="896220" cy="2485261"/>
            <a:chOff x="0" y="0"/>
            <a:chExt cx="236041" cy="654554"/>
          </a:xfrm>
        </p:grpSpPr>
        <p:sp>
          <p:nvSpPr>
            <p:cNvPr name="Freeform 20" id="20"/>
            <p:cNvSpPr/>
            <p:nvPr/>
          </p:nvSpPr>
          <p:spPr>
            <a:xfrm flipH="false" flipV="false" rot="0">
              <a:off x="0" y="0"/>
              <a:ext cx="236041" cy="654554"/>
            </a:xfrm>
            <a:custGeom>
              <a:avLst/>
              <a:gdLst/>
              <a:ahLst/>
              <a:cxnLst/>
              <a:rect r="r" b="b" t="t" l="l"/>
              <a:pathLst>
                <a:path h="654554" w="236041">
                  <a:moveTo>
                    <a:pt x="118021" y="0"/>
                  </a:moveTo>
                  <a:lnTo>
                    <a:pt x="118021" y="0"/>
                  </a:lnTo>
                  <a:cubicBezTo>
                    <a:pt x="149322" y="0"/>
                    <a:pt x="179341" y="12434"/>
                    <a:pt x="201474" y="34567"/>
                  </a:cubicBezTo>
                  <a:cubicBezTo>
                    <a:pt x="223607" y="56701"/>
                    <a:pt x="236041" y="86720"/>
                    <a:pt x="236041" y="118021"/>
                  </a:cubicBezTo>
                  <a:lnTo>
                    <a:pt x="236041" y="536534"/>
                  </a:lnTo>
                  <a:cubicBezTo>
                    <a:pt x="236041" y="567835"/>
                    <a:pt x="223607" y="597854"/>
                    <a:pt x="201474" y="619987"/>
                  </a:cubicBezTo>
                  <a:cubicBezTo>
                    <a:pt x="179341" y="642120"/>
                    <a:pt x="149322" y="654554"/>
                    <a:pt x="118021" y="654554"/>
                  </a:cubicBezTo>
                  <a:lnTo>
                    <a:pt x="118021" y="654554"/>
                  </a:lnTo>
                  <a:cubicBezTo>
                    <a:pt x="86720" y="654554"/>
                    <a:pt x="56701" y="642120"/>
                    <a:pt x="34567" y="619987"/>
                  </a:cubicBezTo>
                  <a:cubicBezTo>
                    <a:pt x="12434" y="597854"/>
                    <a:pt x="0" y="567835"/>
                    <a:pt x="0" y="536534"/>
                  </a:cubicBezTo>
                  <a:lnTo>
                    <a:pt x="0" y="118021"/>
                  </a:lnTo>
                  <a:cubicBezTo>
                    <a:pt x="0" y="86720"/>
                    <a:pt x="12434" y="56701"/>
                    <a:pt x="34567" y="34567"/>
                  </a:cubicBezTo>
                  <a:cubicBezTo>
                    <a:pt x="56701" y="12434"/>
                    <a:pt x="86720" y="0"/>
                    <a:pt x="118021" y="0"/>
                  </a:cubicBezTo>
                  <a:close/>
                </a:path>
              </a:pathLst>
            </a:custGeom>
            <a:solidFill>
              <a:srgbClr val="577550"/>
            </a:solidFill>
          </p:spPr>
        </p:sp>
        <p:sp>
          <p:nvSpPr>
            <p:cNvPr name="TextBox 21" id="21"/>
            <p:cNvSpPr txBox="true"/>
            <p:nvPr/>
          </p:nvSpPr>
          <p:spPr>
            <a:xfrm>
              <a:off x="0" y="-47625"/>
              <a:ext cx="236041" cy="702179"/>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6.xml><?xml version="1.0" encoding="utf-8"?>
<p:sld xmlns:p="http://schemas.openxmlformats.org/presentationml/2006/main" xmlns:a="http://schemas.openxmlformats.org/drawingml/2006/main">
  <p:cSld>
    <p:bg>
      <p:bgPr>
        <a:solidFill>
          <a:srgbClr val="FEFFFA"/>
        </a:solidFill>
      </p:bgPr>
    </p:bg>
    <p:spTree>
      <p:nvGrpSpPr>
        <p:cNvPr id="1" name=""/>
        <p:cNvGrpSpPr/>
        <p:nvPr/>
      </p:nvGrpSpPr>
      <p:grpSpPr>
        <a:xfrm>
          <a:off x="0" y="0"/>
          <a:ext cx="0" cy="0"/>
          <a:chOff x="0" y="0"/>
          <a:chExt cx="0" cy="0"/>
        </a:xfrm>
      </p:grpSpPr>
      <p:grpSp>
        <p:nvGrpSpPr>
          <p:cNvPr name="Group 2" id="2"/>
          <p:cNvGrpSpPr/>
          <p:nvPr/>
        </p:nvGrpSpPr>
        <p:grpSpPr>
          <a:xfrm rot="0">
            <a:off x="1265765" y="3337848"/>
            <a:ext cx="7295736" cy="7439660"/>
            <a:chOff x="0" y="0"/>
            <a:chExt cx="1921511" cy="1959417"/>
          </a:xfrm>
        </p:grpSpPr>
        <p:sp>
          <p:nvSpPr>
            <p:cNvPr name="Freeform 3" id="3"/>
            <p:cNvSpPr/>
            <p:nvPr/>
          </p:nvSpPr>
          <p:spPr>
            <a:xfrm flipH="false" flipV="false" rot="0">
              <a:off x="0" y="0"/>
              <a:ext cx="1921511" cy="1959417"/>
            </a:xfrm>
            <a:custGeom>
              <a:avLst/>
              <a:gdLst/>
              <a:ahLst/>
              <a:cxnLst/>
              <a:rect r="r" b="b" t="t" l="l"/>
              <a:pathLst>
                <a:path h="1959417" w="1921511">
                  <a:moveTo>
                    <a:pt x="54119" y="0"/>
                  </a:moveTo>
                  <a:lnTo>
                    <a:pt x="1867392" y="0"/>
                  </a:lnTo>
                  <a:cubicBezTo>
                    <a:pt x="1881745" y="0"/>
                    <a:pt x="1895510" y="5702"/>
                    <a:pt x="1905660" y="15851"/>
                  </a:cubicBezTo>
                  <a:cubicBezTo>
                    <a:pt x="1915809" y="26000"/>
                    <a:pt x="1921511" y="39766"/>
                    <a:pt x="1921511" y="54119"/>
                  </a:cubicBezTo>
                  <a:lnTo>
                    <a:pt x="1921511" y="1905298"/>
                  </a:lnTo>
                  <a:cubicBezTo>
                    <a:pt x="1921511" y="1935187"/>
                    <a:pt x="1897281" y="1959417"/>
                    <a:pt x="1867392" y="1959417"/>
                  </a:cubicBezTo>
                  <a:lnTo>
                    <a:pt x="54119" y="1959417"/>
                  </a:lnTo>
                  <a:cubicBezTo>
                    <a:pt x="24230" y="1959417"/>
                    <a:pt x="0" y="1935187"/>
                    <a:pt x="0" y="1905298"/>
                  </a:cubicBezTo>
                  <a:lnTo>
                    <a:pt x="0" y="54119"/>
                  </a:lnTo>
                  <a:cubicBezTo>
                    <a:pt x="0" y="24230"/>
                    <a:pt x="24230" y="0"/>
                    <a:pt x="54119" y="0"/>
                  </a:cubicBezTo>
                  <a:close/>
                </a:path>
              </a:pathLst>
            </a:custGeom>
            <a:solidFill>
              <a:srgbClr val="577550"/>
            </a:solidFill>
          </p:spPr>
        </p:sp>
        <p:sp>
          <p:nvSpPr>
            <p:cNvPr name="TextBox 4" id="4"/>
            <p:cNvSpPr txBox="true"/>
            <p:nvPr/>
          </p:nvSpPr>
          <p:spPr>
            <a:xfrm>
              <a:off x="0" y="-47625"/>
              <a:ext cx="1921511" cy="2007042"/>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9308028" y="3337848"/>
            <a:ext cx="7315852" cy="7439660"/>
            <a:chOff x="0" y="0"/>
            <a:chExt cx="1926809" cy="1959417"/>
          </a:xfrm>
        </p:grpSpPr>
        <p:sp>
          <p:nvSpPr>
            <p:cNvPr name="Freeform 6" id="6"/>
            <p:cNvSpPr/>
            <p:nvPr/>
          </p:nvSpPr>
          <p:spPr>
            <a:xfrm flipH="false" flipV="false" rot="0">
              <a:off x="0" y="0"/>
              <a:ext cx="1926809" cy="1959417"/>
            </a:xfrm>
            <a:custGeom>
              <a:avLst/>
              <a:gdLst/>
              <a:ahLst/>
              <a:cxnLst/>
              <a:rect r="r" b="b" t="t" l="l"/>
              <a:pathLst>
                <a:path h="1959417" w="1926809">
                  <a:moveTo>
                    <a:pt x="53970" y="0"/>
                  </a:moveTo>
                  <a:lnTo>
                    <a:pt x="1872839" y="0"/>
                  </a:lnTo>
                  <a:cubicBezTo>
                    <a:pt x="1887152" y="0"/>
                    <a:pt x="1900880" y="5686"/>
                    <a:pt x="1911001" y="15808"/>
                  </a:cubicBezTo>
                  <a:cubicBezTo>
                    <a:pt x="1921123" y="25929"/>
                    <a:pt x="1926809" y="39656"/>
                    <a:pt x="1926809" y="53970"/>
                  </a:cubicBezTo>
                  <a:lnTo>
                    <a:pt x="1926809" y="1905446"/>
                  </a:lnTo>
                  <a:cubicBezTo>
                    <a:pt x="1926809" y="1919760"/>
                    <a:pt x="1921123" y="1933488"/>
                    <a:pt x="1911001" y="1943609"/>
                  </a:cubicBezTo>
                  <a:cubicBezTo>
                    <a:pt x="1900880" y="1953731"/>
                    <a:pt x="1887152" y="1959417"/>
                    <a:pt x="1872839" y="1959417"/>
                  </a:cubicBezTo>
                  <a:lnTo>
                    <a:pt x="53970" y="1959417"/>
                  </a:lnTo>
                  <a:cubicBezTo>
                    <a:pt x="39656" y="1959417"/>
                    <a:pt x="25929" y="1953731"/>
                    <a:pt x="15808" y="1943609"/>
                  </a:cubicBezTo>
                  <a:cubicBezTo>
                    <a:pt x="5686" y="1933488"/>
                    <a:pt x="0" y="1919760"/>
                    <a:pt x="0" y="1905446"/>
                  </a:cubicBezTo>
                  <a:lnTo>
                    <a:pt x="0" y="53970"/>
                  </a:lnTo>
                  <a:cubicBezTo>
                    <a:pt x="0" y="39656"/>
                    <a:pt x="5686" y="25929"/>
                    <a:pt x="15808" y="15808"/>
                  </a:cubicBezTo>
                  <a:cubicBezTo>
                    <a:pt x="25929" y="5686"/>
                    <a:pt x="39656" y="0"/>
                    <a:pt x="53970" y="0"/>
                  </a:cubicBezTo>
                  <a:close/>
                </a:path>
              </a:pathLst>
            </a:custGeom>
            <a:solidFill>
              <a:srgbClr val="577550"/>
            </a:solidFill>
          </p:spPr>
        </p:sp>
        <p:sp>
          <p:nvSpPr>
            <p:cNvPr name="TextBox 7" id="7"/>
            <p:cNvSpPr txBox="true"/>
            <p:nvPr/>
          </p:nvSpPr>
          <p:spPr>
            <a:xfrm>
              <a:off x="0" y="-47625"/>
              <a:ext cx="1926809" cy="2007042"/>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6311154" y="170584"/>
            <a:ext cx="6654800" cy="2449319"/>
          </a:xfrm>
          <a:prstGeom prst="rect">
            <a:avLst/>
          </a:prstGeom>
        </p:spPr>
        <p:txBody>
          <a:bodyPr anchor="t" rtlCol="false" tIns="0" lIns="0" bIns="0" rIns="0">
            <a:spAutoFit/>
          </a:bodyPr>
          <a:lstStyle/>
          <a:p>
            <a:pPr algn="l">
              <a:lnSpc>
                <a:spcPts val="9898"/>
              </a:lnSpc>
              <a:spcBef>
                <a:spcPct val="0"/>
              </a:spcBef>
            </a:pPr>
            <a:r>
              <a:rPr lang="en-US" sz="7070">
                <a:solidFill>
                  <a:srgbClr val="134E1A"/>
                </a:solidFill>
                <a:latin typeface="League Spartan"/>
                <a:ea typeface="League Spartan"/>
                <a:cs typeface="League Spartan"/>
                <a:sym typeface="League Spartan"/>
              </a:rPr>
              <a:t>ROLLBACK</a:t>
            </a:r>
          </a:p>
          <a:p>
            <a:pPr algn="l">
              <a:lnSpc>
                <a:spcPts val="9898"/>
              </a:lnSpc>
              <a:spcBef>
                <a:spcPct val="0"/>
              </a:spcBef>
            </a:pPr>
          </a:p>
        </p:txBody>
      </p:sp>
      <p:sp>
        <p:nvSpPr>
          <p:cNvPr name="TextBox 9" id="9"/>
          <p:cNvSpPr txBox="true"/>
          <p:nvPr/>
        </p:nvSpPr>
        <p:spPr>
          <a:xfrm rot="0">
            <a:off x="1670602" y="3699956"/>
            <a:ext cx="6486061" cy="6258244"/>
          </a:xfrm>
          <a:prstGeom prst="rect">
            <a:avLst/>
          </a:prstGeom>
        </p:spPr>
        <p:txBody>
          <a:bodyPr anchor="t" rtlCol="false" tIns="0" lIns="0" bIns="0" rIns="0">
            <a:spAutoFit/>
          </a:bodyPr>
          <a:lstStyle/>
          <a:p>
            <a:pPr algn="ctr">
              <a:lnSpc>
                <a:spcPts val="3132"/>
              </a:lnSpc>
            </a:pPr>
            <a:r>
              <a:rPr lang="en-US" sz="2237">
                <a:solidFill>
                  <a:srgbClr val="FFFFFF"/>
                </a:solidFill>
                <a:latin typeface="Poppins"/>
                <a:ea typeface="Poppins"/>
                <a:cs typeface="Poppins"/>
                <a:sym typeface="Poppins"/>
              </a:rPr>
              <a:t>Certification Failure Rollback (Automatic rollback):</a:t>
            </a:r>
          </a:p>
          <a:p>
            <a:pPr algn="ctr">
              <a:lnSpc>
                <a:spcPts val="3132"/>
              </a:lnSpc>
              <a:spcBef>
                <a:spcPct val="0"/>
              </a:spcBef>
            </a:pPr>
            <a:r>
              <a:rPr lang="en-US" sz="2237">
                <a:solidFill>
                  <a:srgbClr val="FFFFFF"/>
                </a:solidFill>
                <a:latin typeface="Poppins"/>
                <a:ea typeface="Poppins"/>
                <a:cs typeface="Poppins"/>
                <a:sym typeface="Poppins"/>
              </a:rPr>
              <a:t> </a:t>
            </a:r>
            <a:r>
              <a:rPr lang="en-US" sz="2237">
                <a:solidFill>
                  <a:srgbClr val="FFFFFF"/>
                </a:solidFill>
                <a:latin typeface="Poppins"/>
                <a:ea typeface="Poppins"/>
                <a:cs typeface="Poppins"/>
                <a:sym typeface="Poppins"/>
              </a:rPr>
              <a:t>In Galera Cluster, when two or more nodes try to write to the same data at the same time, Galera checks if there is any conflict. It uses something called Optimistic Concurrency Control, which means it allows all transactions to go ahead but checks for problems at the end when the transaction is about to commit. If a conflict is found (for example, two nodes change the same row), the later transaction will be automatically rolled back. This rollback cancels the transaction and keeps the data consistent across all nodes(</a:t>
            </a:r>
            <a:r>
              <a:rPr lang="en-US" b="true" sz="2237">
                <a:solidFill>
                  <a:srgbClr val="FFFFFF"/>
                </a:solidFill>
                <a:latin typeface="Poppins Bold"/>
                <a:ea typeface="Poppins Bold"/>
                <a:cs typeface="Poppins Bold"/>
                <a:sym typeface="Poppins Bold"/>
              </a:rPr>
              <a:t>wont be stored in the gcache</a:t>
            </a:r>
            <a:r>
              <a:rPr lang="en-US" sz="2237">
                <a:solidFill>
                  <a:srgbClr val="FFFFFF"/>
                </a:solidFill>
                <a:latin typeface="Poppins"/>
                <a:ea typeface="Poppins"/>
                <a:cs typeface="Poppins"/>
                <a:sym typeface="Poppins"/>
              </a:rPr>
              <a:t>)</a:t>
            </a:r>
          </a:p>
        </p:txBody>
      </p:sp>
      <p:sp>
        <p:nvSpPr>
          <p:cNvPr name="TextBox 10" id="10"/>
          <p:cNvSpPr txBox="true"/>
          <p:nvPr/>
        </p:nvSpPr>
        <p:spPr>
          <a:xfrm rot="0">
            <a:off x="9943122" y="3699956"/>
            <a:ext cx="6045665" cy="6258244"/>
          </a:xfrm>
          <a:prstGeom prst="rect">
            <a:avLst/>
          </a:prstGeom>
        </p:spPr>
        <p:txBody>
          <a:bodyPr anchor="t" rtlCol="false" tIns="0" lIns="0" bIns="0" rIns="0">
            <a:spAutoFit/>
          </a:bodyPr>
          <a:lstStyle/>
          <a:p>
            <a:pPr algn="ctr">
              <a:lnSpc>
                <a:spcPts val="3132"/>
              </a:lnSpc>
            </a:pPr>
            <a:r>
              <a:rPr lang="en-US" sz="2237">
                <a:solidFill>
                  <a:srgbClr val="FFFFFF"/>
                </a:solidFill>
                <a:latin typeface="Poppins"/>
                <a:ea typeface="Poppins"/>
                <a:cs typeface="Poppins"/>
                <a:sym typeface="Poppins"/>
              </a:rPr>
              <a:t>User-Initiated Rollback (Manual rollback):</a:t>
            </a:r>
          </a:p>
          <a:p>
            <a:pPr algn="ctr">
              <a:lnSpc>
                <a:spcPts val="3132"/>
              </a:lnSpc>
            </a:pPr>
            <a:r>
              <a:rPr lang="en-US" sz="2237">
                <a:solidFill>
                  <a:srgbClr val="FFFFFF"/>
                </a:solidFill>
                <a:latin typeface="Poppins"/>
                <a:ea typeface="Poppins"/>
                <a:cs typeface="Poppins"/>
                <a:sym typeface="Poppins"/>
              </a:rPr>
              <a:t> This happens when a user starts a transaction using START TRANSACTION or BEGIN, makes some changes (like inserting or updating data), and then uses the ROLLBACK command before COMMIT. This tells the server to cancel all the changes made in that transaction. These changes are not sent to the other nodes because they are not yet committed. So, when the user rolls back, the transaction is discarded quietly, and the other nodes never see it.</a:t>
            </a:r>
          </a:p>
          <a:p>
            <a:pPr algn="ctr">
              <a:lnSpc>
                <a:spcPts val="3132"/>
              </a:lnSpc>
              <a:spcBef>
                <a:spcPct val="0"/>
              </a:spcBef>
            </a:pPr>
            <a:r>
              <a:rPr lang="en-US" b="true" sz="2237">
                <a:solidFill>
                  <a:srgbClr val="FFFFFF"/>
                </a:solidFill>
                <a:latin typeface="Poppins Bold"/>
                <a:ea typeface="Poppins Bold"/>
                <a:cs typeface="Poppins Bold"/>
                <a:sym typeface="Poppins Bold"/>
              </a:rPr>
              <a:t>If a query is not committed, it won’t be stored in the Galera GCache and no write-set will be created for it</a:t>
            </a:r>
          </a:p>
        </p:txBody>
      </p:sp>
      <p:sp>
        <p:nvSpPr>
          <p:cNvPr name="TextBox 11" id="11"/>
          <p:cNvSpPr txBox="true"/>
          <p:nvPr/>
        </p:nvSpPr>
        <p:spPr>
          <a:xfrm rot="0">
            <a:off x="1265765" y="1423818"/>
            <a:ext cx="15350184" cy="1538604"/>
          </a:xfrm>
          <a:prstGeom prst="rect">
            <a:avLst/>
          </a:prstGeom>
        </p:spPr>
        <p:txBody>
          <a:bodyPr anchor="t" rtlCol="false" tIns="0" lIns="0" bIns="0" rIns="0">
            <a:spAutoFit/>
          </a:bodyPr>
          <a:lstStyle/>
          <a:p>
            <a:pPr algn="ctr">
              <a:lnSpc>
                <a:spcPts val="3360"/>
              </a:lnSpc>
            </a:pPr>
            <a:r>
              <a:rPr lang="en-US" sz="2400">
                <a:solidFill>
                  <a:srgbClr val="000000"/>
                </a:solidFill>
                <a:latin typeface="Canva Sans"/>
                <a:ea typeface="Canva Sans"/>
                <a:cs typeface="Canva Sans"/>
                <a:sym typeface="Canva Sans"/>
              </a:rPr>
              <a:t>In Galera, you cannot go back to a previous seqno.</a:t>
            </a:r>
            <a:r>
              <a:rPr lang="en-US" sz="2400">
                <a:solidFill>
                  <a:srgbClr val="000000"/>
                </a:solidFill>
                <a:latin typeface="Canva Sans"/>
                <a:ea typeface="Canva Sans"/>
                <a:cs typeface="Canva Sans"/>
                <a:sym typeface="Canva Sans"/>
              </a:rPr>
              <a:t>If you nee</a:t>
            </a:r>
            <a:r>
              <a:rPr lang="en-US" sz="2400">
                <a:solidFill>
                  <a:srgbClr val="000000"/>
                </a:solidFill>
                <a:latin typeface="Canva Sans"/>
                <a:ea typeface="Canva Sans"/>
                <a:cs typeface="Canva Sans"/>
                <a:sym typeface="Canva Sans"/>
              </a:rPr>
              <a:t>d to revert to an older state, you must restore a full backup.Galera is forward-only, and any gap in sequence requires SST or full sync.You can’t go back to an old seqno,You must use a backup + binlog manually to simulate going back</a:t>
            </a:r>
          </a:p>
          <a:p>
            <a:pPr algn="ctr">
              <a:lnSpc>
                <a:spcPts val="2380"/>
              </a:lnSpc>
            </a:pP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FEFFFA"/>
        </a:solidFill>
      </p:bgPr>
    </p:bg>
    <p:spTree>
      <p:nvGrpSpPr>
        <p:cNvPr id="1" name=""/>
        <p:cNvGrpSpPr/>
        <p:nvPr/>
      </p:nvGrpSpPr>
      <p:grpSpPr>
        <a:xfrm>
          <a:off x="0" y="0"/>
          <a:ext cx="0" cy="0"/>
          <a:chOff x="0" y="0"/>
          <a:chExt cx="0" cy="0"/>
        </a:xfrm>
      </p:grpSpPr>
      <p:grpSp>
        <p:nvGrpSpPr>
          <p:cNvPr name="Group 2" id="2"/>
          <p:cNvGrpSpPr/>
          <p:nvPr/>
        </p:nvGrpSpPr>
        <p:grpSpPr>
          <a:xfrm rot="0">
            <a:off x="505424" y="2560985"/>
            <a:ext cx="8658588" cy="1981480"/>
            <a:chOff x="0" y="0"/>
            <a:chExt cx="2142314" cy="490259"/>
          </a:xfrm>
        </p:grpSpPr>
        <p:sp>
          <p:nvSpPr>
            <p:cNvPr name="Freeform 3" id="3"/>
            <p:cNvSpPr/>
            <p:nvPr/>
          </p:nvSpPr>
          <p:spPr>
            <a:xfrm flipH="false" flipV="false" rot="0">
              <a:off x="0" y="0"/>
              <a:ext cx="2142314" cy="490259"/>
            </a:xfrm>
            <a:custGeom>
              <a:avLst/>
              <a:gdLst/>
              <a:ahLst/>
              <a:cxnLst/>
              <a:rect r="r" b="b" t="t" l="l"/>
              <a:pathLst>
                <a:path h="490259" w="2142314">
                  <a:moveTo>
                    <a:pt x="0" y="0"/>
                  </a:moveTo>
                  <a:lnTo>
                    <a:pt x="2142314" y="0"/>
                  </a:lnTo>
                  <a:lnTo>
                    <a:pt x="2142314" y="490259"/>
                  </a:lnTo>
                  <a:lnTo>
                    <a:pt x="0" y="490259"/>
                  </a:lnTo>
                  <a:close/>
                </a:path>
              </a:pathLst>
            </a:custGeom>
            <a:solidFill>
              <a:srgbClr val="F1FFEE"/>
            </a:solidFill>
          </p:spPr>
        </p:sp>
        <p:sp>
          <p:nvSpPr>
            <p:cNvPr name="TextBox 4" id="4"/>
            <p:cNvSpPr txBox="true"/>
            <p:nvPr/>
          </p:nvSpPr>
          <p:spPr>
            <a:xfrm>
              <a:off x="0" y="-57150"/>
              <a:ext cx="2142314" cy="547409"/>
            </a:xfrm>
            <a:prstGeom prst="rect">
              <a:avLst/>
            </a:prstGeom>
          </p:spPr>
          <p:txBody>
            <a:bodyPr anchor="ctr" rtlCol="false" tIns="50800" lIns="50800" bIns="50800" rIns="50800"/>
            <a:lstStyle/>
            <a:p>
              <a:pPr algn="ctr">
                <a:lnSpc>
                  <a:spcPts val="3639"/>
                </a:lnSpc>
              </a:pPr>
            </a:p>
          </p:txBody>
        </p:sp>
      </p:grpSp>
      <p:grpSp>
        <p:nvGrpSpPr>
          <p:cNvPr name="Group 5" id="5"/>
          <p:cNvGrpSpPr/>
          <p:nvPr/>
        </p:nvGrpSpPr>
        <p:grpSpPr>
          <a:xfrm rot="0">
            <a:off x="9164012" y="2560985"/>
            <a:ext cx="8618563" cy="1981480"/>
            <a:chOff x="0" y="0"/>
            <a:chExt cx="2132412" cy="490259"/>
          </a:xfrm>
        </p:grpSpPr>
        <p:sp>
          <p:nvSpPr>
            <p:cNvPr name="Freeform 6" id="6"/>
            <p:cNvSpPr/>
            <p:nvPr/>
          </p:nvSpPr>
          <p:spPr>
            <a:xfrm flipH="false" flipV="false" rot="0">
              <a:off x="0" y="0"/>
              <a:ext cx="2132412" cy="490259"/>
            </a:xfrm>
            <a:custGeom>
              <a:avLst/>
              <a:gdLst/>
              <a:ahLst/>
              <a:cxnLst/>
              <a:rect r="r" b="b" t="t" l="l"/>
              <a:pathLst>
                <a:path h="490259" w="2132412">
                  <a:moveTo>
                    <a:pt x="0" y="0"/>
                  </a:moveTo>
                  <a:lnTo>
                    <a:pt x="2132412" y="0"/>
                  </a:lnTo>
                  <a:lnTo>
                    <a:pt x="2132412" y="490259"/>
                  </a:lnTo>
                  <a:lnTo>
                    <a:pt x="0" y="490259"/>
                  </a:lnTo>
                  <a:close/>
                </a:path>
              </a:pathLst>
            </a:custGeom>
            <a:solidFill>
              <a:srgbClr val="F1FFEE"/>
            </a:solidFill>
          </p:spPr>
        </p:sp>
        <p:sp>
          <p:nvSpPr>
            <p:cNvPr name="TextBox 7" id="7"/>
            <p:cNvSpPr txBox="true"/>
            <p:nvPr/>
          </p:nvSpPr>
          <p:spPr>
            <a:xfrm>
              <a:off x="0" y="-57150"/>
              <a:ext cx="2132412" cy="547409"/>
            </a:xfrm>
            <a:prstGeom prst="rect">
              <a:avLst/>
            </a:prstGeom>
          </p:spPr>
          <p:txBody>
            <a:bodyPr anchor="ctr" rtlCol="false" tIns="50800" lIns="50800" bIns="50800" rIns="50800"/>
            <a:lstStyle/>
            <a:p>
              <a:pPr algn="ctr">
                <a:lnSpc>
                  <a:spcPts val="3639"/>
                </a:lnSpc>
              </a:pPr>
            </a:p>
          </p:txBody>
        </p:sp>
      </p:grpSp>
      <p:grpSp>
        <p:nvGrpSpPr>
          <p:cNvPr name="Group 8" id="8"/>
          <p:cNvGrpSpPr/>
          <p:nvPr/>
        </p:nvGrpSpPr>
        <p:grpSpPr>
          <a:xfrm rot="0">
            <a:off x="9164012" y="6523945"/>
            <a:ext cx="8618563" cy="1981480"/>
            <a:chOff x="0" y="0"/>
            <a:chExt cx="2132412" cy="490259"/>
          </a:xfrm>
        </p:grpSpPr>
        <p:sp>
          <p:nvSpPr>
            <p:cNvPr name="Freeform 9" id="9"/>
            <p:cNvSpPr/>
            <p:nvPr/>
          </p:nvSpPr>
          <p:spPr>
            <a:xfrm flipH="false" flipV="false" rot="0">
              <a:off x="0" y="0"/>
              <a:ext cx="2132412" cy="490259"/>
            </a:xfrm>
            <a:custGeom>
              <a:avLst/>
              <a:gdLst/>
              <a:ahLst/>
              <a:cxnLst/>
              <a:rect r="r" b="b" t="t" l="l"/>
              <a:pathLst>
                <a:path h="490259" w="2132412">
                  <a:moveTo>
                    <a:pt x="0" y="0"/>
                  </a:moveTo>
                  <a:lnTo>
                    <a:pt x="2132412" y="0"/>
                  </a:lnTo>
                  <a:lnTo>
                    <a:pt x="2132412" y="490259"/>
                  </a:lnTo>
                  <a:lnTo>
                    <a:pt x="0" y="490259"/>
                  </a:lnTo>
                  <a:close/>
                </a:path>
              </a:pathLst>
            </a:custGeom>
            <a:solidFill>
              <a:srgbClr val="F1FFEE"/>
            </a:solidFill>
          </p:spPr>
        </p:sp>
        <p:sp>
          <p:nvSpPr>
            <p:cNvPr name="TextBox 10" id="10"/>
            <p:cNvSpPr txBox="true"/>
            <p:nvPr/>
          </p:nvSpPr>
          <p:spPr>
            <a:xfrm>
              <a:off x="0" y="-57150"/>
              <a:ext cx="2132412" cy="547409"/>
            </a:xfrm>
            <a:prstGeom prst="rect">
              <a:avLst/>
            </a:prstGeom>
          </p:spPr>
          <p:txBody>
            <a:bodyPr anchor="ctr" rtlCol="false" tIns="50800" lIns="50800" bIns="50800" rIns="50800"/>
            <a:lstStyle/>
            <a:p>
              <a:pPr algn="ctr">
                <a:lnSpc>
                  <a:spcPts val="3639"/>
                </a:lnSpc>
              </a:pPr>
            </a:p>
          </p:txBody>
        </p:sp>
      </p:grpSp>
      <p:grpSp>
        <p:nvGrpSpPr>
          <p:cNvPr name="Group 11" id="11"/>
          <p:cNvGrpSpPr/>
          <p:nvPr/>
        </p:nvGrpSpPr>
        <p:grpSpPr>
          <a:xfrm rot="0">
            <a:off x="9164012" y="4542465"/>
            <a:ext cx="8618563" cy="1981480"/>
            <a:chOff x="0" y="0"/>
            <a:chExt cx="2132412" cy="490259"/>
          </a:xfrm>
        </p:grpSpPr>
        <p:sp>
          <p:nvSpPr>
            <p:cNvPr name="Freeform 12" id="12"/>
            <p:cNvSpPr/>
            <p:nvPr/>
          </p:nvSpPr>
          <p:spPr>
            <a:xfrm flipH="false" flipV="false" rot="0">
              <a:off x="0" y="0"/>
              <a:ext cx="2132412" cy="490259"/>
            </a:xfrm>
            <a:custGeom>
              <a:avLst/>
              <a:gdLst/>
              <a:ahLst/>
              <a:cxnLst/>
              <a:rect r="r" b="b" t="t" l="l"/>
              <a:pathLst>
                <a:path h="490259" w="2132412">
                  <a:moveTo>
                    <a:pt x="0" y="0"/>
                  </a:moveTo>
                  <a:lnTo>
                    <a:pt x="2132412" y="0"/>
                  </a:lnTo>
                  <a:lnTo>
                    <a:pt x="2132412" y="490259"/>
                  </a:lnTo>
                  <a:lnTo>
                    <a:pt x="0" y="490259"/>
                  </a:lnTo>
                  <a:close/>
                </a:path>
              </a:pathLst>
            </a:custGeom>
            <a:solidFill>
              <a:srgbClr val="F1FFEE"/>
            </a:solidFill>
          </p:spPr>
        </p:sp>
        <p:sp>
          <p:nvSpPr>
            <p:cNvPr name="TextBox 13" id="13"/>
            <p:cNvSpPr txBox="true"/>
            <p:nvPr/>
          </p:nvSpPr>
          <p:spPr>
            <a:xfrm>
              <a:off x="0" y="-57150"/>
              <a:ext cx="2132412" cy="547409"/>
            </a:xfrm>
            <a:prstGeom prst="rect">
              <a:avLst/>
            </a:prstGeom>
          </p:spPr>
          <p:txBody>
            <a:bodyPr anchor="ctr" rtlCol="false" tIns="50800" lIns="50800" bIns="50800" rIns="50800"/>
            <a:lstStyle/>
            <a:p>
              <a:pPr algn="ctr">
                <a:lnSpc>
                  <a:spcPts val="3639"/>
                </a:lnSpc>
              </a:pPr>
            </a:p>
          </p:txBody>
        </p:sp>
      </p:grpSp>
      <p:grpSp>
        <p:nvGrpSpPr>
          <p:cNvPr name="Group 14" id="14"/>
          <p:cNvGrpSpPr/>
          <p:nvPr/>
        </p:nvGrpSpPr>
        <p:grpSpPr>
          <a:xfrm rot="0">
            <a:off x="505424" y="6523945"/>
            <a:ext cx="8658588" cy="1981480"/>
            <a:chOff x="0" y="0"/>
            <a:chExt cx="2142314" cy="490259"/>
          </a:xfrm>
        </p:grpSpPr>
        <p:sp>
          <p:nvSpPr>
            <p:cNvPr name="Freeform 15" id="15"/>
            <p:cNvSpPr/>
            <p:nvPr/>
          </p:nvSpPr>
          <p:spPr>
            <a:xfrm flipH="false" flipV="false" rot="0">
              <a:off x="0" y="0"/>
              <a:ext cx="2142314" cy="490259"/>
            </a:xfrm>
            <a:custGeom>
              <a:avLst/>
              <a:gdLst/>
              <a:ahLst/>
              <a:cxnLst/>
              <a:rect r="r" b="b" t="t" l="l"/>
              <a:pathLst>
                <a:path h="490259" w="2142314">
                  <a:moveTo>
                    <a:pt x="0" y="0"/>
                  </a:moveTo>
                  <a:lnTo>
                    <a:pt x="2142314" y="0"/>
                  </a:lnTo>
                  <a:lnTo>
                    <a:pt x="2142314" y="490259"/>
                  </a:lnTo>
                  <a:lnTo>
                    <a:pt x="0" y="490259"/>
                  </a:lnTo>
                  <a:close/>
                </a:path>
              </a:pathLst>
            </a:custGeom>
            <a:solidFill>
              <a:srgbClr val="F1FFEE"/>
            </a:solidFill>
          </p:spPr>
        </p:sp>
        <p:sp>
          <p:nvSpPr>
            <p:cNvPr name="TextBox 16" id="16"/>
            <p:cNvSpPr txBox="true"/>
            <p:nvPr/>
          </p:nvSpPr>
          <p:spPr>
            <a:xfrm>
              <a:off x="0" y="-57150"/>
              <a:ext cx="2142314" cy="547409"/>
            </a:xfrm>
            <a:prstGeom prst="rect">
              <a:avLst/>
            </a:prstGeom>
          </p:spPr>
          <p:txBody>
            <a:bodyPr anchor="ctr" rtlCol="false" tIns="50800" lIns="50800" bIns="50800" rIns="50800"/>
            <a:lstStyle/>
            <a:p>
              <a:pPr algn="ctr">
                <a:lnSpc>
                  <a:spcPts val="3639"/>
                </a:lnSpc>
              </a:pPr>
            </a:p>
          </p:txBody>
        </p:sp>
      </p:grpSp>
      <p:grpSp>
        <p:nvGrpSpPr>
          <p:cNvPr name="Group 17" id="17"/>
          <p:cNvGrpSpPr/>
          <p:nvPr/>
        </p:nvGrpSpPr>
        <p:grpSpPr>
          <a:xfrm rot="0">
            <a:off x="505424" y="4542465"/>
            <a:ext cx="8658588" cy="1981480"/>
            <a:chOff x="0" y="0"/>
            <a:chExt cx="2142314" cy="490259"/>
          </a:xfrm>
        </p:grpSpPr>
        <p:sp>
          <p:nvSpPr>
            <p:cNvPr name="Freeform 18" id="18"/>
            <p:cNvSpPr/>
            <p:nvPr/>
          </p:nvSpPr>
          <p:spPr>
            <a:xfrm flipH="false" flipV="false" rot="0">
              <a:off x="0" y="0"/>
              <a:ext cx="2142314" cy="490259"/>
            </a:xfrm>
            <a:custGeom>
              <a:avLst/>
              <a:gdLst/>
              <a:ahLst/>
              <a:cxnLst/>
              <a:rect r="r" b="b" t="t" l="l"/>
              <a:pathLst>
                <a:path h="490259" w="2142314">
                  <a:moveTo>
                    <a:pt x="0" y="0"/>
                  </a:moveTo>
                  <a:lnTo>
                    <a:pt x="2142314" y="0"/>
                  </a:lnTo>
                  <a:lnTo>
                    <a:pt x="2142314" y="490259"/>
                  </a:lnTo>
                  <a:lnTo>
                    <a:pt x="0" y="490259"/>
                  </a:lnTo>
                  <a:close/>
                </a:path>
              </a:pathLst>
            </a:custGeom>
            <a:solidFill>
              <a:srgbClr val="F1FFEE"/>
            </a:solidFill>
          </p:spPr>
        </p:sp>
        <p:sp>
          <p:nvSpPr>
            <p:cNvPr name="TextBox 19" id="19"/>
            <p:cNvSpPr txBox="true"/>
            <p:nvPr/>
          </p:nvSpPr>
          <p:spPr>
            <a:xfrm>
              <a:off x="0" y="-57150"/>
              <a:ext cx="2142314" cy="547409"/>
            </a:xfrm>
            <a:prstGeom prst="rect">
              <a:avLst/>
            </a:prstGeom>
          </p:spPr>
          <p:txBody>
            <a:bodyPr anchor="ctr" rtlCol="false" tIns="50800" lIns="50800" bIns="50800" rIns="50800"/>
            <a:lstStyle/>
            <a:p>
              <a:pPr algn="ctr">
                <a:lnSpc>
                  <a:spcPts val="3639"/>
                </a:lnSpc>
              </a:pPr>
            </a:p>
          </p:txBody>
        </p:sp>
      </p:grpSp>
      <p:sp>
        <p:nvSpPr>
          <p:cNvPr name="TextBox 20" id="20"/>
          <p:cNvSpPr txBox="true"/>
          <p:nvPr/>
        </p:nvSpPr>
        <p:spPr>
          <a:xfrm rot="0">
            <a:off x="4064725" y="267766"/>
            <a:ext cx="10196150" cy="1226820"/>
          </a:xfrm>
          <a:prstGeom prst="rect">
            <a:avLst/>
          </a:prstGeom>
        </p:spPr>
        <p:txBody>
          <a:bodyPr anchor="t" rtlCol="false" tIns="0" lIns="0" bIns="0" rIns="0">
            <a:spAutoFit/>
          </a:bodyPr>
          <a:lstStyle/>
          <a:p>
            <a:pPr algn="ctr" marL="0" indent="0" lvl="0">
              <a:lnSpc>
                <a:spcPts val="10080"/>
              </a:lnSpc>
              <a:spcBef>
                <a:spcPct val="0"/>
              </a:spcBef>
            </a:pPr>
            <a:r>
              <a:rPr lang="en-US" b="true" sz="7200" i="true">
                <a:solidFill>
                  <a:srgbClr val="2D3880"/>
                </a:solidFill>
                <a:latin typeface="Cormorant Garamond Bold Italics"/>
                <a:ea typeface="Cormorant Garamond Bold Italics"/>
                <a:cs typeface="Cormorant Garamond Bold Italics"/>
                <a:sym typeface="Cormorant Garamond Bold Italics"/>
              </a:rPr>
              <a:t>galera.gcache</a:t>
            </a:r>
          </a:p>
        </p:txBody>
      </p:sp>
      <p:sp>
        <p:nvSpPr>
          <p:cNvPr name="TextBox 21" id="21"/>
          <p:cNvSpPr txBox="true"/>
          <p:nvPr/>
        </p:nvSpPr>
        <p:spPr>
          <a:xfrm rot="0">
            <a:off x="807459" y="2595354"/>
            <a:ext cx="8054518" cy="2487724"/>
          </a:xfrm>
          <a:prstGeom prst="rect">
            <a:avLst/>
          </a:prstGeom>
        </p:spPr>
        <p:txBody>
          <a:bodyPr anchor="t" rtlCol="false" tIns="0" lIns="0" bIns="0" rIns="0">
            <a:spAutoFit/>
          </a:bodyPr>
          <a:lstStyle/>
          <a:p>
            <a:pPr algn="l">
              <a:lnSpc>
                <a:spcPts val="2980"/>
              </a:lnSpc>
            </a:pPr>
            <a:r>
              <a:rPr lang="en-US" sz="2128" b="true">
                <a:solidFill>
                  <a:srgbClr val="2D3880"/>
                </a:solidFill>
                <a:latin typeface="Glacial Indifference Bold"/>
                <a:ea typeface="Glacial Indifference Bold"/>
                <a:cs typeface="Glacial Indifference Bold"/>
                <a:sym typeface="Glacial Indifference Bold"/>
              </a:rPr>
              <a:t>Version: </a:t>
            </a:r>
            <a:r>
              <a:rPr lang="en-US" sz="2128">
                <a:solidFill>
                  <a:srgbClr val="2D3880"/>
                </a:solidFill>
                <a:latin typeface="Glacial Indifference"/>
                <a:ea typeface="Glacial Indifference"/>
                <a:cs typeface="Glacial Indifference"/>
                <a:sym typeface="Glacial Indifference"/>
              </a:rPr>
              <a:t>The version of the gcache or write-set format.</a:t>
            </a:r>
          </a:p>
          <a:p>
            <a:pPr algn="l">
              <a:lnSpc>
                <a:spcPts val="2980"/>
              </a:lnSpc>
            </a:pPr>
            <a:r>
              <a:rPr lang="en-US" sz="2128" b="true">
                <a:solidFill>
                  <a:srgbClr val="2D3880"/>
                </a:solidFill>
                <a:latin typeface="Glacial Indifference Bold"/>
                <a:ea typeface="Glacial Indifference Bold"/>
                <a:cs typeface="Glacial Indifference Bold"/>
                <a:sym typeface="Glacial Indifference Bold"/>
              </a:rPr>
              <a:t>GID:</a:t>
            </a:r>
            <a:r>
              <a:rPr lang="en-US" sz="2128">
                <a:solidFill>
                  <a:srgbClr val="2D3880"/>
                </a:solidFill>
                <a:latin typeface="Glacial Indifference"/>
                <a:ea typeface="Glacial Indifference"/>
                <a:cs typeface="Glacial Indifference"/>
                <a:sym typeface="Glacial Indifference"/>
              </a:rPr>
              <a:t> Global transaction ID or group ID for the write-set transactions in Galera.(it may be id of first transaction and it can be different ibetween nodes)</a:t>
            </a:r>
          </a:p>
          <a:p>
            <a:pPr algn="l">
              <a:lnSpc>
                <a:spcPts val="2980"/>
              </a:lnSpc>
            </a:pPr>
            <a:r>
              <a:rPr lang="en-US" sz="2128" b="true">
                <a:solidFill>
                  <a:srgbClr val="2D3880"/>
                </a:solidFill>
                <a:latin typeface="Glacial Indifference Bold"/>
                <a:ea typeface="Glacial Indifference Bold"/>
                <a:cs typeface="Glacial Indifference Bold"/>
                <a:sym typeface="Glacial Indifference Bold"/>
              </a:rPr>
              <a:t>synced:</a:t>
            </a:r>
            <a:r>
              <a:rPr lang="en-US" sz="2128">
                <a:solidFill>
                  <a:srgbClr val="2D3880"/>
                </a:solidFill>
                <a:latin typeface="Glacial Indifference"/>
                <a:ea typeface="Glacial Indifference"/>
                <a:cs typeface="Glacial Indifference"/>
                <a:sym typeface="Glacial Indifference"/>
              </a:rPr>
              <a:t> Shows if this group of transactions has been synced or committed cluster-wide (0 means not synced yet).</a:t>
            </a:r>
          </a:p>
          <a:p>
            <a:pPr algn="l" marL="0" indent="0" lvl="0">
              <a:lnSpc>
                <a:spcPts val="1937"/>
              </a:lnSpc>
              <a:spcBef>
                <a:spcPct val="0"/>
              </a:spcBef>
            </a:pPr>
          </a:p>
        </p:txBody>
      </p:sp>
      <p:sp>
        <p:nvSpPr>
          <p:cNvPr name="TextBox 22" id="22"/>
          <p:cNvSpPr txBox="true"/>
          <p:nvPr/>
        </p:nvSpPr>
        <p:spPr>
          <a:xfrm rot="0">
            <a:off x="807459" y="6744131"/>
            <a:ext cx="8299958" cy="1761293"/>
          </a:xfrm>
          <a:prstGeom prst="rect">
            <a:avLst/>
          </a:prstGeom>
        </p:spPr>
        <p:txBody>
          <a:bodyPr anchor="t" rtlCol="false" tIns="0" lIns="0" bIns="0" rIns="0">
            <a:spAutoFit/>
          </a:bodyPr>
          <a:lstStyle/>
          <a:p>
            <a:pPr algn="l">
              <a:lnSpc>
                <a:spcPts val="2895"/>
              </a:lnSpc>
            </a:pPr>
            <a:r>
              <a:rPr lang="en-US" sz="2067" b="true">
                <a:solidFill>
                  <a:srgbClr val="2D3880"/>
                </a:solidFill>
                <a:latin typeface="Glacial Indifference Bold"/>
                <a:ea typeface="Glacial Indifference Bold"/>
                <a:cs typeface="Glacial Indifference Bold"/>
                <a:sym typeface="Glacial Indifference Bold"/>
              </a:rPr>
              <a:t>13e2c047-6a66-11f0-9521-9f3145e27a24:The UUID identifies the node.</a:t>
            </a:r>
          </a:p>
          <a:p>
            <a:pPr algn="l">
              <a:lnSpc>
                <a:spcPts val="3035"/>
              </a:lnSpc>
            </a:pPr>
            <a:r>
              <a:rPr lang="en-US" sz="2167" b="true">
                <a:solidFill>
                  <a:srgbClr val="2D3880"/>
                </a:solidFill>
                <a:latin typeface="Glacial Indifference Bold"/>
                <a:ea typeface="Glacial Indifference Bold"/>
                <a:cs typeface="Glacial Indifference Bold"/>
                <a:sym typeface="Glacial Indifference Bold"/>
              </a:rPr>
              <a:t>itsgalera1:</a:t>
            </a:r>
            <a:r>
              <a:rPr lang="en-US" sz="2167">
                <a:solidFill>
                  <a:srgbClr val="2D3880"/>
                </a:solidFill>
                <a:latin typeface="Glacial Indifference"/>
                <a:ea typeface="Glacial Indifference"/>
                <a:cs typeface="Glacial Indifference"/>
                <a:sym typeface="Glacial Indifference"/>
              </a:rPr>
              <a:t>node name</a:t>
            </a:r>
          </a:p>
          <a:p>
            <a:pPr algn="l" marL="0" indent="0" lvl="0">
              <a:lnSpc>
                <a:spcPts val="2895"/>
              </a:lnSpc>
              <a:spcBef>
                <a:spcPct val="0"/>
              </a:spcBef>
            </a:pPr>
            <a:r>
              <a:rPr lang="en-US" b="true" sz="2067">
                <a:solidFill>
                  <a:srgbClr val="2D3880"/>
                </a:solidFill>
                <a:latin typeface="Glacial Indifference Bold"/>
                <a:ea typeface="Glacial Indifference Bold"/>
                <a:cs typeface="Glacial Indifference Bold"/>
                <a:sym typeface="Glacial Indifference Bold"/>
              </a:rPr>
              <a:t>AUTO :</a:t>
            </a:r>
            <a:r>
              <a:rPr lang="en-US" sz="2067">
                <a:solidFill>
                  <a:srgbClr val="2D3880"/>
                </a:solidFill>
                <a:latin typeface="Glacial Indifference"/>
                <a:ea typeface="Glacial Indifference"/>
                <a:cs typeface="Glacial Indifference"/>
                <a:sym typeface="Glacial Indifference"/>
              </a:rPr>
              <a:t>is active and sync</a:t>
            </a:r>
          </a:p>
          <a:p>
            <a:pPr algn="l" marL="0" indent="0" lvl="0">
              <a:lnSpc>
                <a:spcPts val="2895"/>
              </a:lnSpc>
              <a:spcBef>
                <a:spcPct val="0"/>
              </a:spcBef>
            </a:pPr>
            <a:r>
              <a:rPr lang="en-US" b="true" sz="2067" strike="noStrike" u="none">
                <a:solidFill>
                  <a:srgbClr val="2D3880"/>
                </a:solidFill>
                <a:latin typeface="Glacial Indifference Bold"/>
                <a:ea typeface="Glacial Indifference Bold"/>
                <a:cs typeface="Glacial Indifference Bold"/>
                <a:sym typeface="Glacial Indifference Bold"/>
              </a:rPr>
              <a:t>unspecified: </a:t>
            </a:r>
            <a:r>
              <a:rPr lang="en-US" sz="2067" strike="noStrike" u="none">
                <a:solidFill>
                  <a:srgbClr val="2D3880"/>
                </a:solidFill>
                <a:latin typeface="Glacial Indifference"/>
                <a:ea typeface="Glacial Indifference"/>
                <a:cs typeface="Glacial Indifference"/>
                <a:sym typeface="Glacial Indifference"/>
              </a:rPr>
              <a:t>node is start or stop</a:t>
            </a:r>
          </a:p>
          <a:p>
            <a:pPr algn="l" marL="0" indent="0" lvl="0">
              <a:lnSpc>
                <a:spcPts val="2475"/>
              </a:lnSpc>
              <a:spcBef>
                <a:spcPct val="0"/>
              </a:spcBef>
            </a:pPr>
          </a:p>
        </p:txBody>
      </p:sp>
      <p:sp>
        <p:nvSpPr>
          <p:cNvPr name="TextBox 23" id="23"/>
          <p:cNvSpPr txBox="true"/>
          <p:nvPr/>
        </p:nvSpPr>
        <p:spPr>
          <a:xfrm rot="0">
            <a:off x="807459" y="5148019"/>
            <a:ext cx="7672001" cy="1521647"/>
          </a:xfrm>
          <a:prstGeom prst="rect">
            <a:avLst/>
          </a:prstGeom>
        </p:spPr>
        <p:txBody>
          <a:bodyPr anchor="t" rtlCol="false" tIns="0" lIns="0" bIns="0" rIns="0">
            <a:spAutoFit/>
          </a:bodyPr>
          <a:lstStyle/>
          <a:p>
            <a:pPr algn="l" marL="0" indent="0" lvl="0">
              <a:lnSpc>
                <a:spcPts val="2754"/>
              </a:lnSpc>
              <a:spcBef>
                <a:spcPct val="0"/>
              </a:spcBef>
            </a:pPr>
            <a:r>
              <a:rPr lang="en-US" sz="1967">
                <a:solidFill>
                  <a:srgbClr val="2D3880"/>
                </a:solidFill>
                <a:latin typeface="Glacial Indifference"/>
                <a:ea typeface="Glacial Indifference"/>
                <a:cs typeface="Glacial Indifference"/>
                <a:sym typeface="Glacial Indifference"/>
              </a:rPr>
              <a:t>0,-1,-1,3b8d3e9c-6a3c-11f0-aac8-1750d0ce2963:9,-1,-1,0,1</a:t>
            </a:r>
          </a:p>
          <a:p>
            <a:pPr algn="l" marL="0" indent="0" lvl="0">
              <a:lnSpc>
                <a:spcPts val="3314"/>
              </a:lnSpc>
              <a:spcBef>
                <a:spcPct val="0"/>
              </a:spcBef>
            </a:pPr>
            <a:r>
              <a:rPr lang="en-US" sz="2367" strike="noStrike" u="none">
                <a:solidFill>
                  <a:srgbClr val="2D3880"/>
                </a:solidFill>
                <a:latin typeface="Glacial Indifference"/>
                <a:ea typeface="Glacial Indifference"/>
                <a:cs typeface="Glacial Indifference"/>
                <a:sym typeface="Glacial Indifference"/>
              </a:rPr>
              <a:t>The 3b8d3e9c-6a3c-11f0-aac8-1750d0ce2963:9 is the GID plus sequence or fragment ID.</a:t>
            </a:r>
          </a:p>
          <a:p>
            <a:pPr algn="l" marL="0" indent="0" lvl="0">
              <a:lnSpc>
                <a:spcPts val="2754"/>
              </a:lnSpc>
              <a:spcBef>
                <a:spcPct val="0"/>
              </a:spcBef>
            </a:pPr>
          </a:p>
        </p:txBody>
      </p:sp>
      <p:sp>
        <p:nvSpPr>
          <p:cNvPr name="TextBox 24" id="24"/>
          <p:cNvSpPr txBox="true"/>
          <p:nvPr/>
        </p:nvSpPr>
        <p:spPr>
          <a:xfrm rot="0">
            <a:off x="9659385" y="2585829"/>
            <a:ext cx="8123191" cy="5990777"/>
          </a:xfrm>
          <a:prstGeom prst="rect">
            <a:avLst/>
          </a:prstGeom>
        </p:spPr>
        <p:txBody>
          <a:bodyPr anchor="t" rtlCol="false" tIns="0" lIns="0" bIns="0" rIns="0">
            <a:spAutoFit/>
          </a:bodyPr>
          <a:lstStyle/>
          <a:p>
            <a:pPr algn="l">
              <a:lnSpc>
                <a:spcPts val="3174"/>
              </a:lnSpc>
            </a:pPr>
            <a:r>
              <a:rPr lang="en-US" sz="2267" b="true">
                <a:solidFill>
                  <a:srgbClr val="2D3880"/>
                </a:solidFill>
                <a:latin typeface="Glacial Indifference Bold"/>
                <a:ea typeface="Glacial Indifference Bold"/>
                <a:cs typeface="Glacial Indifference Bold"/>
                <a:sym typeface="Glacial Indifference Bold"/>
              </a:rPr>
              <a:t>STRv1</a:t>
            </a:r>
            <a:r>
              <a:rPr lang="en-US" sz="2267">
                <a:solidFill>
                  <a:srgbClr val="2D3880"/>
                </a:solidFill>
                <a:latin typeface="Glacial Indifference"/>
                <a:ea typeface="Glacial Indifference"/>
                <a:cs typeface="Glacial Indifference"/>
                <a:sym typeface="Glacial Indifference"/>
              </a:rPr>
              <a:t>:This just means it's using version 1 of the State Transfer protocol.</a:t>
            </a:r>
          </a:p>
          <a:p>
            <a:pPr algn="l">
              <a:lnSpc>
                <a:spcPts val="3174"/>
              </a:lnSpc>
            </a:pPr>
            <a:r>
              <a:rPr lang="en-US" sz="2267" b="true">
                <a:solidFill>
                  <a:srgbClr val="2D3880"/>
                </a:solidFill>
                <a:latin typeface="Glacial Indifference Bold"/>
                <a:ea typeface="Glacial Indifference Bold"/>
                <a:cs typeface="Glacial Indifference Bold"/>
                <a:sym typeface="Glacial Indifference Bold"/>
              </a:rPr>
              <a:t>rsync:</a:t>
            </a:r>
            <a:r>
              <a:rPr lang="en-US" sz="2267">
                <a:solidFill>
                  <a:srgbClr val="2D3880"/>
                </a:solidFill>
                <a:latin typeface="Glacial Indifference"/>
                <a:ea typeface="Glacial Indifference"/>
                <a:cs typeface="Glacial Indifference"/>
                <a:sym typeface="Glacial Indifference"/>
              </a:rPr>
              <a:t>This is the specific method used for the transfer. meaning the entire database is copied from a working node to the new node.</a:t>
            </a:r>
          </a:p>
          <a:p>
            <a:pPr algn="l">
              <a:lnSpc>
                <a:spcPts val="3174"/>
              </a:lnSpc>
            </a:pPr>
            <a:r>
              <a:rPr lang="en-US" sz="2267" b="true">
                <a:solidFill>
                  <a:srgbClr val="2D3880"/>
                </a:solidFill>
                <a:latin typeface="Glacial Indifference Bold"/>
                <a:ea typeface="Glacial Indifference Bold"/>
                <a:cs typeface="Glacial Indifference Bold"/>
                <a:sym typeface="Glacial Indifference Bold"/>
              </a:rPr>
              <a:t>192.168.155.94:4444/rsync_sst</a:t>
            </a:r>
            <a:r>
              <a:rPr lang="en-US" sz="2267">
                <a:solidFill>
                  <a:srgbClr val="2D3880"/>
                </a:solidFill>
                <a:latin typeface="Glacial Indifference"/>
                <a:ea typeface="Glacial Indifference"/>
                <a:cs typeface="Glacial Indifference"/>
                <a:sym typeface="Glacial Indifference"/>
              </a:rPr>
              <a:t>:This shows the IP address and port of the donor node—the node that is sending a full copy of the database.</a:t>
            </a:r>
          </a:p>
          <a:p>
            <a:pPr algn="l" marL="0" indent="0" lvl="0">
              <a:lnSpc>
                <a:spcPts val="3174"/>
              </a:lnSpc>
              <a:spcBef>
                <a:spcPct val="0"/>
              </a:spcBef>
            </a:pPr>
            <a:r>
              <a:rPr lang="en-US" b="true" sz="2267">
                <a:solidFill>
                  <a:srgbClr val="2D3880"/>
                </a:solidFill>
                <a:latin typeface="Glacial Indifference Bold"/>
                <a:ea typeface="Glacial Indifference Bold"/>
                <a:cs typeface="Glacial Indifference Bold"/>
                <a:sym typeface="Glacial Indifference Bold"/>
              </a:rPr>
              <a:t>3b8d3e9c-6a3c-11f0-aac8-1750d0ce2963:24-26|tcp://192.168.155.94:4568</a:t>
            </a:r>
            <a:r>
              <a:rPr lang="en-US" sz="2267">
                <a:solidFill>
                  <a:srgbClr val="2D3880"/>
                </a:solidFill>
                <a:latin typeface="Glacial Indifference"/>
                <a:ea typeface="Glacial Indifference"/>
                <a:cs typeface="Glacial Indifference"/>
                <a:sym typeface="Glacial Indifference"/>
              </a:rPr>
              <a:t>:It indicates that the joining node needs to sync transactions from sequence number 24 to 26. This type of transfer occurs when a node reconnects after being offline and needs to catch up on the transactions it missed.</a:t>
            </a:r>
          </a:p>
          <a:p>
            <a:pPr algn="l" marL="0" indent="0" lvl="0">
              <a:lnSpc>
                <a:spcPts val="3174"/>
              </a:lnSpc>
              <a:spcBef>
                <a:spcPct val="0"/>
              </a:spcBef>
            </a:pPr>
          </a:p>
          <a:p>
            <a:pPr algn="l" marL="0" indent="0" lvl="0">
              <a:lnSpc>
                <a:spcPts val="3174"/>
              </a:lnSpc>
              <a:spcBef>
                <a:spcPct val="0"/>
              </a:spcBef>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EFFFA"/>
        </a:solidFill>
      </p:bgPr>
    </p:bg>
    <p:spTree>
      <p:nvGrpSpPr>
        <p:cNvPr id="1" name=""/>
        <p:cNvGrpSpPr/>
        <p:nvPr/>
      </p:nvGrpSpPr>
      <p:grpSpPr>
        <a:xfrm>
          <a:off x="0" y="0"/>
          <a:ext cx="0" cy="0"/>
          <a:chOff x="0" y="0"/>
          <a:chExt cx="0" cy="0"/>
        </a:xfrm>
      </p:grpSpPr>
      <p:sp>
        <p:nvSpPr>
          <p:cNvPr name="TextBox 2" id="2"/>
          <p:cNvSpPr txBox="true"/>
          <p:nvPr/>
        </p:nvSpPr>
        <p:spPr>
          <a:xfrm rot="0">
            <a:off x="4340248" y="1786977"/>
            <a:ext cx="9607505" cy="1867696"/>
          </a:xfrm>
          <a:prstGeom prst="rect">
            <a:avLst/>
          </a:prstGeom>
        </p:spPr>
        <p:txBody>
          <a:bodyPr anchor="t" rtlCol="false" tIns="0" lIns="0" bIns="0" rIns="0">
            <a:spAutoFit/>
          </a:bodyPr>
          <a:lstStyle/>
          <a:p>
            <a:pPr algn="ctr" marL="0" indent="0" lvl="0">
              <a:lnSpc>
                <a:spcPts val="13825"/>
              </a:lnSpc>
              <a:spcBef>
                <a:spcPct val="0"/>
              </a:spcBef>
            </a:pPr>
            <a:r>
              <a:rPr lang="en-US" sz="14401" spc="-1382">
                <a:solidFill>
                  <a:srgbClr val="134E1A"/>
                </a:solidFill>
                <a:latin typeface="League Spartan"/>
                <a:ea typeface="League Spartan"/>
                <a:cs typeface="League Spartan"/>
                <a:sym typeface="League Spartan"/>
              </a:rPr>
              <a:t>binary log</a:t>
            </a:r>
          </a:p>
        </p:txBody>
      </p:sp>
      <p:sp>
        <p:nvSpPr>
          <p:cNvPr name="TextBox 3" id="3"/>
          <p:cNvSpPr txBox="true"/>
          <p:nvPr/>
        </p:nvSpPr>
        <p:spPr>
          <a:xfrm rot="0">
            <a:off x="2700681" y="3988815"/>
            <a:ext cx="13402156" cy="5626100"/>
          </a:xfrm>
          <a:prstGeom prst="rect">
            <a:avLst/>
          </a:prstGeom>
        </p:spPr>
        <p:txBody>
          <a:bodyPr anchor="t" rtlCol="false" tIns="0" lIns="0" bIns="0" rIns="0">
            <a:spAutoFit/>
          </a:bodyPr>
          <a:lstStyle/>
          <a:p>
            <a:pPr algn="ctr" marL="0" indent="0" lvl="0">
              <a:lnSpc>
                <a:spcPts val="4074"/>
              </a:lnSpc>
              <a:spcBef>
                <a:spcPct val="0"/>
              </a:spcBef>
            </a:pPr>
            <a:r>
              <a:rPr lang="en-US" sz="2499">
                <a:solidFill>
                  <a:srgbClr val="000000"/>
                </a:solidFill>
                <a:latin typeface="Lato"/>
                <a:ea typeface="Lato"/>
                <a:cs typeface="Lato"/>
                <a:sym typeface="Lato"/>
              </a:rPr>
              <a:t>B</a:t>
            </a:r>
            <a:r>
              <a:rPr lang="en-US" sz="2499" strike="noStrike" u="none">
                <a:solidFill>
                  <a:srgbClr val="000000"/>
                </a:solidFill>
                <a:latin typeface="Lato"/>
                <a:ea typeface="Lato"/>
                <a:cs typeface="Lato"/>
                <a:sym typeface="Lato"/>
              </a:rPr>
              <a:t>inlog  is a file that MySQL uses to save all changes made to the database, like:when you add, edit, or delete data.It helps for:</a:t>
            </a:r>
          </a:p>
          <a:p>
            <a:pPr algn="ctr" marL="0" indent="0" lvl="0">
              <a:lnSpc>
                <a:spcPts val="4074"/>
              </a:lnSpc>
              <a:spcBef>
                <a:spcPct val="0"/>
              </a:spcBef>
            </a:pPr>
            <a:r>
              <a:rPr lang="en-US" sz="2499" strike="noStrike" u="none">
                <a:solidFill>
                  <a:srgbClr val="000000"/>
                </a:solidFill>
                <a:latin typeface="Lato"/>
                <a:ea typeface="Lato"/>
                <a:cs typeface="Lato"/>
                <a:sym typeface="Lato"/>
              </a:rPr>
              <a:t>Backup and restore</a:t>
            </a:r>
          </a:p>
          <a:p>
            <a:pPr algn="ctr" marL="0" indent="0" lvl="0">
              <a:lnSpc>
                <a:spcPts val="4074"/>
              </a:lnSpc>
              <a:spcBef>
                <a:spcPct val="0"/>
              </a:spcBef>
            </a:pPr>
            <a:r>
              <a:rPr lang="en-US" sz="2499" strike="noStrike" u="none">
                <a:solidFill>
                  <a:srgbClr val="000000"/>
                </a:solidFill>
                <a:latin typeface="Lato"/>
                <a:ea typeface="Lato"/>
                <a:cs typeface="Lato"/>
                <a:sym typeface="Lato"/>
              </a:rPr>
              <a:t>Sending changes to another MySQL server (replication)</a:t>
            </a:r>
          </a:p>
          <a:p>
            <a:pPr algn="ctr">
              <a:lnSpc>
                <a:spcPts val="4074"/>
              </a:lnSpc>
              <a:spcBef>
                <a:spcPct val="0"/>
              </a:spcBef>
            </a:pPr>
            <a:r>
              <a:rPr lang="en-US" sz="2499" strike="noStrike" u="none">
                <a:solidFill>
                  <a:srgbClr val="000000"/>
                </a:solidFill>
                <a:latin typeface="Lato"/>
                <a:ea typeface="Lato"/>
                <a:cs typeface="Lato"/>
                <a:sym typeface="Lato"/>
              </a:rPr>
              <a:t>Galera does not use binlog for its own replication between nodes.</a:t>
            </a:r>
          </a:p>
          <a:p>
            <a:pPr algn="ctr">
              <a:lnSpc>
                <a:spcPts val="4074"/>
              </a:lnSpc>
              <a:spcBef>
                <a:spcPct val="0"/>
              </a:spcBef>
            </a:pPr>
            <a:r>
              <a:rPr lang="en-US" sz="2499" strike="noStrike" u="none">
                <a:solidFill>
                  <a:srgbClr val="000000"/>
                </a:solidFill>
                <a:latin typeface="Lato"/>
                <a:ea typeface="Lato"/>
                <a:cs typeface="Lato"/>
                <a:sym typeface="Lato"/>
              </a:rPr>
              <a:t>Galera uses its own method called write-set to send changes between nodes.</a:t>
            </a:r>
          </a:p>
          <a:p>
            <a:pPr algn="ctr">
              <a:lnSpc>
                <a:spcPts val="4074"/>
              </a:lnSpc>
              <a:spcBef>
                <a:spcPct val="0"/>
              </a:spcBef>
            </a:pPr>
            <a:r>
              <a:rPr lang="en-US" sz="2499" strike="noStrike" u="none">
                <a:solidFill>
                  <a:srgbClr val="000000"/>
                </a:solidFill>
                <a:latin typeface="Lato"/>
                <a:ea typeface="Lato"/>
                <a:cs typeface="Lato"/>
                <a:sym typeface="Lato"/>
              </a:rPr>
              <a:t>But you can still turn on binlog if you want to:</a:t>
            </a:r>
          </a:p>
          <a:p>
            <a:pPr algn="ctr">
              <a:lnSpc>
                <a:spcPts val="4074"/>
              </a:lnSpc>
              <a:spcBef>
                <a:spcPct val="0"/>
              </a:spcBef>
            </a:pPr>
            <a:r>
              <a:rPr lang="en-US" sz="2499" strike="noStrike" u="none">
                <a:solidFill>
                  <a:srgbClr val="000000"/>
                </a:solidFill>
                <a:latin typeface="Lato"/>
                <a:ea typeface="Lato"/>
                <a:cs typeface="Lato"/>
                <a:sym typeface="Lato"/>
              </a:rPr>
              <a:t>Send changes from Galera to an external MySQL server (asynchronous replication)</a:t>
            </a:r>
          </a:p>
          <a:p>
            <a:pPr algn="ctr">
              <a:lnSpc>
                <a:spcPts val="4074"/>
              </a:lnSpc>
              <a:spcBef>
                <a:spcPct val="0"/>
              </a:spcBef>
            </a:pPr>
            <a:r>
              <a:rPr lang="en-US" sz="2499" strike="noStrike" u="none">
                <a:solidFill>
                  <a:srgbClr val="000000"/>
                </a:solidFill>
                <a:latin typeface="Lato"/>
                <a:ea typeface="Lato"/>
                <a:cs typeface="Lato"/>
                <a:sym typeface="Lato"/>
              </a:rPr>
              <a:t>Keep a record of all changes (for backup or audit)</a:t>
            </a:r>
          </a:p>
          <a:p>
            <a:pPr algn="ctr" marL="0" indent="0" lvl="0">
              <a:lnSpc>
                <a:spcPts val="4074"/>
              </a:lnSpc>
              <a:spcBef>
                <a:spcPct val="0"/>
              </a:spcBef>
            </a:pPr>
          </a:p>
          <a:p>
            <a:pPr algn="ctr" marL="0" indent="0" lvl="0">
              <a:lnSpc>
                <a:spcPts val="4074"/>
              </a:lnSpc>
              <a:spcBef>
                <a:spcPct val="0"/>
              </a:spcBef>
            </a:pPr>
          </a:p>
        </p:txBody>
      </p:sp>
      <p:grpSp>
        <p:nvGrpSpPr>
          <p:cNvPr name="Group 4" id="4"/>
          <p:cNvGrpSpPr/>
          <p:nvPr/>
        </p:nvGrpSpPr>
        <p:grpSpPr>
          <a:xfrm rot="0">
            <a:off x="1028700" y="8475178"/>
            <a:ext cx="896220" cy="2485261"/>
            <a:chOff x="0" y="0"/>
            <a:chExt cx="236041" cy="654554"/>
          </a:xfrm>
        </p:grpSpPr>
        <p:sp>
          <p:nvSpPr>
            <p:cNvPr name="Freeform 5" id="5"/>
            <p:cNvSpPr/>
            <p:nvPr/>
          </p:nvSpPr>
          <p:spPr>
            <a:xfrm flipH="false" flipV="false" rot="0">
              <a:off x="0" y="0"/>
              <a:ext cx="236041" cy="654554"/>
            </a:xfrm>
            <a:custGeom>
              <a:avLst/>
              <a:gdLst/>
              <a:ahLst/>
              <a:cxnLst/>
              <a:rect r="r" b="b" t="t" l="l"/>
              <a:pathLst>
                <a:path h="654554" w="236041">
                  <a:moveTo>
                    <a:pt x="118021" y="0"/>
                  </a:moveTo>
                  <a:lnTo>
                    <a:pt x="118021" y="0"/>
                  </a:lnTo>
                  <a:cubicBezTo>
                    <a:pt x="149322" y="0"/>
                    <a:pt x="179341" y="12434"/>
                    <a:pt x="201474" y="34567"/>
                  </a:cubicBezTo>
                  <a:cubicBezTo>
                    <a:pt x="223607" y="56701"/>
                    <a:pt x="236041" y="86720"/>
                    <a:pt x="236041" y="118021"/>
                  </a:cubicBezTo>
                  <a:lnTo>
                    <a:pt x="236041" y="536534"/>
                  </a:lnTo>
                  <a:cubicBezTo>
                    <a:pt x="236041" y="567835"/>
                    <a:pt x="223607" y="597854"/>
                    <a:pt x="201474" y="619987"/>
                  </a:cubicBezTo>
                  <a:cubicBezTo>
                    <a:pt x="179341" y="642120"/>
                    <a:pt x="149322" y="654554"/>
                    <a:pt x="118021" y="654554"/>
                  </a:cubicBezTo>
                  <a:lnTo>
                    <a:pt x="118021" y="654554"/>
                  </a:lnTo>
                  <a:cubicBezTo>
                    <a:pt x="86720" y="654554"/>
                    <a:pt x="56701" y="642120"/>
                    <a:pt x="34567" y="619987"/>
                  </a:cubicBezTo>
                  <a:cubicBezTo>
                    <a:pt x="12434" y="597854"/>
                    <a:pt x="0" y="567835"/>
                    <a:pt x="0" y="536534"/>
                  </a:cubicBezTo>
                  <a:lnTo>
                    <a:pt x="0" y="118021"/>
                  </a:lnTo>
                  <a:cubicBezTo>
                    <a:pt x="0" y="86720"/>
                    <a:pt x="12434" y="56701"/>
                    <a:pt x="34567" y="34567"/>
                  </a:cubicBezTo>
                  <a:cubicBezTo>
                    <a:pt x="56701" y="12434"/>
                    <a:pt x="86720" y="0"/>
                    <a:pt x="118021" y="0"/>
                  </a:cubicBezTo>
                  <a:close/>
                </a:path>
              </a:pathLst>
            </a:custGeom>
            <a:solidFill>
              <a:srgbClr val="577550"/>
            </a:solidFill>
          </p:spPr>
        </p:sp>
        <p:sp>
          <p:nvSpPr>
            <p:cNvPr name="TextBox 6" id="6"/>
            <p:cNvSpPr txBox="true"/>
            <p:nvPr/>
          </p:nvSpPr>
          <p:spPr>
            <a:xfrm>
              <a:off x="0" y="-47625"/>
              <a:ext cx="236041" cy="702179"/>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0">
            <a:off x="13947752" y="548727"/>
            <a:ext cx="3657600" cy="914400"/>
          </a:xfrm>
          <a:custGeom>
            <a:avLst/>
            <a:gdLst/>
            <a:ahLst/>
            <a:cxnLst/>
            <a:rect r="r" b="b" t="t" l="l"/>
            <a:pathLst>
              <a:path h="914400" w="3657600">
                <a:moveTo>
                  <a:pt x="0" y="0"/>
                </a:moveTo>
                <a:lnTo>
                  <a:pt x="3657600" y="0"/>
                </a:lnTo>
                <a:lnTo>
                  <a:pt x="3657600" y="914400"/>
                </a:lnTo>
                <a:lnTo>
                  <a:pt x="0" y="914400"/>
                </a:lnTo>
                <a:lnTo>
                  <a:pt x="0" y="0"/>
                </a:lnTo>
                <a:close/>
              </a:path>
            </a:pathLst>
          </a:custGeom>
          <a:blipFill>
            <a:blip r:embed="rId2">
              <a:alphaModFix amt="46000"/>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grpSp>
        <p:nvGrpSpPr>
          <p:cNvPr name="Group 3" id="3"/>
          <p:cNvGrpSpPr/>
          <p:nvPr/>
        </p:nvGrpSpPr>
        <p:grpSpPr>
          <a:xfrm rot="0">
            <a:off x="-4990404" y="-437169"/>
            <a:ext cx="19354610" cy="2258023"/>
            <a:chOff x="0" y="0"/>
            <a:chExt cx="1876002" cy="218865"/>
          </a:xfrm>
        </p:grpSpPr>
        <p:sp>
          <p:nvSpPr>
            <p:cNvPr name="Freeform 4" id="4"/>
            <p:cNvSpPr/>
            <p:nvPr/>
          </p:nvSpPr>
          <p:spPr>
            <a:xfrm flipH="false" flipV="false" rot="0">
              <a:off x="0" y="0"/>
              <a:ext cx="1876002" cy="218865"/>
            </a:xfrm>
            <a:custGeom>
              <a:avLst/>
              <a:gdLst/>
              <a:ahLst/>
              <a:cxnLst/>
              <a:rect r="r" b="b" t="t" l="l"/>
              <a:pathLst>
                <a:path h="218865" w="1876002">
                  <a:moveTo>
                    <a:pt x="1672802" y="0"/>
                  </a:moveTo>
                  <a:lnTo>
                    <a:pt x="0" y="0"/>
                  </a:lnTo>
                  <a:lnTo>
                    <a:pt x="203200" y="218865"/>
                  </a:lnTo>
                  <a:lnTo>
                    <a:pt x="1876002" y="218865"/>
                  </a:lnTo>
                  <a:lnTo>
                    <a:pt x="1672802" y="0"/>
                  </a:lnTo>
                  <a:close/>
                </a:path>
              </a:pathLst>
            </a:custGeom>
            <a:solidFill>
              <a:srgbClr val="577550"/>
            </a:solidFill>
            <a:ln cap="sq">
              <a:noFill/>
              <a:prstDash val="solid"/>
              <a:miter/>
            </a:ln>
          </p:spPr>
        </p:sp>
        <p:sp>
          <p:nvSpPr>
            <p:cNvPr name="TextBox 5" id="5"/>
            <p:cNvSpPr txBox="true"/>
            <p:nvPr/>
          </p:nvSpPr>
          <p:spPr>
            <a:xfrm>
              <a:off x="101600" y="-19050"/>
              <a:ext cx="1672802" cy="237915"/>
            </a:xfrm>
            <a:prstGeom prst="rect">
              <a:avLst/>
            </a:prstGeom>
          </p:spPr>
          <p:txBody>
            <a:bodyPr anchor="ctr" rtlCol="false" tIns="50800" lIns="50800" bIns="50800" rIns="50800"/>
            <a:lstStyle/>
            <a:p>
              <a:pPr algn="ctr" marL="0" indent="0" lvl="0">
                <a:lnSpc>
                  <a:spcPts val="2859"/>
                </a:lnSpc>
                <a:spcBef>
                  <a:spcPct val="0"/>
                </a:spcBef>
              </a:pPr>
            </a:p>
          </p:txBody>
        </p:sp>
      </p:grpSp>
      <p:grpSp>
        <p:nvGrpSpPr>
          <p:cNvPr name="Group 6" id="6"/>
          <p:cNvGrpSpPr/>
          <p:nvPr/>
        </p:nvGrpSpPr>
        <p:grpSpPr>
          <a:xfrm rot="0">
            <a:off x="660625" y="2494685"/>
            <a:ext cx="736150" cy="679916"/>
            <a:chOff x="0" y="0"/>
            <a:chExt cx="193883" cy="179073"/>
          </a:xfrm>
        </p:grpSpPr>
        <p:sp>
          <p:nvSpPr>
            <p:cNvPr name="Freeform 7" id="7"/>
            <p:cNvSpPr/>
            <p:nvPr/>
          </p:nvSpPr>
          <p:spPr>
            <a:xfrm flipH="false" flipV="false" rot="0">
              <a:off x="0" y="0"/>
              <a:ext cx="193883" cy="179073"/>
            </a:xfrm>
            <a:custGeom>
              <a:avLst/>
              <a:gdLst/>
              <a:ahLst/>
              <a:cxnLst/>
              <a:rect r="r" b="b" t="t" l="l"/>
              <a:pathLst>
                <a:path h="179073" w="193883">
                  <a:moveTo>
                    <a:pt x="84134" y="0"/>
                  </a:moveTo>
                  <a:lnTo>
                    <a:pt x="109749" y="0"/>
                  </a:lnTo>
                  <a:cubicBezTo>
                    <a:pt x="156215" y="0"/>
                    <a:pt x="193883" y="37668"/>
                    <a:pt x="193883" y="84134"/>
                  </a:cubicBezTo>
                  <a:lnTo>
                    <a:pt x="193883" y="94938"/>
                  </a:lnTo>
                  <a:cubicBezTo>
                    <a:pt x="193883" y="141404"/>
                    <a:pt x="156215" y="179073"/>
                    <a:pt x="109749" y="179073"/>
                  </a:cubicBezTo>
                  <a:lnTo>
                    <a:pt x="84134" y="179073"/>
                  </a:lnTo>
                  <a:cubicBezTo>
                    <a:pt x="37668" y="179073"/>
                    <a:pt x="0" y="141404"/>
                    <a:pt x="0" y="94938"/>
                  </a:cubicBezTo>
                  <a:lnTo>
                    <a:pt x="0" y="84134"/>
                  </a:lnTo>
                  <a:cubicBezTo>
                    <a:pt x="0" y="37668"/>
                    <a:pt x="37668" y="0"/>
                    <a:pt x="84134" y="0"/>
                  </a:cubicBezTo>
                  <a:close/>
                </a:path>
              </a:pathLst>
            </a:custGeom>
            <a:solidFill>
              <a:srgbClr val="577550"/>
            </a:solidFill>
          </p:spPr>
        </p:sp>
        <p:sp>
          <p:nvSpPr>
            <p:cNvPr name="TextBox 8" id="8"/>
            <p:cNvSpPr txBox="true"/>
            <p:nvPr/>
          </p:nvSpPr>
          <p:spPr>
            <a:xfrm>
              <a:off x="0" y="-57150"/>
              <a:ext cx="193883" cy="236223"/>
            </a:xfrm>
            <a:prstGeom prst="rect">
              <a:avLst/>
            </a:prstGeom>
          </p:spPr>
          <p:txBody>
            <a:bodyPr anchor="t" rtlCol="false" tIns="50800" lIns="50800" bIns="50800" rIns="50800"/>
            <a:lstStyle/>
            <a:p>
              <a:pPr algn="ctr" marL="0" indent="0" lvl="0">
                <a:lnSpc>
                  <a:spcPts val="4114"/>
                </a:lnSpc>
                <a:spcBef>
                  <a:spcPct val="0"/>
                </a:spcBef>
              </a:pPr>
              <a:r>
                <a:rPr lang="en-US" b="true" sz="2981" spc="29">
                  <a:solidFill>
                    <a:srgbClr val="FFFFFF"/>
                  </a:solidFill>
                  <a:latin typeface="Lato Bold"/>
                  <a:ea typeface="Lato Bold"/>
                  <a:cs typeface="Lato Bold"/>
                  <a:sym typeface="Lato Bold"/>
                </a:rPr>
                <a:t>01</a:t>
              </a:r>
            </a:p>
          </p:txBody>
        </p:sp>
      </p:grpSp>
      <p:sp>
        <p:nvSpPr>
          <p:cNvPr name="TextBox 9" id="9"/>
          <p:cNvSpPr txBox="true"/>
          <p:nvPr/>
        </p:nvSpPr>
        <p:spPr>
          <a:xfrm rot="0">
            <a:off x="2031477" y="2456585"/>
            <a:ext cx="15227823" cy="2392442"/>
          </a:xfrm>
          <a:prstGeom prst="rect">
            <a:avLst/>
          </a:prstGeom>
        </p:spPr>
        <p:txBody>
          <a:bodyPr anchor="t" rtlCol="false" tIns="0" lIns="0" bIns="0" rIns="0">
            <a:spAutoFit/>
          </a:bodyPr>
          <a:lstStyle/>
          <a:p>
            <a:pPr algn="l" marL="0" indent="0" lvl="0">
              <a:lnSpc>
                <a:spcPts val="2774"/>
              </a:lnSpc>
              <a:spcBef>
                <a:spcPct val="0"/>
              </a:spcBef>
            </a:pPr>
            <a:r>
              <a:rPr lang="en-US" sz="2010" spc="197">
                <a:solidFill>
                  <a:srgbClr val="231F20"/>
                </a:solidFill>
                <a:latin typeface="Lato"/>
                <a:ea typeface="Lato"/>
                <a:cs typeface="Lato"/>
                <a:sym typeface="Lato"/>
              </a:rPr>
              <a:t>To check if binary logging (binlog) is enabled in My</a:t>
            </a:r>
            <a:r>
              <a:rPr lang="en-US" sz="2010" spc="197" u="none">
                <a:solidFill>
                  <a:srgbClr val="231F20"/>
                </a:solidFill>
                <a:latin typeface="Lato"/>
                <a:ea typeface="Lato"/>
                <a:cs typeface="Lato"/>
                <a:sym typeface="Lato"/>
              </a:rPr>
              <a:t>SQL or Galera, you can run this command:</a:t>
            </a:r>
            <a:r>
              <a:rPr lang="en-US" b="true" sz="2010" spc="197" u="none">
                <a:solidFill>
                  <a:srgbClr val="231F20"/>
                </a:solidFill>
                <a:latin typeface="Lato Bold"/>
                <a:ea typeface="Lato Bold"/>
                <a:cs typeface="Lato Bold"/>
                <a:sym typeface="Lato Bold"/>
              </a:rPr>
              <a:t>SHOW VARIABLES LIKE 'log_bin';</a:t>
            </a:r>
          </a:p>
          <a:p>
            <a:pPr algn="l">
              <a:lnSpc>
                <a:spcPts val="2774"/>
              </a:lnSpc>
              <a:spcBef>
                <a:spcPct val="0"/>
              </a:spcBef>
            </a:pPr>
            <a:r>
              <a:rPr lang="en-US" sz="2010" spc="197" u="none">
                <a:solidFill>
                  <a:srgbClr val="231F20"/>
                </a:solidFill>
                <a:latin typeface="Lato"/>
                <a:ea typeface="Lato"/>
                <a:cs typeface="Lato"/>
                <a:sym typeface="Lato"/>
              </a:rPr>
              <a:t>If the result is ON, then the server is saving changes to the binlog.</a:t>
            </a:r>
          </a:p>
          <a:p>
            <a:pPr algn="l">
              <a:lnSpc>
                <a:spcPts val="2774"/>
              </a:lnSpc>
              <a:spcBef>
                <a:spcPct val="0"/>
              </a:spcBef>
            </a:pPr>
            <a:r>
              <a:rPr lang="en-US" sz="2010" spc="197" u="none">
                <a:solidFill>
                  <a:srgbClr val="231F20"/>
                </a:solidFill>
                <a:latin typeface="Lato"/>
                <a:ea typeface="Lato"/>
                <a:cs typeface="Lato"/>
                <a:sym typeface="Lato"/>
              </a:rPr>
              <a:t>If the result is empty or OFF, then binlog is not enabled, and changes are not saved in the binlog.</a:t>
            </a:r>
          </a:p>
          <a:p>
            <a:pPr algn="l">
              <a:lnSpc>
                <a:spcPts val="2774"/>
              </a:lnSpc>
              <a:spcBef>
                <a:spcPct val="0"/>
              </a:spcBef>
            </a:pPr>
            <a:r>
              <a:rPr lang="en-US" sz="2010" spc="197" u="none">
                <a:solidFill>
                  <a:srgbClr val="231F20"/>
                </a:solidFill>
                <a:latin typeface="Lato"/>
                <a:ea typeface="Lato"/>
                <a:cs typeface="Lato"/>
                <a:sym typeface="Lato"/>
              </a:rPr>
              <a:t>To find the location where the binlog files are stored, you can use:</a:t>
            </a:r>
            <a:r>
              <a:rPr lang="en-US" b="true" sz="2010" spc="197" u="none">
                <a:solidFill>
                  <a:srgbClr val="231F20"/>
                </a:solidFill>
                <a:latin typeface="Lato Bold"/>
                <a:ea typeface="Lato Bold"/>
                <a:cs typeface="Lato Bold"/>
                <a:sym typeface="Lato Bold"/>
              </a:rPr>
              <a:t>SHOW VARIABLES LIKE 'log_bin_basename';</a:t>
            </a:r>
          </a:p>
          <a:p>
            <a:pPr algn="l" marL="434050" indent="-217025" lvl="1">
              <a:lnSpc>
                <a:spcPts val="2774"/>
              </a:lnSpc>
              <a:spcBef>
                <a:spcPct val="0"/>
              </a:spcBef>
              <a:buFont typeface="Arial"/>
              <a:buChar char="•"/>
            </a:pPr>
            <a:r>
              <a:rPr lang="en-US" b="true" sz="2010" spc="197" u="none">
                <a:solidFill>
                  <a:srgbClr val="231F20"/>
                </a:solidFill>
                <a:latin typeface="Lato Bold"/>
                <a:ea typeface="Lato Bold"/>
                <a:cs typeface="Lato Bold"/>
                <a:sym typeface="Lato Bold"/>
              </a:rPr>
              <a:t>sudo cat /var/lib/mysql/binlog.index -&gt; indexes</a:t>
            </a:r>
          </a:p>
          <a:p>
            <a:pPr algn="l" marL="0" indent="0" lvl="0">
              <a:lnSpc>
                <a:spcPts val="2774"/>
              </a:lnSpc>
              <a:spcBef>
                <a:spcPct val="0"/>
              </a:spcBef>
            </a:pPr>
            <a:r>
              <a:rPr lang="en-US" sz="2010" spc="197" u="none">
                <a:solidFill>
                  <a:srgbClr val="231F20"/>
                </a:solidFill>
                <a:latin typeface="Lato"/>
                <a:ea typeface="Lato"/>
                <a:cs typeface="Lato"/>
                <a:sym typeface="Lato"/>
              </a:rPr>
              <a:t> </a:t>
            </a:r>
          </a:p>
        </p:txBody>
      </p:sp>
      <p:sp>
        <p:nvSpPr>
          <p:cNvPr name="TextBox 10" id="10"/>
          <p:cNvSpPr txBox="true"/>
          <p:nvPr/>
        </p:nvSpPr>
        <p:spPr>
          <a:xfrm rot="0">
            <a:off x="1663813" y="933450"/>
            <a:ext cx="9308329" cy="812989"/>
          </a:xfrm>
          <a:prstGeom prst="rect">
            <a:avLst/>
          </a:prstGeom>
        </p:spPr>
        <p:txBody>
          <a:bodyPr anchor="t" rtlCol="false" tIns="0" lIns="0" bIns="0" rIns="0">
            <a:spAutoFit/>
          </a:bodyPr>
          <a:lstStyle/>
          <a:p>
            <a:pPr algn="ctr" marL="0" indent="0" lvl="0">
              <a:lnSpc>
                <a:spcPts val="6548"/>
              </a:lnSpc>
              <a:spcBef>
                <a:spcPct val="0"/>
              </a:spcBef>
            </a:pPr>
            <a:r>
              <a:rPr lang="en-US" sz="4745" spc="37">
                <a:solidFill>
                  <a:srgbClr val="FFFFFF"/>
                </a:solidFill>
                <a:latin typeface="Archivo Black"/>
                <a:ea typeface="Archivo Black"/>
                <a:cs typeface="Archivo Black"/>
                <a:sym typeface="Archivo Black"/>
              </a:rPr>
              <a:t>BINLOG</a:t>
            </a:r>
          </a:p>
        </p:txBody>
      </p:sp>
      <p:grpSp>
        <p:nvGrpSpPr>
          <p:cNvPr name="Group 11" id="11"/>
          <p:cNvGrpSpPr/>
          <p:nvPr/>
        </p:nvGrpSpPr>
        <p:grpSpPr>
          <a:xfrm rot="0">
            <a:off x="628874" y="1820854"/>
            <a:ext cx="5689104" cy="275488"/>
            <a:chOff x="0" y="0"/>
            <a:chExt cx="4519796" cy="218865"/>
          </a:xfrm>
        </p:grpSpPr>
        <p:sp>
          <p:nvSpPr>
            <p:cNvPr name="Freeform 12" id="12"/>
            <p:cNvSpPr/>
            <p:nvPr/>
          </p:nvSpPr>
          <p:spPr>
            <a:xfrm flipH="false" flipV="false" rot="0">
              <a:off x="0" y="0"/>
              <a:ext cx="4519796" cy="218865"/>
            </a:xfrm>
            <a:custGeom>
              <a:avLst/>
              <a:gdLst/>
              <a:ahLst/>
              <a:cxnLst/>
              <a:rect r="r" b="b" t="t" l="l"/>
              <a:pathLst>
                <a:path h="218865" w="4519796">
                  <a:moveTo>
                    <a:pt x="4316596" y="0"/>
                  </a:moveTo>
                  <a:lnTo>
                    <a:pt x="0" y="0"/>
                  </a:lnTo>
                  <a:lnTo>
                    <a:pt x="203200" y="218865"/>
                  </a:lnTo>
                  <a:lnTo>
                    <a:pt x="4519796" y="218865"/>
                  </a:lnTo>
                  <a:lnTo>
                    <a:pt x="4316596" y="0"/>
                  </a:lnTo>
                  <a:close/>
                </a:path>
              </a:pathLst>
            </a:custGeom>
            <a:solidFill>
              <a:srgbClr val="000000"/>
            </a:solidFill>
            <a:ln cap="sq">
              <a:noFill/>
              <a:prstDash val="solid"/>
              <a:miter/>
            </a:ln>
          </p:spPr>
        </p:sp>
        <p:sp>
          <p:nvSpPr>
            <p:cNvPr name="TextBox 13" id="13"/>
            <p:cNvSpPr txBox="true"/>
            <p:nvPr/>
          </p:nvSpPr>
          <p:spPr>
            <a:xfrm>
              <a:off x="101600" y="-19050"/>
              <a:ext cx="4316596" cy="237915"/>
            </a:xfrm>
            <a:prstGeom prst="rect">
              <a:avLst/>
            </a:prstGeom>
          </p:spPr>
          <p:txBody>
            <a:bodyPr anchor="ctr" rtlCol="false" tIns="50800" lIns="50800" bIns="50800" rIns="50800"/>
            <a:lstStyle/>
            <a:p>
              <a:pPr algn="ctr" marL="0" indent="0" lvl="0">
                <a:lnSpc>
                  <a:spcPts val="2859"/>
                </a:lnSpc>
                <a:spcBef>
                  <a:spcPct val="0"/>
                </a:spcBef>
              </a:pPr>
            </a:p>
          </p:txBody>
        </p:sp>
      </p:grpSp>
      <p:grpSp>
        <p:nvGrpSpPr>
          <p:cNvPr name="Group 14" id="14"/>
          <p:cNvGrpSpPr/>
          <p:nvPr/>
        </p:nvGrpSpPr>
        <p:grpSpPr>
          <a:xfrm rot="0">
            <a:off x="660625" y="4892900"/>
            <a:ext cx="736150" cy="679916"/>
            <a:chOff x="0" y="0"/>
            <a:chExt cx="193883" cy="179073"/>
          </a:xfrm>
        </p:grpSpPr>
        <p:sp>
          <p:nvSpPr>
            <p:cNvPr name="Freeform 15" id="15"/>
            <p:cNvSpPr/>
            <p:nvPr/>
          </p:nvSpPr>
          <p:spPr>
            <a:xfrm flipH="false" flipV="false" rot="0">
              <a:off x="0" y="0"/>
              <a:ext cx="193883" cy="179073"/>
            </a:xfrm>
            <a:custGeom>
              <a:avLst/>
              <a:gdLst/>
              <a:ahLst/>
              <a:cxnLst/>
              <a:rect r="r" b="b" t="t" l="l"/>
              <a:pathLst>
                <a:path h="179073" w="193883">
                  <a:moveTo>
                    <a:pt x="84134" y="0"/>
                  </a:moveTo>
                  <a:lnTo>
                    <a:pt x="109749" y="0"/>
                  </a:lnTo>
                  <a:cubicBezTo>
                    <a:pt x="156215" y="0"/>
                    <a:pt x="193883" y="37668"/>
                    <a:pt x="193883" y="84134"/>
                  </a:cubicBezTo>
                  <a:lnTo>
                    <a:pt x="193883" y="94938"/>
                  </a:lnTo>
                  <a:cubicBezTo>
                    <a:pt x="193883" y="141404"/>
                    <a:pt x="156215" y="179073"/>
                    <a:pt x="109749" y="179073"/>
                  </a:cubicBezTo>
                  <a:lnTo>
                    <a:pt x="84134" y="179073"/>
                  </a:lnTo>
                  <a:cubicBezTo>
                    <a:pt x="37668" y="179073"/>
                    <a:pt x="0" y="141404"/>
                    <a:pt x="0" y="94938"/>
                  </a:cubicBezTo>
                  <a:lnTo>
                    <a:pt x="0" y="84134"/>
                  </a:lnTo>
                  <a:cubicBezTo>
                    <a:pt x="0" y="37668"/>
                    <a:pt x="37668" y="0"/>
                    <a:pt x="84134" y="0"/>
                  </a:cubicBezTo>
                  <a:close/>
                </a:path>
              </a:pathLst>
            </a:custGeom>
            <a:solidFill>
              <a:srgbClr val="577550"/>
            </a:solidFill>
          </p:spPr>
        </p:sp>
        <p:sp>
          <p:nvSpPr>
            <p:cNvPr name="TextBox 16" id="16"/>
            <p:cNvSpPr txBox="true"/>
            <p:nvPr/>
          </p:nvSpPr>
          <p:spPr>
            <a:xfrm>
              <a:off x="0" y="-57150"/>
              <a:ext cx="193883" cy="236223"/>
            </a:xfrm>
            <a:prstGeom prst="rect">
              <a:avLst/>
            </a:prstGeom>
          </p:spPr>
          <p:txBody>
            <a:bodyPr anchor="t" rtlCol="false" tIns="50800" lIns="50800" bIns="50800" rIns="50800"/>
            <a:lstStyle/>
            <a:p>
              <a:pPr algn="ctr" marL="0" indent="0" lvl="0">
                <a:lnSpc>
                  <a:spcPts val="4114"/>
                </a:lnSpc>
                <a:spcBef>
                  <a:spcPct val="0"/>
                </a:spcBef>
              </a:pPr>
              <a:r>
                <a:rPr lang="en-US" b="true" sz="2981" spc="29">
                  <a:solidFill>
                    <a:srgbClr val="FFFFFF"/>
                  </a:solidFill>
                  <a:latin typeface="Lato Bold"/>
                  <a:ea typeface="Lato Bold"/>
                  <a:cs typeface="Lato Bold"/>
                  <a:sym typeface="Lato Bold"/>
                </a:rPr>
                <a:t>02</a:t>
              </a:r>
            </a:p>
          </p:txBody>
        </p:sp>
      </p:grpSp>
      <p:sp>
        <p:nvSpPr>
          <p:cNvPr name="TextBox 17" id="17"/>
          <p:cNvSpPr txBox="true"/>
          <p:nvPr/>
        </p:nvSpPr>
        <p:spPr>
          <a:xfrm rot="0">
            <a:off x="1844015" y="4887127"/>
            <a:ext cx="15227823" cy="3078242"/>
          </a:xfrm>
          <a:prstGeom prst="rect">
            <a:avLst/>
          </a:prstGeom>
        </p:spPr>
        <p:txBody>
          <a:bodyPr anchor="t" rtlCol="false" tIns="0" lIns="0" bIns="0" rIns="0">
            <a:spAutoFit/>
          </a:bodyPr>
          <a:lstStyle/>
          <a:p>
            <a:pPr algn="l">
              <a:lnSpc>
                <a:spcPts val="2774"/>
              </a:lnSpc>
            </a:pPr>
            <a:r>
              <a:rPr lang="en-US" sz="2010" spc="197">
                <a:solidFill>
                  <a:srgbClr val="231F20"/>
                </a:solidFill>
                <a:latin typeface="Lato"/>
                <a:ea typeface="Lato"/>
                <a:cs typeface="Lato"/>
                <a:sym typeface="Lato"/>
              </a:rPr>
              <a:t>If add the following lines to MySQL configuration file , it enables binary logging and uses ROW format, which is the best choice for Galera:</a:t>
            </a:r>
            <a:r>
              <a:rPr lang="en-US" sz="2010" spc="197" b="true">
                <a:solidFill>
                  <a:srgbClr val="231F20"/>
                </a:solidFill>
                <a:latin typeface="Lato Bold"/>
                <a:ea typeface="Lato Bold"/>
                <a:cs typeface="Lato Bold"/>
                <a:sym typeface="Lato Bold"/>
              </a:rPr>
              <a:t>log_bin = mysql-bin</a:t>
            </a:r>
          </a:p>
          <a:p>
            <a:pPr algn="l" marL="0" indent="0" lvl="0">
              <a:lnSpc>
                <a:spcPts val="2774"/>
              </a:lnSpc>
              <a:spcBef>
                <a:spcPct val="0"/>
              </a:spcBef>
            </a:pPr>
            <a:r>
              <a:rPr lang="en-US" b="true" sz="2010" spc="197">
                <a:solidFill>
                  <a:srgbClr val="231F20"/>
                </a:solidFill>
                <a:latin typeface="Lato Bold"/>
                <a:ea typeface="Lato Bold"/>
                <a:cs typeface="Lato Bold"/>
                <a:sym typeface="Lato Bold"/>
              </a:rPr>
              <a:t>binlog_format = ROW</a:t>
            </a:r>
          </a:p>
          <a:p>
            <a:pPr algn="l">
              <a:lnSpc>
                <a:spcPts val="2774"/>
              </a:lnSpc>
              <a:spcBef>
                <a:spcPct val="0"/>
              </a:spcBef>
            </a:pPr>
            <a:r>
              <a:rPr lang="en-US" sz="2010" spc="197" u="none">
                <a:solidFill>
                  <a:srgbClr val="231F20"/>
                </a:solidFill>
                <a:latin typeface="Lato"/>
                <a:ea typeface="Lato"/>
                <a:cs typeface="Lato"/>
                <a:sym typeface="Lato"/>
              </a:rPr>
              <a:t>log_bin = mysql-bin</a:t>
            </a:r>
          </a:p>
          <a:p>
            <a:pPr algn="l">
              <a:lnSpc>
                <a:spcPts val="2774"/>
              </a:lnSpc>
              <a:spcBef>
                <a:spcPct val="0"/>
              </a:spcBef>
            </a:pPr>
            <a:r>
              <a:rPr lang="en-US" sz="2010" spc="197" u="none">
                <a:solidFill>
                  <a:srgbClr val="231F20"/>
                </a:solidFill>
                <a:latin typeface="Lato"/>
                <a:ea typeface="Lato"/>
                <a:cs typeface="Lato"/>
                <a:sym typeface="Lato"/>
              </a:rPr>
              <a:t>Turns ON binary logging</a:t>
            </a:r>
          </a:p>
          <a:p>
            <a:pPr algn="l">
              <a:lnSpc>
                <a:spcPts val="2774"/>
              </a:lnSpc>
              <a:spcBef>
                <a:spcPct val="0"/>
              </a:spcBef>
            </a:pPr>
            <a:r>
              <a:rPr lang="en-US" sz="2010" spc="197" u="none">
                <a:solidFill>
                  <a:srgbClr val="231F20"/>
                </a:solidFill>
                <a:latin typeface="Lato"/>
                <a:ea typeface="Lato"/>
                <a:cs typeface="Lato"/>
                <a:sym typeface="Lato"/>
              </a:rPr>
              <a:t>binlog_format = ROW</a:t>
            </a:r>
          </a:p>
          <a:p>
            <a:pPr algn="l">
              <a:lnSpc>
                <a:spcPts val="2774"/>
              </a:lnSpc>
              <a:spcBef>
                <a:spcPct val="0"/>
              </a:spcBef>
            </a:pPr>
            <a:r>
              <a:rPr lang="en-US" sz="2010" spc="197" u="none">
                <a:solidFill>
                  <a:srgbClr val="231F20"/>
                </a:solidFill>
                <a:latin typeface="Lato"/>
                <a:ea typeface="Lato"/>
                <a:cs typeface="Lato"/>
                <a:sym typeface="Lato"/>
              </a:rPr>
              <a:t>Ensures row-level changes are logged</a:t>
            </a:r>
          </a:p>
          <a:p>
            <a:pPr algn="l" marL="0" indent="0" lvl="0">
              <a:lnSpc>
                <a:spcPts val="2774"/>
              </a:lnSpc>
              <a:spcBef>
                <a:spcPct val="0"/>
              </a:spcBef>
            </a:pPr>
            <a:r>
              <a:rPr lang="en-US" sz="2010" spc="197" u="none">
                <a:solidFill>
                  <a:srgbClr val="FF3131"/>
                </a:solidFill>
                <a:latin typeface="Lato"/>
                <a:ea typeface="Lato"/>
                <a:cs typeface="Lato"/>
                <a:sym typeface="Lato"/>
              </a:rPr>
              <a:t>ROW:Logs the actual row data before and after change </a:t>
            </a:r>
          </a:p>
          <a:p>
            <a:pPr algn="l" marL="0" indent="0" lvl="0">
              <a:lnSpc>
                <a:spcPts val="2774"/>
              </a:lnSpc>
              <a:spcBef>
                <a:spcPct val="0"/>
              </a:spcBef>
            </a:pPr>
          </a:p>
        </p:txBody>
      </p:sp>
      <p:grpSp>
        <p:nvGrpSpPr>
          <p:cNvPr name="Group 18" id="18"/>
          <p:cNvGrpSpPr/>
          <p:nvPr/>
        </p:nvGrpSpPr>
        <p:grpSpPr>
          <a:xfrm rot="0">
            <a:off x="660625" y="8101024"/>
            <a:ext cx="736150" cy="679916"/>
            <a:chOff x="0" y="0"/>
            <a:chExt cx="193883" cy="179073"/>
          </a:xfrm>
        </p:grpSpPr>
        <p:sp>
          <p:nvSpPr>
            <p:cNvPr name="Freeform 19" id="19"/>
            <p:cNvSpPr/>
            <p:nvPr/>
          </p:nvSpPr>
          <p:spPr>
            <a:xfrm flipH="false" flipV="false" rot="0">
              <a:off x="0" y="0"/>
              <a:ext cx="193883" cy="179073"/>
            </a:xfrm>
            <a:custGeom>
              <a:avLst/>
              <a:gdLst/>
              <a:ahLst/>
              <a:cxnLst/>
              <a:rect r="r" b="b" t="t" l="l"/>
              <a:pathLst>
                <a:path h="179073" w="193883">
                  <a:moveTo>
                    <a:pt x="84134" y="0"/>
                  </a:moveTo>
                  <a:lnTo>
                    <a:pt x="109749" y="0"/>
                  </a:lnTo>
                  <a:cubicBezTo>
                    <a:pt x="156215" y="0"/>
                    <a:pt x="193883" y="37668"/>
                    <a:pt x="193883" y="84134"/>
                  </a:cubicBezTo>
                  <a:lnTo>
                    <a:pt x="193883" y="94938"/>
                  </a:lnTo>
                  <a:cubicBezTo>
                    <a:pt x="193883" y="141404"/>
                    <a:pt x="156215" y="179073"/>
                    <a:pt x="109749" y="179073"/>
                  </a:cubicBezTo>
                  <a:lnTo>
                    <a:pt x="84134" y="179073"/>
                  </a:lnTo>
                  <a:cubicBezTo>
                    <a:pt x="37668" y="179073"/>
                    <a:pt x="0" y="141404"/>
                    <a:pt x="0" y="94938"/>
                  </a:cubicBezTo>
                  <a:lnTo>
                    <a:pt x="0" y="84134"/>
                  </a:lnTo>
                  <a:cubicBezTo>
                    <a:pt x="0" y="37668"/>
                    <a:pt x="37668" y="0"/>
                    <a:pt x="84134" y="0"/>
                  </a:cubicBezTo>
                  <a:close/>
                </a:path>
              </a:pathLst>
            </a:custGeom>
            <a:solidFill>
              <a:srgbClr val="577550"/>
            </a:solidFill>
          </p:spPr>
        </p:sp>
        <p:sp>
          <p:nvSpPr>
            <p:cNvPr name="TextBox 20" id="20"/>
            <p:cNvSpPr txBox="true"/>
            <p:nvPr/>
          </p:nvSpPr>
          <p:spPr>
            <a:xfrm>
              <a:off x="0" y="-57150"/>
              <a:ext cx="193883" cy="236223"/>
            </a:xfrm>
            <a:prstGeom prst="rect">
              <a:avLst/>
            </a:prstGeom>
          </p:spPr>
          <p:txBody>
            <a:bodyPr anchor="t" rtlCol="false" tIns="50800" lIns="50800" bIns="50800" rIns="50800"/>
            <a:lstStyle/>
            <a:p>
              <a:pPr algn="ctr" marL="0" indent="0" lvl="0">
                <a:lnSpc>
                  <a:spcPts val="4114"/>
                </a:lnSpc>
                <a:spcBef>
                  <a:spcPct val="0"/>
                </a:spcBef>
              </a:pPr>
              <a:r>
                <a:rPr lang="en-US" b="true" sz="2981" spc="29">
                  <a:solidFill>
                    <a:srgbClr val="FFFFFF"/>
                  </a:solidFill>
                  <a:latin typeface="Lato Bold"/>
                  <a:ea typeface="Lato Bold"/>
                  <a:cs typeface="Lato Bold"/>
                  <a:sym typeface="Lato Bold"/>
                </a:rPr>
                <a:t>03</a:t>
              </a:r>
            </a:p>
          </p:txBody>
        </p:sp>
      </p:grpSp>
      <p:sp>
        <p:nvSpPr>
          <p:cNvPr name="TextBox 21" id="21"/>
          <p:cNvSpPr txBox="true"/>
          <p:nvPr/>
        </p:nvSpPr>
        <p:spPr>
          <a:xfrm rot="0">
            <a:off x="1937746" y="8062924"/>
            <a:ext cx="15040362" cy="2735342"/>
          </a:xfrm>
          <a:prstGeom prst="rect">
            <a:avLst/>
          </a:prstGeom>
        </p:spPr>
        <p:txBody>
          <a:bodyPr anchor="t" rtlCol="false" tIns="0" lIns="0" bIns="0" rIns="0">
            <a:spAutoFit/>
          </a:bodyPr>
          <a:lstStyle/>
          <a:p>
            <a:pPr algn="l">
              <a:lnSpc>
                <a:spcPts val="2774"/>
              </a:lnSpc>
            </a:pPr>
            <a:r>
              <a:rPr lang="en-US" sz="2010" spc="197">
                <a:solidFill>
                  <a:srgbClr val="231F20"/>
                </a:solidFill>
                <a:latin typeface="Lato"/>
                <a:ea typeface="Lato"/>
                <a:cs typeface="Lato"/>
                <a:sym typeface="Lato"/>
              </a:rPr>
              <a:t>You can read these logs using the mysqlbinlog tool, like this:</a:t>
            </a:r>
            <a:r>
              <a:rPr lang="en-US" sz="2010" spc="197" b="true">
                <a:solidFill>
                  <a:srgbClr val="231F20"/>
                </a:solidFill>
                <a:latin typeface="Lato Bold"/>
                <a:ea typeface="Lato Bold"/>
                <a:cs typeface="Lato Bold"/>
                <a:sym typeface="Lato Bold"/>
              </a:rPr>
              <a:t>mysqlbinlog(or strings)</a:t>
            </a:r>
            <a:r>
              <a:rPr lang="en-US" sz="2010" spc="197">
                <a:solidFill>
                  <a:srgbClr val="231F20"/>
                </a:solidFill>
                <a:latin typeface="Lato"/>
                <a:ea typeface="Lato"/>
                <a:cs typeface="Lato"/>
                <a:sym typeface="Lato"/>
              </a:rPr>
              <a:t> /var/lib/mysql/binlog.000001</a:t>
            </a:r>
          </a:p>
          <a:p>
            <a:pPr algn="l">
              <a:lnSpc>
                <a:spcPts val="2774"/>
              </a:lnSpc>
            </a:pPr>
            <a:r>
              <a:rPr lang="en-US" sz="2010" spc="197">
                <a:solidFill>
                  <a:srgbClr val="231F20"/>
                </a:solidFill>
                <a:latin typeface="Lato"/>
                <a:ea typeface="Lato"/>
                <a:cs typeface="Lato"/>
                <a:sym typeface="Lato"/>
              </a:rPr>
              <a:t>However, if you also enable encryption with:</a:t>
            </a:r>
            <a:r>
              <a:rPr lang="en-US" sz="2010" spc="197" b="true">
                <a:solidFill>
                  <a:srgbClr val="231F20"/>
                </a:solidFill>
                <a:latin typeface="Lato Bold"/>
                <a:ea typeface="Lato Bold"/>
                <a:cs typeface="Lato Bold"/>
                <a:sym typeface="Lato Bold"/>
              </a:rPr>
              <a:t>binlog_encryption = ON</a:t>
            </a:r>
          </a:p>
          <a:p>
            <a:pPr algn="l">
              <a:lnSpc>
                <a:spcPts val="2774"/>
              </a:lnSpc>
            </a:pPr>
            <a:r>
              <a:rPr lang="en-US" sz="2010" spc="197">
                <a:solidFill>
                  <a:srgbClr val="231F20"/>
                </a:solidFill>
                <a:latin typeface="Lato"/>
                <a:ea typeface="Lato"/>
                <a:cs typeface="Lato"/>
                <a:sym typeface="Lato"/>
              </a:rPr>
              <a:t>Then MySQL encrypts the binlog files for security. This means that mysqlbinlog cannot read them anymore. If you try, you'll get an error because the file is encrypted.</a:t>
            </a:r>
          </a:p>
          <a:p>
            <a:pPr algn="l">
              <a:lnSpc>
                <a:spcPts val="2774"/>
              </a:lnSpc>
            </a:pPr>
          </a:p>
          <a:p>
            <a:pPr algn="l" marL="0" indent="0" lvl="0">
              <a:lnSpc>
                <a:spcPts val="2774"/>
              </a:lnSpc>
              <a:spcBef>
                <a:spcPct val="0"/>
              </a:spcBef>
            </a:pPr>
          </a:p>
          <a:p>
            <a:pPr algn="l" marL="0" indent="0" lvl="0">
              <a:lnSpc>
                <a:spcPts val="2774"/>
              </a:lnSpc>
              <a:spcBef>
                <a:spcPct val="0"/>
              </a:spcBef>
            </a:pPr>
          </a:p>
        </p:txBody>
      </p:sp>
      <p:grpSp>
        <p:nvGrpSpPr>
          <p:cNvPr name="Group 22" id="22"/>
          <p:cNvGrpSpPr/>
          <p:nvPr/>
        </p:nvGrpSpPr>
        <p:grpSpPr>
          <a:xfrm rot="0">
            <a:off x="12085550" y="-131220"/>
            <a:ext cx="9534019" cy="1112295"/>
            <a:chOff x="0" y="0"/>
            <a:chExt cx="1876002" cy="218865"/>
          </a:xfrm>
        </p:grpSpPr>
        <p:sp>
          <p:nvSpPr>
            <p:cNvPr name="Freeform 23" id="23"/>
            <p:cNvSpPr/>
            <p:nvPr/>
          </p:nvSpPr>
          <p:spPr>
            <a:xfrm flipH="false" flipV="false" rot="0">
              <a:off x="0" y="0"/>
              <a:ext cx="1876002" cy="218865"/>
            </a:xfrm>
            <a:custGeom>
              <a:avLst/>
              <a:gdLst/>
              <a:ahLst/>
              <a:cxnLst/>
              <a:rect r="r" b="b" t="t" l="l"/>
              <a:pathLst>
                <a:path h="218865" w="1876002">
                  <a:moveTo>
                    <a:pt x="1672802" y="0"/>
                  </a:moveTo>
                  <a:lnTo>
                    <a:pt x="0" y="0"/>
                  </a:lnTo>
                  <a:lnTo>
                    <a:pt x="203200" y="218865"/>
                  </a:lnTo>
                  <a:lnTo>
                    <a:pt x="1876002" y="218865"/>
                  </a:lnTo>
                  <a:lnTo>
                    <a:pt x="1672802" y="0"/>
                  </a:lnTo>
                  <a:close/>
                </a:path>
              </a:pathLst>
            </a:custGeom>
            <a:solidFill>
              <a:srgbClr val="000000"/>
            </a:solidFill>
            <a:ln cap="sq">
              <a:noFill/>
              <a:prstDash val="solid"/>
              <a:miter/>
            </a:ln>
          </p:spPr>
        </p:sp>
        <p:sp>
          <p:nvSpPr>
            <p:cNvPr name="TextBox 24" id="24"/>
            <p:cNvSpPr txBox="true"/>
            <p:nvPr/>
          </p:nvSpPr>
          <p:spPr>
            <a:xfrm>
              <a:off x="101600" y="-19050"/>
              <a:ext cx="1672802" cy="237915"/>
            </a:xfrm>
            <a:prstGeom prst="rect">
              <a:avLst/>
            </a:prstGeom>
          </p:spPr>
          <p:txBody>
            <a:bodyPr anchor="ctr" rtlCol="false" tIns="50800" lIns="50800" bIns="50800" rIns="50800"/>
            <a:lstStyle/>
            <a:p>
              <a:pPr algn="ctr" marL="0" indent="0" lvl="0">
                <a:lnSpc>
                  <a:spcPts val="2859"/>
                </a:lnSpc>
                <a:spcBef>
                  <a:spcPct val="0"/>
                </a:spcBef>
              </a:pPr>
            </a:p>
          </p:txBody>
        </p:sp>
      </p:grpSp>
      <p:sp>
        <p:nvSpPr>
          <p:cNvPr name="AutoShape 25" id="25"/>
          <p:cNvSpPr/>
          <p:nvPr/>
        </p:nvSpPr>
        <p:spPr>
          <a:xfrm>
            <a:off x="-715490" y="962025"/>
            <a:ext cx="12921291" cy="0"/>
          </a:xfrm>
          <a:prstGeom prst="line">
            <a:avLst/>
          </a:prstGeom>
          <a:ln cap="flat" w="38100">
            <a:solidFill>
              <a:srgbClr val="000000"/>
            </a:solidFill>
            <a:prstDash val="solid"/>
            <a:headEnd type="none" len="sm" w="sm"/>
            <a:tailEnd type="none" len="sm" w="sm"/>
          </a:ln>
        </p:spPr>
      </p:sp>
      <p:grpSp>
        <p:nvGrpSpPr>
          <p:cNvPr name="Group 26" id="26"/>
          <p:cNvGrpSpPr>
            <a:grpSpLocks noChangeAspect="true"/>
          </p:cNvGrpSpPr>
          <p:nvPr/>
        </p:nvGrpSpPr>
        <p:grpSpPr>
          <a:xfrm rot="0">
            <a:off x="1570082" y="7402377"/>
            <a:ext cx="187462" cy="187462"/>
            <a:chOff x="0" y="0"/>
            <a:chExt cx="495300" cy="495300"/>
          </a:xfrm>
        </p:grpSpPr>
        <p:sp>
          <p:nvSpPr>
            <p:cNvPr name="Freeform 27" id="27"/>
            <p:cNvSpPr/>
            <p:nvPr/>
          </p:nvSpPr>
          <p:spPr>
            <a:xfrm flipH="false" flipV="false" rot="0">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577550"/>
            </a:solidFill>
          </p:spPr>
        </p:sp>
        <p:sp>
          <p:nvSpPr>
            <p:cNvPr name="Freeform 28" id="28"/>
            <p:cNvSpPr/>
            <p:nvPr/>
          </p:nvSpPr>
          <p:spPr>
            <a:xfrm flipH="false" flipV="false" rot="0">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FEFFFA"/>
            </a:solidFill>
          </p:spPr>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grpSp>
        <p:nvGrpSpPr>
          <p:cNvPr name="Group 3" id="3"/>
          <p:cNvGrpSpPr/>
          <p:nvPr/>
        </p:nvGrpSpPr>
        <p:grpSpPr>
          <a:xfrm rot="0">
            <a:off x="11264220" y="1415734"/>
            <a:ext cx="2889039" cy="725042"/>
            <a:chOff x="0" y="0"/>
            <a:chExt cx="792168" cy="198805"/>
          </a:xfrm>
        </p:grpSpPr>
        <p:sp>
          <p:nvSpPr>
            <p:cNvPr name="Freeform 4" id="4"/>
            <p:cNvSpPr/>
            <p:nvPr/>
          </p:nvSpPr>
          <p:spPr>
            <a:xfrm flipH="false" flipV="false" rot="0">
              <a:off x="0" y="0"/>
              <a:ext cx="792168" cy="198805"/>
            </a:xfrm>
            <a:custGeom>
              <a:avLst/>
              <a:gdLst/>
              <a:ahLst/>
              <a:cxnLst/>
              <a:rect r="r" b="b" t="t" l="l"/>
              <a:pathLst>
                <a:path h="198805" w="792168">
                  <a:moveTo>
                    <a:pt x="0" y="0"/>
                  </a:moveTo>
                  <a:lnTo>
                    <a:pt x="792168" y="0"/>
                  </a:lnTo>
                  <a:lnTo>
                    <a:pt x="792168" y="198805"/>
                  </a:lnTo>
                  <a:lnTo>
                    <a:pt x="0" y="198805"/>
                  </a:lnTo>
                  <a:close/>
                </a:path>
              </a:pathLst>
            </a:custGeom>
            <a:solidFill>
              <a:srgbClr val="577550"/>
            </a:solidFill>
            <a:ln cap="sq">
              <a:noFill/>
              <a:prstDash val="solid"/>
              <a:miter/>
            </a:ln>
          </p:spPr>
        </p:sp>
        <p:sp>
          <p:nvSpPr>
            <p:cNvPr name="TextBox 5" id="5"/>
            <p:cNvSpPr txBox="true"/>
            <p:nvPr/>
          </p:nvSpPr>
          <p:spPr>
            <a:xfrm>
              <a:off x="0" y="-47625"/>
              <a:ext cx="792168" cy="246430"/>
            </a:xfrm>
            <a:prstGeom prst="rect">
              <a:avLst/>
            </a:prstGeom>
          </p:spPr>
          <p:txBody>
            <a:bodyPr anchor="ctr" rtlCol="false" tIns="88900" lIns="88900" bIns="88900" rIns="88900"/>
            <a:lstStyle/>
            <a:p>
              <a:pPr algn="ctr" marL="0" indent="0" lvl="0">
                <a:lnSpc>
                  <a:spcPts val="2800"/>
                </a:lnSpc>
                <a:spcBef>
                  <a:spcPct val="0"/>
                </a:spcBef>
              </a:pPr>
              <a:r>
                <a:rPr lang="en-US" sz="2000" i="true">
                  <a:solidFill>
                    <a:srgbClr val="FDFBFB"/>
                  </a:solidFill>
                  <a:latin typeface="Open Sauce Italics"/>
                  <a:ea typeface="Open Sauce Italics"/>
                  <a:cs typeface="Open Sauce Italics"/>
                  <a:sym typeface="Open Sauce Italics"/>
                </a:rPr>
                <a:t>gcache</a:t>
              </a:r>
            </a:p>
          </p:txBody>
        </p:sp>
      </p:grpSp>
      <p:grpSp>
        <p:nvGrpSpPr>
          <p:cNvPr name="Group 6" id="6"/>
          <p:cNvGrpSpPr/>
          <p:nvPr/>
        </p:nvGrpSpPr>
        <p:grpSpPr>
          <a:xfrm rot="0">
            <a:off x="6846444" y="1496735"/>
            <a:ext cx="2889039" cy="725042"/>
            <a:chOff x="0" y="0"/>
            <a:chExt cx="792168" cy="198805"/>
          </a:xfrm>
        </p:grpSpPr>
        <p:sp>
          <p:nvSpPr>
            <p:cNvPr name="Freeform 7" id="7"/>
            <p:cNvSpPr/>
            <p:nvPr/>
          </p:nvSpPr>
          <p:spPr>
            <a:xfrm flipH="false" flipV="false" rot="0">
              <a:off x="0" y="0"/>
              <a:ext cx="792168" cy="198805"/>
            </a:xfrm>
            <a:custGeom>
              <a:avLst/>
              <a:gdLst/>
              <a:ahLst/>
              <a:cxnLst/>
              <a:rect r="r" b="b" t="t" l="l"/>
              <a:pathLst>
                <a:path h="198805" w="792168">
                  <a:moveTo>
                    <a:pt x="0" y="0"/>
                  </a:moveTo>
                  <a:lnTo>
                    <a:pt x="792168" y="0"/>
                  </a:lnTo>
                  <a:lnTo>
                    <a:pt x="792168" y="198805"/>
                  </a:lnTo>
                  <a:lnTo>
                    <a:pt x="0" y="198805"/>
                  </a:lnTo>
                  <a:close/>
                </a:path>
              </a:pathLst>
            </a:custGeom>
            <a:solidFill>
              <a:srgbClr val="577550"/>
            </a:solidFill>
            <a:ln cap="sq">
              <a:noFill/>
              <a:prstDash val="solid"/>
              <a:miter/>
            </a:ln>
          </p:spPr>
        </p:sp>
        <p:sp>
          <p:nvSpPr>
            <p:cNvPr name="TextBox 8" id="8"/>
            <p:cNvSpPr txBox="true"/>
            <p:nvPr/>
          </p:nvSpPr>
          <p:spPr>
            <a:xfrm>
              <a:off x="0" y="-47625"/>
              <a:ext cx="792168" cy="246430"/>
            </a:xfrm>
            <a:prstGeom prst="rect">
              <a:avLst/>
            </a:prstGeom>
          </p:spPr>
          <p:txBody>
            <a:bodyPr anchor="ctr" rtlCol="false" tIns="88900" lIns="88900" bIns="88900" rIns="88900"/>
            <a:lstStyle/>
            <a:p>
              <a:pPr algn="ctr" marL="0" indent="0" lvl="0">
                <a:lnSpc>
                  <a:spcPts val="2800"/>
                </a:lnSpc>
                <a:spcBef>
                  <a:spcPct val="0"/>
                </a:spcBef>
              </a:pPr>
              <a:r>
                <a:rPr lang="en-US" sz="2000" i="true">
                  <a:solidFill>
                    <a:srgbClr val="FDFBFB"/>
                  </a:solidFill>
                  <a:latin typeface="Open Sauce Italics"/>
                  <a:ea typeface="Open Sauce Italics"/>
                  <a:cs typeface="Open Sauce Italics"/>
                  <a:sym typeface="Open Sauce Italics"/>
                </a:rPr>
                <a:t>binlog</a:t>
              </a:r>
            </a:p>
          </p:txBody>
        </p:sp>
      </p:grpSp>
      <p:grpSp>
        <p:nvGrpSpPr>
          <p:cNvPr name="Group 9" id="9"/>
          <p:cNvGrpSpPr/>
          <p:nvPr/>
        </p:nvGrpSpPr>
        <p:grpSpPr>
          <a:xfrm rot="0">
            <a:off x="2875545" y="3947574"/>
            <a:ext cx="12847962" cy="3192791"/>
            <a:chOff x="0" y="0"/>
            <a:chExt cx="17130616" cy="4257055"/>
          </a:xfrm>
        </p:grpSpPr>
        <p:sp>
          <p:nvSpPr>
            <p:cNvPr name="AutoShape 10" id="10"/>
            <p:cNvSpPr/>
            <p:nvPr/>
          </p:nvSpPr>
          <p:spPr>
            <a:xfrm flipV="true">
              <a:off x="25" y="12700"/>
              <a:ext cx="17130566" cy="33598"/>
            </a:xfrm>
            <a:prstGeom prst="line">
              <a:avLst/>
            </a:prstGeom>
            <a:ln cap="flat" w="25400">
              <a:solidFill>
                <a:srgbClr val="000000"/>
              </a:solidFill>
              <a:prstDash val="solid"/>
              <a:headEnd type="none" len="sm" w="sm"/>
              <a:tailEnd type="none" len="sm" w="sm"/>
            </a:ln>
          </p:spPr>
        </p:sp>
        <p:sp>
          <p:nvSpPr>
            <p:cNvPr name="AutoShape 11" id="11"/>
            <p:cNvSpPr/>
            <p:nvPr/>
          </p:nvSpPr>
          <p:spPr>
            <a:xfrm>
              <a:off x="25" y="2128527"/>
              <a:ext cx="17130566" cy="0"/>
            </a:xfrm>
            <a:prstGeom prst="line">
              <a:avLst/>
            </a:prstGeom>
            <a:ln cap="flat" w="25400">
              <a:solidFill>
                <a:srgbClr val="000000"/>
              </a:solidFill>
              <a:prstDash val="solid"/>
              <a:headEnd type="none" len="sm" w="sm"/>
              <a:tailEnd type="none" len="sm" w="sm"/>
            </a:ln>
          </p:spPr>
        </p:sp>
        <p:sp>
          <p:nvSpPr>
            <p:cNvPr name="AutoShape 12" id="12"/>
            <p:cNvSpPr/>
            <p:nvPr/>
          </p:nvSpPr>
          <p:spPr>
            <a:xfrm>
              <a:off x="25" y="4210756"/>
              <a:ext cx="17130566" cy="33598"/>
            </a:xfrm>
            <a:prstGeom prst="line">
              <a:avLst/>
            </a:prstGeom>
            <a:ln cap="flat" w="25400">
              <a:solidFill>
                <a:srgbClr val="000000"/>
              </a:solidFill>
              <a:prstDash val="solid"/>
              <a:headEnd type="none" len="sm" w="sm"/>
              <a:tailEnd type="none" len="sm" w="sm"/>
            </a:ln>
          </p:spPr>
        </p:sp>
      </p:grpSp>
      <p:grpSp>
        <p:nvGrpSpPr>
          <p:cNvPr name="Group 13" id="13"/>
          <p:cNvGrpSpPr/>
          <p:nvPr/>
        </p:nvGrpSpPr>
        <p:grpSpPr>
          <a:xfrm rot="0">
            <a:off x="2875540" y="2681225"/>
            <a:ext cx="2889039" cy="725042"/>
            <a:chOff x="0" y="0"/>
            <a:chExt cx="792168" cy="198805"/>
          </a:xfrm>
        </p:grpSpPr>
        <p:sp>
          <p:nvSpPr>
            <p:cNvPr name="Freeform 14" id="14"/>
            <p:cNvSpPr/>
            <p:nvPr/>
          </p:nvSpPr>
          <p:spPr>
            <a:xfrm flipH="false" flipV="false" rot="0">
              <a:off x="0" y="0"/>
              <a:ext cx="792168" cy="198805"/>
            </a:xfrm>
            <a:custGeom>
              <a:avLst/>
              <a:gdLst/>
              <a:ahLst/>
              <a:cxnLst/>
              <a:rect r="r" b="b" t="t" l="l"/>
              <a:pathLst>
                <a:path h="198805" w="792168">
                  <a:moveTo>
                    <a:pt x="0" y="0"/>
                  </a:moveTo>
                  <a:lnTo>
                    <a:pt x="792168" y="0"/>
                  </a:lnTo>
                  <a:lnTo>
                    <a:pt x="792168" y="198805"/>
                  </a:lnTo>
                  <a:lnTo>
                    <a:pt x="0" y="198805"/>
                  </a:lnTo>
                  <a:close/>
                </a:path>
              </a:pathLst>
            </a:custGeom>
            <a:solidFill>
              <a:srgbClr val="577550"/>
            </a:solidFill>
            <a:ln cap="sq">
              <a:noFill/>
              <a:prstDash val="solid"/>
              <a:miter/>
            </a:ln>
          </p:spPr>
        </p:sp>
        <p:sp>
          <p:nvSpPr>
            <p:cNvPr name="TextBox 15" id="15"/>
            <p:cNvSpPr txBox="true"/>
            <p:nvPr/>
          </p:nvSpPr>
          <p:spPr>
            <a:xfrm>
              <a:off x="0" y="-47625"/>
              <a:ext cx="792168" cy="246430"/>
            </a:xfrm>
            <a:prstGeom prst="rect">
              <a:avLst/>
            </a:prstGeom>
          </p:spPr>
          <p:txBody>
            <a:bodyPr anchor="ctr" rtlCol="false" tIns="88900" lIns="88900" bIns="88900" rIns="88900"/>
            <a:lstStyle/>
            <a:p>
              <a:pPr algn="ctr" marL="0" indent="0" lvl="0">
                <a:lnSpc>
                  <a:spcPts val="2800"/>
                </a:lnSpc>
                <a:spcBef>
                  <a:spcPct val="0"/>
                </a:spcBef>
              </a:pPr>
              <a:r>
                <a:rPr lang="en-US" sz="2000" i="true">
                  <a:solidFill>
                    <a:srgbClr val="FDFBFB"/>
                  </a:solidFill>
                  <a:latin typeface="Open Sauce Italics"/>
                  <a:ea typeface="Open Sauce Italics"/>
                  <a:cs typeface="Open Sauce Italics"/>
                  <a:sym typeface="Open Sauce Italics"/>
                </a:rPr>
                <a:t>format</a:t>
              </a:r>
            </a:p>
          </p:txBody>
        </p:sp>
      </p:grpSp>
      <p:grpSp>
        <p:nvGrpSpPr>
          <p:cNvPr name="Group 16" id="16"/>
          <p:cNvGrpSpPr/>
          <p:nvPr/>
        </p:nvGrpSpPr>
        <p:grpSpPr>
          <a:xfrm rot="0">
            <a:off x="2875540" y="4268096"/>
            <a:ext cx="2889039" cy="725042"/>
            <a:chOff x="0" y="0"/>
            <a:chExt cx="792168" cy="198805"/>
          </a:xfrm>
        </p:grpSpPr>
        <p:sp>
          <p:nvSpPr>
            <p:cNvPr name="Freeform 17" id="17"/>
            <p:cNvSpPr/>
            <p:nvPr/>
          </p:nvSpPr>
          <p:spPr>
            <a:xfrm flipH="false" flipV="false" rot="0">
              <a:off x="0" y="0"/>
              <a:ext cx="792168" cy="198805"/>
            </a:xfrm>
            <a:custGeom>
              <a:avLst/>
              <a:gdLst/>
              <a:ahLst/>
              <a:cxnLst/>
              <a:rect r="r" b="b" t="t" l="l"/>
              <a:pathLst>
                <a:path h="198805" w="792168">
                  <a:moveTo>
                    <a:pt x="0" y="0"/>
                  </a:moveTo>
                  <a:lnTo>
                    <a:pt x="792168" y="0"/>
                  </a:lnTo>
                  <a:lnTo>
                    <a:pt x="792168" y="198805"/>
                  </a:lnTo>
                  <a:lnTo>
                    <a:pt x="0" y="198805"/>
                  </a:lnTo>
                  <a:close/>
                </a:path>
              </a:pathLst>
            </a:custGeom>
            <a:solidFill>
              <a:srgbClr val="577550"/>
            </a:solidFill>
            <a:ln cap="sq">
              <a:noFill/>
              <a:prstDash val="solid"/>
              <a:miter/>
            </a:ln>
          </p:spPr>
        </p:sp>
        <p:sp>
          <p:nvSpPr>
            <p:cNvPr name="TextBox 18" id="18"/>
            <p:cNvSpPr txBox="true"/>
            <p:nvPr/>
          </p:nvSpPr>
          <p:spPr>
            <a:xfrm>
              <a:off x="0" y="-47625"/>
              <a:ext cx="792168" cy="246430"/>
            </a:xfrm>
            <a:prstGeom prst="rect">
              <a:avLst/>
            </a:prstGeom>
          </p:spPr>
          <p:txBody>
            <a:bodyPr anchor="ctr" rtlCol="false" tIns="88900" lIns="88900" bIns="88900" rIns="88900"/>
            <a:lstStyle/>
            <a:p>
              <a:pPr algn="ctr" marL="0" indent="0" lvl="0">
                <a:lnSpc>
                  <a:spcPts val="2800"/>
                </a:lnSpc>
                <a:spcBef>
                  <a:spcPct val="0"/>
                </a:spcBef>
              </a:pPr>
              <a:r>
                <a:rPr lang="en-US" sz="2000" i="true">
                  <a:solidFill>
                    <a:srgbClr val="FDFBFB"/>
                  </a:solidFill>
                  <a:latin typeface="Open Sauce Italics"/>
                  <a:ea typeface="Open Sauce Italics"/>
                  <a:cs typeface="Open Sauce Italics"/>
                  <a:sym typeface="Open Sauce Italics"/>
                </a:rPr>
                <a:t>use</a:t>
              </a:r>
            </a:p>
          </p:txBody>
        </p:sp>
      </p:grpSp>
      <p:grpSp>
        <p:nvGrpSpPr>
          <p:cNvPr name="Group 19" id="19"/>
          <p:cNvGrpSpPr/>
          <p:nvPr/>
        </p:nvGrpSpPr>
        <p:grpSpPr>
          <a:xfrm rot="0">
            <a:off x="2875540" y="5868175"/>
            <a:ext cx="2889039" cy="725042"/>
            <a:chOff x="0" y="0"/>
            <a:chExt cx="792168" cy="198805"/>
          </a:xfrm>
        </p:grpSpPr>
        <p:sp>
          <p:nvSpPr>
            <p:cNvPr name="Freeform 20" id="20"/>
            <p:cNvSpPr/>
            <p:nvPr/>
          </p:nvSpPr>
          <p:spPr>
            <a:xfrm flipH="false" flipV="false" rot="0">
              <a:off x="0" y="0"/>
              <a:ext cx="792168" cy="198805"/>
            </a:xfrm>
            <a:custGeom>
              <a:avLst/>
              <a:gdLst/>
              <a:ahLst/>
              <a:cxnLst/>
              <a:rect r="r" b="b" t="t" l="l"/>
              <a:pathLst>
                <a:path h="198805" w="792168">
                  <a:moveTo>
                    <a:pt x="0" y="0"/>
                  </a:moveTo>
                  <a:lnTo>
                    <a:pt x="792168" y="0"/>
                  </a:lnTo>
                  <a:lnTo>
                    <a:pt x="792168" y="198805"/>
                  </a:lnTo>
                  <a:lnTo>
                    <a:pt x="0" y="198805"/>
                  </a:lnTo>
                  <a:close/>
                </a:path>
              </a:pathLst>
            </a:custGeom>
            <a:solidFill>
              <a:srgbClr val="577550"/>
            </a:solidFill>
            <a:ln cap="sq">
              <a:noFill/>
              <a:prstDash val="solid"/>
              <a:miter/>
            </a:ln>
          </p:spPr>
        </p:sp>
        <p:sp>
          <p:nvSpPr>
            <p:cNvPr name="TextBox 21" id="21"/>
            <p:cNvSpPr txBox="true"/>
            <p:nvPr/>
          </p:nvSpPr>
          <p:spPr>
            <a:xfrm>
              <a:off x="0" y="-47625"/>
              <a:ext cx="792168" cy="246430"/>
            </a:xfrm>
            <a:prstGeom prst="rect">
              <a:avLst/>
            </a:prstGeom>
          </p:spPr>
          <p:txBody>
            <a:bodyPr anchor="ctr" rtlCol="false" tIns="88900" lIns="88900" bIns="88900" rIns="88900"/>
            <a:lstStyle/>
            <a:p>
              <a:pPr algn="ctr" marL="0" indent="0" lvl="0">
                <a:lnSpc>
                  <a:spcPts val="2800"/>
                </a:lnSpc>
                <a:spcBef>
                  <a:spcPct val="0"/>
                </a:spcBef>
              </a:pPr>
              <a:r>
                <a:rPr lang="en-US" sz="2000" i="true">
                  <a:solidFill>
                    <a:srgbClr val="FDFBFB"/>
                  </a:solidFill>
                  <a:latin typeface="Open Sauce Italics"/>
                  <a:ea typeface="Open Sauce Italics"/>
                  <a:cs typeface="Open Sauce Italics"/>
                  <a:sym typeface="Open Sauce Italics"/>
                </a:rPr>
                <a:t>Retention</a:t>
              </a:r>
            </a:p>
          </p:txBody>
        </p:sp>
      </p:grpSp>
      <p:sp>
        <p:nvSpPr>
          <p:cNvPr name="Freeform 22" id="22"/>
          <p:cNvSpPr/>
          <p:nvPr/>
        </p:nvSpPr>
        <p:spPr>
          <a:xfrm flipH="false" flipV="false" rot="0">
            <a:off x="-1811791" y="9287699"/>
            <a:ext cx="4687320" cy="4687320"/>
          </a:xfrm>
          <a:custGeom>
            <a:avLst/>
            <a:gdLst/>
            <a:ahLst/>
            <a:cxnLst/>
            <a:rect r="r" b="b" t="t" l="l"/>
            <a:pathLst>
              <a:path h="4687320" w="4687320">
                <a:moveTo>
                  <a:pt x="0" y="0"/>
                </a:moveTo>
                <a:lnTo>
                  <a:pt x="4687320" y="0"/>
                </a:lnTo>
                <a:lnTo>
                  <a:pt x="4687320" y="4687320"/>
                </a:lnTo>
                <a:lnTo>
                  <a:pt x="0" y="468732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23" id="23"/>
          <p:cNvGrpSpPr/>
          <p:nvPr/>
        </p:nvGrpSpPr>
        <p:grpSpPr>
          <a:xfrm rot="0">
            <a:off x="13295251" y="-3234839"/>
            <a:ext cx="3964049" cy="3964049"/>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77550"/>
            </a:solidFill>
            <a:ln cap="sq">
              <a:noFill/>
              <a:prstDash val="solid"/>
              <a:miter/>
            </a:ln>
          </p:spPr>
        </p:sp>
        <p:sp>
          <p:nvSpPr>
            <p:cNvPr name="TextBox 25" id="25"/>
            <p:cNvSpPr txBox="true"/>
            <p:nvPr/>
          </p:nvSpPr>
          <p:spPr>
            <a:xfrm>
              <a:off x="76200" y="57150"/>
              <a:ext cx="660400" cy="679450"/>
            </a:xfrm>
            <a:prstGeom prst="rect">
              <a:avLst/>
            </a:prstGeom>
          </p:spPr>
          <p:txBody>
            <a:bodyPr anchor="ctr" rtlCol="false" tIns="50800" lIns="50800" bIns="50800" rIns="50800"/>
            <a:lstStyle/>
            <a:p>
              <a:pPr algn="ctr" marL="0" indent="0" lvl="0">
                <a:lnSpc>
                  <a:spcPts val="2859"/>
                </a:lnSpc>
                <a:spcBef>
                  <a:spcPct val="0"/>
                </a:spcBef>
              </a:pPr>
            </a:p>
          </p:txBody>
        </p:sp>
      </p:grpSp>
      <p:sp>
        <p:nvSpPr>
          <p:cNvPr name="Freeform 26" id="26"/>
          <p:cNvSpPr/>
          <p:nvPr/>
        </p:nvSpPr>
        <p:spPr>
          <a:xfrm flipH="false" flipV="false" rot="0">
            <a:off x="13337654" y="-7851627"/>
            <a:ext cx="9348363" cy="9348363"/>
          </a:xfrm>
          <a:custGeom>
            <a:avLst/>
            <a:gdLst/>
            <a:ahLst/>
            <a:cxnLst/>
            <a:rect r="r" b="b" t="t" l="l"/>
            <a:pathLst>
              <a:path h="9348363" w="9348363">
                <a:moveTo>
                  <a:pt x="0" y="0"/>
                </a:moveTo>
                <a:lnTo>
                  <a:pt x="9348362" y="0"/>
                </a:lnTo>
                <a:lnTo>
                  <a:pt x="9348362" y="9348362"/>
                </a:lnTo>
                <a:lnTo>
                  <a:pt x="0" y="934836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27" id="27"/>
          <p:cNvGrpSpPr/>
          <p:nvPr/>
        </p:nvGrpSpPr>
        <p:grpSpPr>
          <a:xfrm rot="0">
            <a:off x="-904968" y="8918951"/>
            <a:ext cx="2649263" cy="2649263"/>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77550"/>
            </a:solidFill>
            <a:ln cap="sq">
              <a:noFill/>
              <a:prstDash val="solid"/>
              <a:miter/>
            </a:ln>
          </p:spPr>
        </p:sp>
        <p:sp>
          <p:nvSpPr>
            <p:cNvPr name="TextBox 29" id="29"/>
            <p:cNvSpPr txBox="true"/>
            <p:nvPr/>
          </p:nvSpPr>
          <p:spPr>
            <a:xfrm>
              <a:off x="76200" y="57150"/>
              <a:ext cx="660400" cy="679450"/>
            </a:xfrm>
            <a:prstGeom prst="rect">
              <a:avLst/>
            </a:prstGeom>
          </p:spPr>
          <p:txBody>
            <a:bodyPr anchor="ctr" rtlCol="false" tIns="50800" lIns="50800" bIns="50800" rIns="50800"/>
            <a:lstStyle/>
            <a:p>
              <a:pPr algn="ctr" marL="0" indent="0" lvl="0">
                <a:lnSpc>
                  <a:spcPts val="2859"/>
                </a:lnSpc>
                <a:spcBef>
                  <a:spcPct val="0"/>
                </a:spcBef>
              </a:pPr>
            </a:p>
          </p:txBody>
        </p:sp>
      </p:grpSp>
      <p:grpSp>
        <p:nvGrpSpPr>
          <p:cNvPr name="Group 30" id="30"/>
          <p:cNvGrpSpPr/>
          <p:nvPr/>
        </p:nvGrpSpPr>
        <p:grpSpPr>
          <a:xfrm rot="0">
            <a:off x="2875540" y="7683290"/>
            <a:ext cx="2889039" cy="725042"/>
            <a:chOff x="0" y="0"/>
            <a:chExt cx="792168" cy="198805"/>
          </a:xfrm>
        </p:grpSpPr>
        <p:sp>
          <p:nvSpPr>
            <p:cNvPr name="Freeform 31" id="31"/>
            <p:cNvSpPr/>
            <p:nvPr/>
          </p:nvSpPr>
          <p:spPr>
            <a:xfrm flipH="false" flipV="false" rot="0">
              <a:off x="0" y="0"/>
              <a:ext cx="792168" cy="198805"/>
            </a:xfrm>
            <a:custGeom>
              <a:avLst/>
              <a:gdLst/>
              <a:ahLst/>
              <a:cxnLst/>
              <a:rect r="r" b="b" t="t" l="l"/>
              <a:pathLst>
                <a:path h="198805" w="792168">
                  <a:moveTo>
                    <a:pt x="0" y="0"/>
                  </a:moveTo>
                  <a:lnTo>
                    <a:pt x="792168" y="0"/>
                  </a:lnTo>
                  <a:lnTo>
                    <a:pt x="792168" y="198805"/>
                  </a:lnTo>
                  <a:lnTo>
                    <a:pt x="0" y="198805"/>
                  </a:lnTo>
                  <a:close/>
                </a:path>
              </a:pathLst>
            </a:custGeom>
            <a:solidFill>
              <a:srgbClr val="577550"/>
            </a:solidFill>
            <a:ln cap="sq">
              <a:noFill/>
              <a:prstDash val="solid"/>
              <a:miter/>
            </a:ln>
          </p:spPr>
        </p:sp>
        <p:sp>
          <p:nvSpPr>
            <p:cNvPr name="TextBox 32" id="32"/>
            <p:cNvSpPr txBox="true"/>
            <p:nvPr/>
          </p:nvSpPr>
          <p:spPr>
            <a:xfrm>
              <a:off x="0" y="-47625"/>
              <a:ext cx="792168" cy="246430"/>
            </a:xfrm>
            <a:prstGeom prst="rect">
              <a:avLst/>
            </a:prstGeom>
          </p:spPr>
          <p:txBody>
            <a:bodyPr anchor="ctr" rtlCol="false" tIns="88900" lIns="88900" bIns="88900" rIns="88900"/>
            <a:lstStyle/>
            <a:p>
              <a:pPr algn="ctr" marL="0" indent="0" lvl="0">
                <a:lnSpc>
                  <a:spcPts val="2800"/>
                </a:lnSpc>
                <a:spcBef>
                  <a:spcPct val="0"/>
                </a:spcBef>
              </a:pPr>
              <a:r>
                <a:rPr lang="en-US" sz="2000" i="true">
                  <a:solidFill>
                    <a:srgbClr val="FDFBFB"/>
                  </a:solidFill>
                  <a:latin typeface="Open Sauce Italics"/>
                  <a:ea typeface="Open Sauce Italics"/>
                  <a:cs typeface="Open Sauce Italics"/>
                  <a:sym typeface="Open Sauce Italics"/>
                </a:rPr>
                <a:t>all data</a:t>
              </a:r>
            </a:p>
          </p:txBody>
        </p:sp>
      </p:grpSp>
      <p:sp>
        <p:nvSpPr>
          <p:cNvPr name="TextBox 33" id="33"/>
          <p:cNvSpPr txBox="true"/>
          <p:nvPr/>
        </p:nvSpPr>
        <p:spPr>
          <a:xfrm rot="0">
            <a:off x="6863378" y="2857981"/>
            <a:ext cx="2872105" cy="405764"/>
          </a:xfrm>
          <a:prstGeom prst="rect">
            <a:avLst/>
          </a:prstGeom>
        </p:spPr>
        <p:txBody>
          <a:bodyPr anchor="t" rtlCol="false" tIns="0" lIns="0" bIns="0" rIns="0">
            <a:spAutoFit/>
          </a:bodyPr>
          <a:lstStyle/>
          <a:p>
            <a:pPr algn="ctr">
              <a:lnSpc>
                <a:spcPts val="3360"/>
              </a:lnSpc>
            </a:pPr>
            <a:r>
              <a:rPr lang="en-US" sz="2400">
                <a:solidFill>
                  <a:srgbClr val="000000"/>
                </a:solidFill>
                <a:latin typeface="Archivo Black"/>
                <a:ea typeface="Archivo Black"/>
                <a:cs typeface="Archivo Black"/>
                <a:sym typeface="Archivo Black"/>
              </a:rPr>
              <a:t>row or statement</a:t>
            </a:r>
          </a:p>
        </p:txBody>
      </p:sp>
      <p:sp>
        <p:nvSpPr>
          <p:cNvPr name="TextBox 34" id="34"/>
          <p:cNvSpPr txBox="true"/>
          <p:nvPr/>
        </p:nvSpPr>
        <p:spPr>
          <a:xfrm rot="0">
            <a:off x="11991810" y="2817052"/>
            <a:ext cx="1489234" cy="405764"/>
          </a:xfrm>
          <a:prstGeom prst="rect">
            <a:avLst/>
          </a:prstGeom>
        </p:spPr>
        <p:txBody>
          <a:bodyPr anchor="t" rtlCol="false" tIns="0" lIns="0" bIns="0" rIns="0">
            <a:spAutoFit/>
          </a:bodyPr>
          <a:lstStyle/>
          <a:p>
            <a:pPr algn="ctr">
              <a:lnSpc>
                <a:spcPts val="3360"/>
              </a:lnSpc>
            </a:pPr>
            <a:r>
              <a:rPr lang="en-US" sz="2400">
                <a:solidFill>
                  <a:srgbClr val="000000"/>
                </a:solidFill>
                <a:latin typeface="Archivo Black"/>
                <a:ea typeface="Archivo Black"/>
                <a:cs typeface="Archivo Black"/>
                <a:sym typeface="Archivo Black"/>
              </a:rPr>
              <a:t>write-set</a:t>
            </a:r>
          </a:p>
        </p:txBody>
      </p:sp>
      <p:sp>
        <p:nvSpPr>
          <p:cNvPr name="TextBox 35" id="35"/>
          <p:cNvSpPr txBox="true"/>
          <p:nvPr/>
        </p:nvSpPr>
        <p:spPr>
          <a:xfrm rot="0">
            <a:off x="6276156" y="4594359"/>
            <a:ext cx="4536757" cy="398779"/>
          </a:xfrm>
          <a:prstGeom prst="rect">
            <a:avLst/>
          </a:prstGeom>
        </p:spPr>
        <p:txBody>
          <a:bodyPr anchor="t" rtlCol="false" tIns="0" lIns="0" bIns="0" rIns="0">
            <a:spAutoFit/>
          </a:bodyPr>
          <a:lstStyle/>
          <a:p>
            <a:pPr algn="ctr">
              <a:lnSpc>
                <a:spcPts val="3220"/>
              </a:lnSpc>
            </a:pPr>
            <a:r>
              <a:rPr lang="en-US" sz="2300">
                <a:solidFill>
                  <a:srgbClr val="000000"/>
                </a:solidFill>
                <a:latin typeface="Archivo Black"/>
                <a:ea typeface="Archivo Black"/>
                <a:cs typeface="Archivo Black"/>
                <a:sym typeface="Archivo Black"/>
              </a:rPr>
              <a:t>Extern</a:t>
            </a:r>
            <a:r>
              <a:rPr lang="en-US" sz="2300">
                <a:solidFill>
                  <a:srgbClr val="000000"/>
                </a:solidFill>
                <a:latin typeface="Archivo Black"/>
                <a:ea typeface="Archivo Black"/>
                <a:cs typeface="Archivo Black"/>
                <a:sym typeface="Archivo Black"/>
              </a:rPr>
              <a:t>al replication, backup</a:t>
            </a:r>
          </a:p>
        </p:txBody>
      </p:sp>
      <p:sp>
        <p:nvSpPr>
          <p:cNvPr name="TextBox 36" id="36"/>
          <p:cNvSpPr txBox="true"/>
          <p:nvPr/>
        </p:nvSpPr>
        <p:spPr>
          <a:xfrm rot="0">
            <a:off x="11264220" y="4620572"/>
            <a:ext cx="3433921" cy="405764"/>
          </a:xfrm>
          <a:prstGeom prst="rect">
            <a:avLst/>
          </a:prstGeom>
        </p:spPr>
        <p:txBody>
          <a:bodyPr anchor="t" rtlCol="false" tIns="0" lIns="0" bIns="0" rIns="0">
            <a:spAutoFit/>
          </a:bodyPr>
          <a:lstStyle/>
          <a:p>
            <a:pPr algn="ctr">
              <a:lnSpc>
                <a:spcPts val="3360"/>
              </a:lnSpc>
            </a:pPr>
            <a:r>
              <a:rPr lang="en-US" sz="2400">
                <a:solidFill>
                  <a:srgbClr val="000000"/>
                </a:solidFill>
                <a:latin typeface="Archivo Black"/>
                <a:ea typeface="Archivo Black"/>
                <a:cs typeface="Archivo Black"/>
                <a:sym typeface="Archivo Black"/>
              </a:rPr>
              <a:t>IST</a:t>
            </a:r>
            <a:r>
              <a:rPr lang="en-US" sz="2400">
                <a:solidFill>
                  <a:srgbClr val="000000"/>
                </a:solidFill>
                <a:latin typeface="Archivo Black"/>
                <a:ea typeface="Archivo Black"/>
                <a:cs typeface="Archivo Black"/>
                <a:sym typeface="Archivo Black"/>
              </a:rPr>
              <a:t> in Galera cluster</a:t>
            </a:r>
          </a:p>
        </p:txBody>
      </p:sp>
      <p:sp>
        <p:nvSpPr>
          <p:cNvPr name="TextBox 37" id="37"/>
          <p:cNvSpPr txBox="true"/>
          <p:nvPr/>
        </p:nvSpPr>
        <p:spPr>
          <a:xfrm rot="0">
            <a:off x="11991810" y="6092787"/>
            <a:ext cx="1973739" cy="405765"/>
          </a:xfrm>
          <a:prstGeom prst="rect">
            <a:avLst/>
          </a:prstGeom>
        </p:spPr>
        <p:txBody>
          <a:bodyPr anchor="t" rtlCol="false" tIns="0" lIns="0" bIns="0" rIns="0">
            <a:spAutoFit/>
          </a:bodyPr>
          <a:lstStyle/>
          <a:p>
            <a:pPr algn="ctr">
              <a:lnSpc>
                <a:spcPts val="3359"/>
              </a:lnSpc>
              <a:spcBef>
                <a:spcPct val="0"/>
              </a:spcBef>
            </a:pPr>
            <a:r>
              <a:rPr lang="en-US" sz="2399">
                <a:solidFill>
                  <a:srgbClr val="000000"/>
                </a:solidFill>
                <a:latin typeface="Archivo Black"/>
                <a:ea typeface="Archivo Black"/>
                <a:cs typeface="Archivo Black"/>
                <a:sym typeface="Archivo Black"/>
              </a:rPr>
              <a:t>gcache.size</a:t>
            </a:r>
          </a:p>
        </p:txBody>
      </p:sp>
      <p:sp>
        <p:nvSpPr>
          <p:cNvPr name="TextBox 38" id="38"/>
          <p:cNvSpPr txBox="true"/>
          <p:nvPr/>
        </p:nvSpPr>
        <p:spPr>
          <a:xfrm rot="0">
            <a:off x="6276156" y="6092787"/>
            <a:ext cx="4604226" cy="405765"/>
          </a:xfrm>
          <a:prstGeom prst="rect">
            <a:avLst/>
          </a:prstGeom>
        </p:spPr>
        <p:txBody>
          <a:bodyPr anchor="t" rtlCol="false" tIns="0" lIns="0" bIns="0" rIns="0">
            <a:spAutoFit/>
          </a:bodyPr>
          <a:lstStyle/>
          <a:p>
            <a:pPr algn="ctr">
              <a:lnSpc>
                <a:spcPts val="3359"/>
              </a:lnSpc>
              <a:spcBef>
                <a:spcPct val="0"/>
              </a:spcBef>
            </a:pPr>
            <a:r>
              <a:rPr lang="en-US" sz="2399">
                <a:solidFill>
                  <a:srgbClr val="000000"/>
                </a:solidFill>
                <a:latin typeface="Archivo Black"/>
                <a:ea typeface="Archivo Black"/>
                <a:cs typeface="Archivo Black"/>
                <a:sym typeface="Archivo Black"/>
              </a:rPr>
              <a:t>binlog_expire_logs_seconds</a:t>
            </a:r>
          </a:p>
        </p:txBody>
      </p:sp>
      <p:sp>
        <p:nvSpPr>
          <p:cNvPr name="TextBox 39" id="39"/>
          <p:cNvSpPr txBox="true"/>
          <p:nvPr/>
        </p:nvSpPr>
        <p:spPr>
          <a:xfrm rot="0">
            <a:off x="6925449" y="7855628"/>
            <a:ext cx="2747962" cy="405765"/>
          </a:xfrm>
          <a:prstGeom prst="rect">
            <a:avLst/>
          </a:prstGeom>
        </p:spPr>
        <p:txBody>
          <a:bodyPr anchor="t" rtlCol="false" tIns="0" lIns="0" bIns="0" rIns="0">
            <a:spAutoFit/>
          </a:bodyPr>
          <a:lstStyle/>
          <a:p>
            <a:pPr algn="ctr">
              <a:lnSpc>
                <a:spcPts val="3359"/>
              </a:lnSpc>
              <a:spcBef>
                <a:spcPct val="0"/>
              </a:spcBef>
            </a:pPr>
            <a:r>
              <a:rPr lang="en-US" sz="2399">
                <a:solidFill>
                  <a:srgbClr val="000000"/>
                </a:solidFill>
                <a:latin typeface="Archivo Black"/>
                <a:ea typeface="Archivo Black"/>
                <a:cs typeface="Archivo Black"/>
                <a:sym typeface="Archivo Black"/>
              </a:rPr>
              <a:t>All transactions </a:t>
            </a:r>
          </a:p>
        </p:txBody>
      </p:sp>
      <p:sp>
        <p:nvSpPr>
          <p:cNvPr name="TextBox 40" id="40"/>
          <p:cNvSpPr txBox="true"/>
          <p:nvPr/>
        </p:nvSpPr>
        <p:spPr>
          <a:xfrm rot="0">
            <a:off x="10907747" y="7855628"/>
            <a:ext cx="4146868" cy="405765"/>
          </a:xfrm>
          <a:prstGeom prst="rect">
            <a:avLst/>
          </a:prstGeom>
        </p:spPr>
        <p:txBody>
          <a:bodyPr anchor="t" rtlCol="false" tIns="0" lIns="0" bIns="0" rIns="0">
            <a:spAutoFit/>
          </a:bodyPr>
          <a:lstStyle/>
          <a:p>
            <a:pPr algn="ctr">
              <a:lnSpc>
                <a:spcPts val="3359"/>
              </a:lnSpc>
              <a:spcBef>
                <a:spcPct val="0"/>
              </a:spcBef>
            </a:pPr>
            <a:r>
              <a:rPr lang="en-US" sz="2399">
                <a:solidFill>
                  <a:srgbClr val="000000"/>
                </a:solidFill>
                <a:latin typeface="Archivo Black"/>
                <a:ea typeface="Archivo Black"/>
                <a:cs typeface="Archivo Black"/>
                <a:sym typeface="Archivo Black"/>
              </a:rPr>
              <a:t>Only recent transactions</a:t>
            </a:r>
          </a:p>
        </p:txBody>
      </p:sp>
    </p:spTree>
  </p:cSld>
  <p:clrMapOvr>
    <a:masterClrMapping/>
  </p:clrMapOvr>
</p:sld>
</file>

<file path=ppt/slides/slide11.xml><?xml version="1.0" encoding="utf-8"?>
<p:sld xmlns:p="http://schemas.openxmlformats.org/presentationml/2006/main" xmlns:a="http://schemas.openxmlformats.org/drawingml/2006/main">
  <p:cSld>
    <p:bg>
      <p:bgPr>
        <a:solidFill>
          <a:srgbClr val="FEFFFA"/>
        </a:solidFill>
      </p:bgPr>
    </p:bg>
    <p:spTree>
      <p:nvGrpSpPr>
        <p:cNvPr id="1" name=""/>
        <p:cNvGrpSpPr/>
        <p:nvPr/>
      </p:nvGrpSpPr>
      <p:grpSpPr>
        <a:xfrm>
          <a:off x="0" y="0"/>
          <a:ext cx="0" cy="0"/>
          <a:chOff x="0" y="0"/>
          <a:chExt cx="0" cy="0"/>
        </a:xfrm>
      </p:grpSpPr>
      <p:sp>
        <p:nvSpPr>
          <p:cNvPr name="AutoShape 2" id="2"/>
          <p:cNvSpPr/>
          <p:nvPr/>
        </p:nvSpPr>
        <p:spPr>
          <a:xfrm>
            <a:off x="6736902" y="2829513"/>
            <a:ext cx="4836832" cy="0"/>
          </a:xfrm>
          <a:prstGeom prst="line">
            <a:avLst/>
          </a:prstGeom>
          <a:ln cap="flat" w="28575">
            <a:solidFill>
              <a:srgbClr val="000000"/>
            </a:solidFill>
            <a:prstDash val="solid"/>
            <a:headEnd type="none" len="sm" w="sm"/>
            <a:tailEnd type="none" len="sm" w="sm"/>
          </a:ln>
        </p:spPr>
      </p:sp>
      <p:grpSp>
        <p:nvGrpSpPr>
          <p:cNvPr name="Group 3" id="3"/>
          <p:cNvGrpSpPr/>
          <p:nvPr/>
        </p:nvGrpSpPr>
        <p:grpSpPr>
          <a:xfrm rot="-3503507">
            <a:off x="15971842" y="1684952"/>
            <a:ext cx="12583451" cy="7382737"/>
            <a:chOff x="0" y="0"/>
            <a:chExt cx="3314160" cy="1944424"/>
          </a:xfrm>
        </p:grpSpPr>
        <p:sp>
          <p:nvSpPr>
            <p:cNvPr name="Freeform 4" id="4"/>
            <p:cNvSpPr/>
            <p:nvPr/>
          </p:nvSpPr>
          <p:spPr>
            <a:xfrm flipH="false" flipV="false" rot="0">
              <a:off x="0" y="0"/>
              <a:ext cx="3314160" cy="1944425"/>
            </a:xfrm>
            <a:custGeom>
              <a:avLst/>
              <a:gdLst/>
              <a:ahLst/>
              <a:cxnLst/>
              <a:rect r="r" b="b" t="t" l="l"/>
              <a:pathLst>
                <a:path h="1944425" w="3314160">
                  <a:moveTo>
                    <a:pt x="31378" y="0"/>
                  </a:moveTo>
                  <a:lnTo>
                    <a:pt x="3282783" y="0"/>
                  </a:lnTo>
                  <a:cubicBezTo>
                    <a:pt x="3300112" y="0"/>
                    <a:pt x="3314160" y="14048"/>
                    <a:pt x="3314160" y="31378"/>
                  </a:cubicBezTo>
                  <a:lnTo>
                    <a:pt x="3314160" y="1913047"/>
                  </a:lnTo>
                  <a:cubicBezTo>
                    <a:pt x="3314160" y="1930376"/>
                    <a:pt x="3300112" y="1944425"/>
                    <a:pt x="3282783" y="1944425"/>
                  </a:cubicBezTo>
                  <a:lnTo>
                    <a:pt x="31378" y="1944425"/>
                  </a:lnTo>
                  <a:cubicBezTo>
                    <a:pt x="14048" y="1944425"/>
                    <a:pt x="0" y="1930376"/>
                    <a:pt x="0" y="1913047"/>
                  </a:cubicBezTo>
                  <a:lnTo>
                    <a:pt x="0" y="31378"/>
                  </a:lnTo>
                  <a:cubicBezTo>
                    <a:pt x="0" y="14048"/>
                    <a:pt x="14048" y="0"/>
                    <a:pt x="31378" y="0"/>
                  </a:cubicBezTo>
                  <a:close/>
                </a:path>
              </a:pathLst>
            </a:custGeom>
            <a:solidFill>
              <a:srgbClr val="577550"/>
            </a:solidFill>
          </p:spPr>
        </p:sp>
        <p:sp>
          <p:nvSpPr>
            <p:cNvPr name="TextBox 5" id="5"/>
            <p:cNvSpPr txBox="true"/>
            <p:nvPr/>
          </p:nvSpPr>
          <p:spPr>
            <a:xfrm>
              <a:off x="0" y="-333375"/>
              <a:ext cx="3314160" cy="2277799"/>
            </a:xfrm>
            <a:prstGeom prst="rect">
              <a:avLst/>
            </a:prstGeom>
          </p:spPr>
          <p:txBody>
            <a:bodyPr anchor="ctr" rtlCol="false" tIns="50800" lIns="50800" bIns="50800" rIns="50800"/>
            <a:lstStyle/>
            <a:p>
              <a:pPr algn="ctr">
                <a:lnSpc>
                  <a:spcPts val="6249"/>
                </a:lnSpc>
              </a:pPr>
            </a:p>
          </p:txBody>
        </p:sp>
      </p:grpSp>
      <p:grpSp>
        <p:nvGrpSpPr>
          <p:cNvPr name="Group 6" id="6"/>
          <p:cNvGrpSpPr/>
          <p:nvPr/>
        </p:nvGrpSpPr>
        <p:grpSpPr>
          <a:xfrm rot="-3503507">
            <a:off x="-10878133" y="751583"/>
            <a:ext cx="12583451" cy="7382737"/>
            <a:chOff x="0" y="0"/>
            <a:chExt cx="3314160" cy="1944424"/>
          </a:xfrm>
        </p:grpSpPr>
        <p:sp>
          <p:nvSpPr>
            <p:cNvPr name="Freeform 7" id="7"/>
            <p:cNvSpPr/>
            <p:nvPr/>
          </p:nvSpPr>
          <p:spPr>
            <a:xfrm flipH="false" flipV="false" rot="0">
              <a:off x="0" y="0"/>
              <a:ext cx="3314160" cy="1944425"/>
            </a:xfrm>
            <a:custGeom>
              <a:avLst/>
              <a:gdLst/>
              <a:ahLst/>
              <a:cxnLst/>
              <a:rect r="r" b="b" t="t" l="l"/>
              <a:pathLst>
                <a:path h="1944425" w="3314160">
                  <a:moveTo>
                    <a:pt x="31378" y="0"/>
                  </a:moveTo>
                  <a:lnTo>
                    <a:pt x="3282783" y="0"/>
                  </a:lnTo>
                  <a:cubicBezTo>
                    <a:pt x="3300112" y="0"/>
                    <a:pt x="3314160" y="14048"/>
                    <a:pt x="3314160" y="31378"/>
                  </a:cubicBezTo>
                  <a:lnTo>
                    <a:pt x="3314160" y="1913047"/>
                  </a:lnTo>
                  <a:cubicBezTo>
                    <a:pt x="3314160" y="1930376"/>
                    <a:pt x="3300112" y="1944425"/>
                    <a:pt x="3282783" y="1944425"/>
                  </a:cubicBezTo>
                  <a:lnTo>
                    <a:pt x="31378" y="1944425"/>
                  </a:lnTo>
                  <a:cubicBezTo>
                    <a:pt x="14048" y="1944425"/>
                    <a:pt x="0" y="1930376"/>
                    <a:pt x="0" y="1913047"/>
                  </a:cubicBezTo>
                  <a:lnTo>
                    <a:pt x="0" y="31378"/>
                  </a:lnTo>
                  <a:cubicBezTo>
                    <a:pt x="0" y="14048"/>
                    <a:pt x="14048" y="0"/>
                    <a:pt x="31378" y="0"/>
                  </a:cubicBezTo>
                  <a:close/>
                </a:path>
              </a:pathLst>
            </a:custGeom>
            <a:solidFill>
              <a:srgbClr val="577550"/>
            </a:solidFill>
          </p:spPr>
        </p:sp>
        <p:sp>
          <p:nvSpPr>
            <p:cNvPr name="TextBox 8" id="8"/>
            <p:cNvSpPr txBox="true"/>
            <p:nvPr/>
          </p:nvSpPr>
          <p:spPr>
            <a:xfrm>
              <a:off x="0" y="-333375"/>
              <a:ext cx="3314160" cy="2277799"/>
            </a:xfrm>
            <a:prstGeom prst="rect">
              <a:avLst/>
            </a:prstGeom>
          </p:spPr>
          <p:txBody>
            <a:bodyPr anchor="ctr" rtlCol="false" tIns="50800" lIns="50800" bIns="50800" rIns="50800"/>
            <a:lstStyle/>
            <a:p>
              <a:pPr algn="ctr">
                <a:lnSpc>
                  <a:spcPts val="6249"/>
                </a:lnSpc>
              </a:pPr>
            </a:p>
          </p:txBody>
        </p:sp>
      </p:grpSp>
      <p:sp>
        <p:nvSpPr>
          <p:cNvPr name="TextBox 9" id="9"/>
          <p:cNvSpPr txBox="true"/>
          <p:nvPr/>
        </p:nvSpPr>
        <p:spPr>
          <a:xfrm rot="0">
            <a:off x="6714266" y="1242326"/>
            <a:ext cx="4859468" cy="1411597"/>
          </a:xfrm>
          <a:prstGeom prst="rect">
            <a:avLst/>
          </a:prstGeom>
        </p:spPr>
        <p:txBody>
          <a:bodyPr anchor="t" rtlCol="false" tIns="0" lIns="0" bIns="0" rIns="0">
            <a:spAutoFit/>
          </a:bodyPr>
          <a:lstStyle/>
          <a:p>
            <a:pPr algn="ctr">
              <a:lnSpc>
                <a:spcPts val="10920"/>
              </a:lnSpc>
            </a:pPr>
            <a:r>
              <a:rPr lang="en-US" b="true" sz="7800" spc="733">
                <a:solidFill>
                  <a:srgbClr val="134E1A"/>
                </a:solidFill>
                <a:latin typeface="Poppins Bold"/>
                <a:ea typeface="Poppins Bold"/>
                <a:cs typeface="Poppins Bold"/>
                <a:sym typeface="Poppins Bold"/>
              </a:rPr>
              <a:t>BINLOG</a:t>
            </a:r>
          </a:p>
        </p:txBody>
      </p:sp>
      <p:sp>
        <p:nvSpPr>
          <p:cNvPr name="TextBox 10" id="10"/>
          <p:cNvSpPr txBox="true"/>
          <p:nvPr/>
        </p:nvSpPr>
        <p:spPr>
          <a:xfrm rot="0">
            <a:off x="3042395" y="3258041"/>
            <a:ext cx="13140516" cy="3512820"/>
          </a:xfrm>
          <a:prstGeom prst="rect">
            <a:avLst/>
          </a:prstGeom>
        </p:spPr>
        <p:txBody>
          <a:bodyPr anchor="t" rtlCol="false" tIns="0" lIns="0" bIns="0" rIns="0">
            <a:spAutoFit/>
          </a:bodyPr>
          <a:lstStyle/>
          <a:p>
            <a:pPr algn="l" marL="0" indent="0" lvl="0">
              <a:lnSpc>
                <a:spcPts val="3509"/>
              </a:lnSpc>
              <a:spcBef>
                <a:spcPct val="0"/>
              </a:spcBef>
            </a:pPr>
            <a:r>
              <a:rPr lang="en-US" sz="2599" spc="80">
                <a:solidFill>
                  <a:srgbClr val="2B2B2B"/>
                </a:solidFill>
                <a:latin typeface="Poppins"/>
                <a:ea typeface="Poppins"/>
                <a:cs typeface="Poppins"/>
                <a:sym typeface="Poppins"/>
              </a:rPr>
              <a:t>In</a:t>
            </a:r>
            <a:r>
              <a:rPr lang="en-US" sz="2599" spc="80" u="none">
                <a:solidFill>
                  <a:srgbClr val="2B2B2B"/>
                </a:solidFill>
                <a:latin typeface="Poppins"/>
                <a:ea typeface="Poppins"/>
                <a:cs typeface="Poppins"/>
                <a:sym typeface="Poppins"/>
              </a:rPr>
              <a:t> a Galera Cluster, when you run a query on one node, the changes are copied to other nodes at the same time using Galera’s sync system. But, whether these changes are saved in the binary logs (binlog) on the other nodes depends on the setting called log_slave_updates. If log_slave_updates is ON, the changes are recorded in the binlog of all nodes. If it is OFF, only the node where the query ran saves the changes in its binlog.</a:t>
            </a:r>
          </a:p>
          <a:p>
            <a:pPr algn="l" marL="561336" indent="-280668" lvl="1">
              <a:lnSpc>
                <a:spcPts val="3509"/>
              </a:lnSpc>
              <a:spcBef>
                <a:spcPct val="0"/>
              </a:spcBef>
              <a:buFont typeface="Arial"/>
              <a:buChar char="•"/>
            </a:pPr>
            <a:r>
              <a:rPr lang="en-US" b="true" sz="2599" spc="80" u="none">
                <a:solidFill>
                  <a:srgbClr val="2B2B2B"/>
                </a:solidFill>
                <a:latin typeface="Poppins Bold"/>
                <a:ea typeface="Poppins Bold"/>
                <a:cs typeface="Poppins Bold"/>
                <a:sym typeface="Poppins Bold"/>
              </a:rPr>
              <a:t>SHOW VARIABLES LIKE 'log_slave_updates';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DAGuWgJTo9c</dc:identifier>
  <dcterms:modified xsi:type="dcterms:W3CDTF">2011-08-01T06:04:30Z</dcterms:modified>
  <cp:revision>1</cp:revision>
  <dc:title>galera cache</dc:title>
</cp:coreProperties>
</file>